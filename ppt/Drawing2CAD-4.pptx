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We are The Novice Ninjas, and this is Drawing2CAD: we turn 2D technical drawings into 3D CAD models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parts mostly exist as 2D drawings like this one, in countless different formats. What we need is the 3D model of the same part.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is Drawing2CAD: accurate output, a fully automated workflow, and it runs on average AI models rather than specialised ones.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uploads a PDF in the UI. The UI hands it to our 3D Creation MCP Server, which is backed by a skill and tooling set. The server returns a STEP file, which the UI hands back to the user.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the server, three stages: features are extracted from the PDF, the 3D Model Creator builds the model, and the Validator checks it. If the check fails, it loops back to the Model Creator. What comes out is a STEP file.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drawing takes three hours on average to remodel by hand. At €50 per hour personnel cost, that is €150 per drawing. For 500 drawings, that is €75,000 saved; for 2,000 drawings, €300,000; for 5,000 drawings, €750,000.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live demo now.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our output evolved. V1 had rough mesh geometry and an open clamp. V2 captured the base plate, the holes, the tube boss and the split-ring clamp. V3, our current result, is a clean solid model with smooth faces, the slotted boss and the split clamp.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1.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1E3349"/>
            </a:gs>
            <a:gs pos="55000">
              <a:srgbClr val="0F1924"/>
            </a:gs>
            <a:gs pos="100000">
              <a:srgbClr val="0F1924"/>
            </a:gs>
          </a:gsLst>
          <a:path path="circle">
            <a:fillToRect l="85000" t="20000" r="15000" b="80000"/>
          </a:path>
        </a:gradFill>
        <a:effectLst/>
      </p:bgPr>
    </p:bg>
    <p:spTree>
      <p:nvGrpSpPr>
        <p:cNvPr id="1" name=""/>
        <p:cNvGrpSpPr/>
        <p:nvPr/>
      </p:nvGrpSpPr>
      <p:grpSpPr/>
      <p:grpSp>
        <p:nvGrpSpPr>
          <p:cNvPr id="2" name="Grid"/>
          <p:cNvGrpSpPr/>
          <p:nvPr/>
        </p:nvGrpSpPr>
        <p:grpSpPr>
          <a:xfrm>
            <a:off x="6908800" y="0"/>
            <a:ext cx="5283200" cy="6858000"/>
            <a:chOff x="6908800" y="0"/>
            <a:chExt cx="5283200" cy="6858000"/>
          </a:xfrm>
        </p:grpSpPr>
        <p:sp>
          <p:nvSpPr>
            <p:cNvPr id="3" name="Grid line"/>
            <p:cNvSpPr/>
            <p:nvPr/>
          </p:nvSpPr>
          <p:spPr>
            <a:xfrm>
              <a:off x="6908800" y="0"/>
              <a:ext cx="6350" cy="6858000"/>
            </a:xfrm>
            <a:prstGeom prst="rect">
              <a:avLst/>
            </a:prstGeom>
            <a:solidFill>
              <a:srgbClr val="EEF2F5">
                <a:alpha val="7000"/>
              </a:srgbClr>
            </a:solidFill>
            <a:ln>
              <a:noFill/>
            </a:ln>
          </p:spPr>
        </p:sp>
        <p:sp>
          <p:nvSpPr>
            <p:cNvPr id="4" name="Grid line"/>
            <p:cNvSpPr/>
            <p:nvPr/>
          </p:nvSpPr>
          <p:spPr>
            <a:xfrm>
              <a:off x="7315200" y="0"/>
              <a:ext cx="6350" cy="6858000"/>
            </a:xfrm>
            <a:prstGeom prst="rect">
              <a:avLst/>
            </a:prstGeom>
            <a:solidFill>
              <a:srgbClr val="EEF2F5">
                <a:alpha val="7000"/>
              </a:srgbClr>
            </a:solidFill>
            <a:ln>
              <a:noFill/>
            </a:ln>
          </p:spPr>
        </p:sp>
        <p:sp>
          <p:nvSpPr>
            <p:cNvPr id="5" name="Grid line"/>
            <p:cNvSpPr/>
            <p:nvPr/>
          </p:nvSpPr>
          <p:spPr>
            <a:xfrm>
              <a:off x="7721600" y="0"/>
              <a:ext cx="6350" cy="6858000"/>
            </a:xfrm>
            <a:prstGeom prst="rect">
              <a:avLst/>
            </a:prstGeom>
            <a:solidFill>
              <a:srgbClr val="EEF2F5">
                <a:alpha val="7000"/>
              </a:srgbClr>
            </a:solidFill>
            <a:ln>
              <a:noFill/>
            </a:ln>
          </p:spPr>
        </p:sp>
        <p:sp>
          <p:nvSpPr>
            <p:cNvPr id="6" name="Grid line"/>
            <p:cNvSpPr/>
            <p:nvPr/>
          </p:nvSpPr>
          <p:spPr>
            <a:xfrm>
              <a:off x="8128000" y="0"/>
              <a:ext cx="6350" cy="6858000"/>
            </a:xfrm>
            <a:prstGeom prst="rect">
              <a:avLst/>
            </a:prstGeom>
            <a:solidFill>
              <a:srgbClr val="EEF2F5">
                <a:alpha val="7000"/>
              </a:srgbClr>
            </a:solidFill>
            <a:ln>
              <a:noFill/>
            </a:ln>
          </p:spPr>
        </p:sp>
        <p:sp>
          <p:nvSpPr>
            <p:cNvPr id="7" name="Grid line"/>
            <p:cNvSpPr/>
            <p:nvPr/>
          </p:nvSpPr>
          <p:spPr>
            <a:xfrm>
              <a:off x="8534400" y="0"/>
              <a:ext cx="6350" cy="6858000"/>
            </a:xfrm>
            <a:prstGeom prst="rect">
              <a:avLst/>
            </a:prstGeom>
            <a:solidFill>
              <a:srgbClr val="EEF2F5">
                <a:alpha val="7000"/>
              </a:srgbClr>
            </a:solidFill>
            <a:ln>
              <a:noFill/>
            </a:ln>
          </p:spPr>
        </p:sp>
        <p:sp>
          <p:nvSpPr>
            <p:cNvPr id="8" name="Grid line"/>
            <p:cNvSpPr/>
            <p:nvPr/>
          </p:nvSpPr>
          <p:spPr>
            <a:xfrm>
              <a:off x="8940800" y="0"/>
              <a:ext cx="6350" cy="6858000"/>
            </a:xfrm>
            <a:prstGeom prst="rect">
              <a:avLst/>
            </a:prstGeom>
            <a:solidFill>
              <a:srgbClr val="EEF2F5">
                <a:alpha val="7000"/>
              </a:srgbClr>
            </a:solidFill>
            <a:ln>
              <a:noFill/>
            </a:ln>
          </p:spPr>
        </p:sp>
        <p:sp>
          <p:nvSpPr>
            <p:cNvPr id="9" name="Grid line"/>
            <p:cNvSpPr/>
            <p:nvPr/>
          </p:nvSpPr>
          <p:spPr>
            <a:xfrm>
              <a:off x="9347200" y="0"/>
              <a:ext cx="6350" cy="6858000"/>
            </a:xfrm>
            <a:prstGeom prst="rect">
              <a:avLst/>
            </a:prstGeom>
            <a:solidFill>
              <a:srgbClr val="EEF2F5">
                <a:alpha val="7000"/>
              </a:srgbClr>
            </a:solidFill>
            <a:ln>
              <a:noFill/>
            </a:ln>
          </p:spPr>
        </p:sp>
        <p:sp>
          <p:nvSpPr>
            <p:cNvPr id="10" name="Grid line"/>
            <p:cNvSpPr/>
            <p:nvPr/>
          </p:nvSpPr>
          <p:spPr>
            <a:xfrm>
              <a:off x="9753600" y="0"/>
              <a:ext cx="6350" cy="6858000"/>
            </a:xfrm>
            <a:prstGeom prst="rect">
              <a:avLst/>
            </a:prstGeom>
            <a:solidFill>
              <a:srgbClr val="EEF2F5">
                <a:alpha val="7000"/>
              </a:srgbClr>
            </a:solidFill>
            <a:ln>
              <a:noFill/>
            </a:ln>
          </p:spPr>
        </p:sp>
        <p:sp>
          <p:nvSpPr>
            <p:cNvPr id="11" name="Grid line"/>
            <p:cNvSpPr/>
            <p:nvPr/>
          </p:nvSpPr>
          <p:spPr>
            <a:xfrm>
              <a:off x="10160000" y="0"/>
              <a:ext cx="6350" cy="6858000"/>
            </a:xfrm>
            <a:prstGeom prst="rect">
              <a:avLst/>
            </a:prstGeom>
            <a:solidFill>
              <a:srgbClr val="EEF2F5">
                <a:alpha val="7000"/>
              </a:srgbClr>
            </a:solidFill>
            <a:ln>
              <a:noFill/>
            </a:ln>
          </p:spPr>
        </p:sp>
        <p:sp>
          <p:nvSpPr>
            <p:cNvPr id="12" name="Grid line"/>
            <p:cNvSpPr/>
            <p:nvPr/>
          </p:nvSpPr>
          <p:spPr>
            <a:xfrm>
              <a:off x="10566400" y="0"/>
              <a:ext cx="6350" cy="6858000"/>
            </a:xfrm>
            <a:prstGeom prst="rect">
              <a:avLst/>
            </a:prstGeom>
            <a:solidFill>
              <a:srgbClr val="EEF2F5">
                <a:alpha val="7000"/>
              </a:srgbClr>
            </a:solidFill>
            <a:ln>
              <a:noFill/>
            </a:ln>
          </p:spPr>
        </p:sp>
        <p:sp>
          <p:nvSpPr>
            <p:cNvPr id="13" name="Grid line"/>
            <p:cNvSpPr/>
            <p:nvPr/>
          </p:nvSpPr>
          <p:spPr>
            <a:xfrm>
              <a:off x="10972800" y="0"/>
              <a:ext cx="6350" cy="6858000"/>
            </a:xfrm>
            <a:prstGeom prst="rect">
              <a:avLst/>
            </a:prstGeom>
            <a:solidFill>
              <a:srgbClr val="EEF2F5">
                <a:alpha val="7000"/>
              </a:srgbClr>
            </a:solidFill>
            <a:ln>
              <a:noFill/>
            </a:ln>
          </p:spPr>
        </p:sp>
        <p:sp>
          <p:nvSpPr>
            <p:cNvPr id="14" name="Grid line"/>
            <p:cNvSpPr/>
            <p:nvPr/>
          </p:nvSpPr>
          <p:spPr>
            <a:xfrm>
              <a:off x="11379200" y="0"/>
              <a:ext cx="6350" cy="6858000"/>
            </a:xfrm>
            <a:prstGeom prst="rect">
              <a:avLst/>
            </a:prstGeom>
            <a:solidFill>
              <a:srgbClr val="EEF2F5">
                <a:alpha val="7000"/>
              </a:srgbClr>
            </a:solidFill>
            <a:ln>
              <a:noFill/>
            </a:ln>
          </p:spPr>
        </p:sp>
        <p:sp>
          <p:nvSpPr>
            <p:cNvPr id="15" name="Grid line"/>
            <p:cNvSpPr/>
            <p:nvPr/>
          </p:nvSpPr>
          <p:spPr>
            <a:xfrm>
              <a:off x="11785600" y="0"/>
              <a:ext cx="6350" cy="6858000"/>
            </a:xfrm>
            <a:prstGeom prst="rect">
              <a:avLst/>
            </a:prstGeom>
            <a:solidFill>
              <a:srgbClr val="EEF2F5">
                <a:alpha val="7000"/>
              </a:srgbClr>
            </a:solidFill>
            <a:ln>
              <a:noFill/>
            </a:ln>
          </p:spPr>
        </p:sp>
        <p:sp>
          <p:nvSpPr>
            <p:cNvPr id="16" name="Grid line"/>
            <p:cNvSpPr/>
            <p:nvPr/>
          </p:nvSpPr>
          <p:spPr>
            <a:xfrm>
              <a:off x="7188200" y="6851650"/>
              <a:ext cx="5003800" cy="6350"/>
            </a:xfrm>
            <a:prstGeom prst="rect">
              <a:avLst/>
            </a:prstGeom>
            <a:solidFill>
              <a:srgbClr val="EEF2F5">
                <a:alpha val="7000"/>
              </a:srgbClr>
            </a:solidFill>
            <a:ln>
              <a:noFill/>
            </a:ln>
          </p:spPr>
        </p:sp>
        <p:sp>
          <p:nvSpPr>
            <p:cNvPr id="17" name="Grid line"/>
            <p:cNvSpPr/>
            <p:nvPr/>
          </p:nvSpPr>
          <p:spPr>
            <a:xfrm>
              <a:off x="7188200" y="6445250"/>
              <a:ext cx="5003800" cy="6350"/>
            </a:xfrm>
            <a:prstGeom prst="rect">
              <a:avLst/>
            </a:prstGeom>
            <a:solidFill>
              <a:srgbClr val="EEF2F5">
                <a:alpha val="7000"/>
              </a:srgbClr>
            </a:solidFill>
            <a:ln>
              <a:noFill/>
            </a:ln>
          </p:spPr>
        </p:sp>
        <p:sp>
          <p:nvSpPr>
            <p:cNvPr id="18" name="Grid line"/>
            <p:cNvSpPr/>
            <p:nvPr/>
          </p:nvSpPr>
          <p:spPr>
            <a:xfrm>
              <a:off x="7188200" y="6038850"/>
              <a:ext cx="5003800" cy="6350"/>
            </a:xfrm>
            <a:prstGeom prst="rect">
              <a:avLst/>
            </a:prstGeom>
            <a:solidFill>
              <a:srgbClr val="EEF2F5">
                <a:alpha val="7000"/>
              </a:srgbClr>
            </a:solidFill>
            <a:ln>
              <a:noFill/>
            </a:ln>
          </p:spPr>
        </p:sp>
        <p:sp>
          <p:nvSpPr>
            <p:cNvPr id="19" name="Grid line"/>
            <p:cNvSpPr/>
            <p:nvPr/>
          </p:nvSpPr>
          <p:spPr>
            <a:xfrm>
              <a:off x="7188200" y="5632450"/>
              <a:ext cx="5003800" cy="6350"/>
            </a:xfrm>
            <a:prstGeom prst="rect">
              <a:avLst/>
            </a:prstGeom>
            <a:solidFill>
              <a:srgbClr val="EEF2F5">
                <a:alpha val="7000"/>
              </a:srgbClr>
            </a:solidFill>
            <a:ln>
              <a:noFill/>
            </a:ln>
          </p:spPr>
        </p:sp>
        <p:sp>
          <p:nvSpPr>
            <p:cNvPr id="20" name="Grid line"/>
            <p:cNvSpPr/>
            <p:nvPr/>
          </p:nvSpPr>
          <p:spPr>
            <a:xfrm>
              <a:off x="7188200" y="5226050"/>
              <a:ext cx="5003800" cy="6350"/>
            </a:xfrm>
            <a:prstGeom prst="rect">
              <a:avLst/>
            </a:prstGeom>
            <a:solidFill>
              <a:srgbClr val="EEF2F5">
                <a:alpha val="7000"/>
              </a:srgbClr>
            </a:solidFill>
            <a:ln>
              <a:noFill/>
            </a:ln>
          </p:spPr>
        </p:sp>
        <p:sp>
          <p:nvSpPr>
            <p:cNvPr id="21" name="Grid line"/>
            <p:cNvSpPr/>
            <p:nvPr/>
          </p:nvSpPr>
          <p:spPr>
            <a:xfrm>
              <a:off x="7188200" y="4819650"/>
              <a:ext cx="5003800" cy="6350"/>
            </a:xfrm>
            <a:prstGeom prst="rect">
              <a:avLst/>
            </a:prstGeom>
            <a:solidFill>
              <a:srgbClr val="EEF2F5">
                <a:alpha val="7000"/>
              </a:srgbClr>
            </a:solidFill>
            <a:ln>
              <a:noFill/>
            </a:ln>
          </p:spPr>
        </p:sp>
        <p:sp>
          <p:nvSpPr>
            <p:cNvPr id="22" name="Grid line"/>
            <p:cNvSpPr/>
            <p:nvPr/>
          </p:nvSpPr>
          <p:spPr>
            <a:xfrm>
              <a:off x="7188200" y="4413250"/>
              <a:ext cx="5003800" cy="6350"/>
            </a:xfrm>
            <a:prstGeom prst="rect">
              <a:avLst/>
            </a:prstGeom>
            <a:solidFill>
              <a:srgbClr val="EEF2F5">
                <a:alpha val="7000"/>
              </a:srgbClr>
            </a:solidFill>
            <a:ln>
              <a:noFill/>
            </a:ln>
          </p:spPr>
        </p:sp>
        <p:sp>
          <p:nvSpPr>
            <p:cNvPr id="23" name="Grid line"/>
            <p:cNvSpPr/>
            <p:nvPr/>
          </p:nvSpPr>
          <p:spPr>
            <a:xfrm>
              <a:off x="7188200" y="4006850"/>
              <a:ext cx="5003800" cy="6350"/>
            </a:xfrm>
            <a:prstGeom prst="rect">
              <a:avLst/>
            </a:prstGeom>
            <a:solidFill>
              <a:srgbClr val="EEF2F5">
                <a:alpha val="7000"/>
              </a:srgbClr>
            </a:solidFill>
            <a:ln>
              <a:noFill/>
            </a:ln>
          </p:spPr>
        </p:sp>
        <p:sp>
          <p:nvSpPr>
            <p:cNvPr id="24" name="Grid line"/>
            <p:cNvSpPr/>
            <p:nvPr/>
          </p:nvSpPr>
          <p:spPr>
            <a:xfrm>
              <a:off x="7188200" y="3600450"/>
              <a:ext cx="5003800" cy="6350"/>
            </a:xfrm>
            <a:prstGeom prst="rect">
              <a:avLst/>
            </a:prstGeom>
            <a:solidFill>
              <a:srgbClr val="EEF2F5">
                <a:alpha val="7000"/>
              </a:srgbClr>
            </a:solidFill>
            <a:ln>
              <a:noFill/>
            </a:ln>
          </p:spPr>
        </p:sp>
        <p:sp>
          <p:nvSpPr>
            <p:cNvPr id="25" name="Grid line"/>
            <p:cNvSpPr/>
            <p:nvPr/>
          </p:nvSpPr>
          <p:spPr>
            <a:xfrm>
              <a:off x="7188200" y="3194050"/>
              <a:ext cx="5003800" cy="6350"/>
            </a:xfrm>
            <a:prstGeom prst="rect">
              <a:avLst/>
            </a:prstGeom>
            <a:solidFill>
              <a:srgbClr val="EEF2F5">
                <a:alpha val="7000"/>
              </a:srgbClr>
            </a:solidFill>
            <a:ln>
              <a:noFill/>
            </a:ln>
          </p:spPr>
        </p:sp>
        <p:sp>
          <p:nvSpPr>
            <p:cNvPr id="26" name="Grid line"/>
            <p:cNvSpPr/>
            <p:nvPr/>
          </p:nvSpPr>
          <p:spPr>
            <a:xfrm>
              <a:off x="7188200" y="2787650"/>
              <a:ext cx="5003800" cy="6350"/>
            </a:xfrm>
            <a:prstGeom prst="rect">
              <a:avLst/>
            </a:prstGeom>
            <a:solidFill>
              <a:srgbClr val="EEF2F5">
                <a:alpha val="7000"/>
              </a:srgbClr>
            </a:solidFill>
            <a:ln>
              <a:noFill/>
            </a:ln>
          </p:spPr>
        </p:sp>
        <p:sp>
          <p:nvSpPr>
            <p:cNvPr id="27" name="Grid line"/>
            <p:cNvSpPr/>
            <p:nvPr/>
          </p:nvSpPr>
          <p:spPr>
            <a:xfrm>
              <a:off x="7188200" y="2381250"/>
              <a:ext cx="5003800" cy="6350"/>
            </a:xfrm>
            <a:prstGeom prst="rect">
              <a:avLst/>
            </a:prstGeom>
            <a:solidFill>
              <a:srgbClr val="EEF2F5">
                <a:alpha val="7000"/>
              </a:srgbClr>
            </a:solidFill>
            <a:ln>
              <a:noFill/>
            </a:ln>
          </p:spPr>
        </p:sp>
        <p:sp>
          <p:nvSpPr>
            <p:cNvPr id="28" name="Grid line"/>
            <p:cNvSpPr/>
            <p:nvPr/>
          </p:nvSpPr>
          <p:spPr>
            <a:xfrm>
              <a:off x="7188200" y="1974850"/>
              <a:ext cx="5003800" cy="6350"/>
            </a:xfrm>
            <a:prstGeom prst="rect">
              <a:avLst/>
            </a:prstGeom>
            <a:solidFill>
              <a:srgbClr val="EEF2F5">
                <a:alpha val="7000"/>
              </a:srgbClr>
            </a:solidFill>
            <a:ln>
              <a:noFill/>
            </a:ln>
          </p:spPr>
        </p:sp>
        <p:sp>
          <p:nvSpPr>
            <p:cNvPr id="29" name="Grid line"/>
            <p:cNvSpPr/>
            <p:nvPr/>
          </p:nvSpPr>
          <p:spPr>
            <a:xfrm>
              <a:off x="7188200" y="1568450"/>
              <a:ext cx="5003800" cy="6350"/>
            </a:xfrm>
            <a:prstGeom prst="rect">
              <a:avLst/>
            </a:prstGeom>
            <a:solidFill>
              <a:srgbClr val="EEF2F5">
                <a:alpha val="7000"/>
              </a:srgbClr>
            </a:solidFill>
            <a:ln>
              <a:noFill/>
            </a:ln>
          </p:spPr>
        </p:sp>
        <p:sp>
          <p:nvSpPr>
            <p:cNvPr id="30" name="Grid line"/>
            <p:cNvSpPr/>
            <p:nvPr/>
          </p:nvSpPr>
          <p:spPr>
            <a:xfrm>
              <a:off x="7188200" y="1162050"/>
              <a:ext cx="5003800" cy="6350"/>
            </a:xfrm>
            <a:prstGeom prst="rect">
              <a:avLst/>
            </a:prstGeom>
            <a:solidFill>
              <a:srgbClr val="EEF2F5">
                <a:alpha val="7000"/>
              </a:srgbClr>
            </a:solidFill>
            <a:ln>
              <a:noFill/>
            </a:ln>
          </p:spPr>
        </p:sp>
        <p:sp>
          <p:nvSpPr>
            <p:cNvPr id="31" name="Grid line"/>
            <p:cNvSpPr/>
            <p:nvPr/>
          </p:nvSpPr>
          <p:spPr>
            <a:xfrm>
              <a:off x="7188200" y="755650"/>
              <a:ext cx="5003800" cy="6350"/>
            </a:xfrm>
            <a:prstGeom prst="rect">
              <a:avLst/>
            </a:prstGeom>
            <a:solidFill>
              <a:srgbClr val="EEF2F5">
                <a:alpha val="7000"/>
              </a:srgbClr>
            </a:solidFill>
            <a:ln>
              <a:noFill/>
            </a:ln>
          </p:spPr>
        </p:sp>
        <p:sp>
          <p:nvSpPr>
            <p:cNvPr id="32" name="Grid line"/>
            <p:cNvSpPr/>
            <p:nvPr/>
          </p:nvSpPr>
          <p:spPr>
            <a:xfrm>
              <a:off x="7188200" y="349250"/>
              <a:ext cx="5003800" cy="6350"/>
            </a:xfrm>
            <a:prstGeom prst="rect">
              <a:avLst/>
            </a:prstGeom>
            <a:solidFill>
              <a:srgbClr val="EEF2F5">
                <a:alpha val="7000"/>
              </a:srgbClr>
            </a:solidFill>
            <a:ln>
              <a:noFill/>
            </a:ln>
          </p:spPr>
        </p:sp>
      </p:grpSp>
      <p:sp>
        <p:nvSpPr>
          <p:cNvPr id="33" name="!!bar"/>
          <p:cNvSpPr/>
          <p:nvPr/>
        </p:nvSpPr>
        <p:spPr>
          <a:xfrm>
            <a:off x="812800" y="1905000"/>
            <a:ext cx="1270000" cy="76200"/>
          </a:xfrm>
          <a:prstGeom prst="roundRect">
            <a:avLst>
              <a:gd name="adj" fmla="val 50000"/>
            </a:avLst>
          </a:prstGeom>
          <a:solidFill>
            <a:srgbClr val="FF4655"/>
          </a:solidFill>
          <a:ln>
            <a:noFill/>
          </a:ln>
        </p:spPr>
      </p:sp>
      <p:sp>
        <p:nvSpPr>
          <p:cNvPr id="34" name="Eyebrow"/>
          <p:cNvSpPr txBox="1"/>
          <p:nvPr/>
        </p:nvSpPr>
        <p:spPr>
          <a:xfrm>
            <a:off x="812800" y="2159000"/>
            <a:ext cx="7620000" cy="228600"/>
          </a:xfrm>
          <a:prstGeom prst="rect">
            <a:avLst/>
          </a:prstGeom>
          <a:noFill/>
          <a:ln>
            <a:noFill/>
          </a:ln>
        </p:spPr>
        <p:txBody>
          <a:bodyPr wrap="square" lIns="0" tIns="0" rIns="0" bIns="0" anchor="t" rtlCol="0">
            <a:noAutofit/>
          </a:bodyPr>
          <a:lstStyle/>
          <a:p>
            <a:pPr algn="l"/>
            <a:r>
              <a:rPr lang="en-US" sz="1400" b="1" dirty="0" spc="300" cap="all">
                <a:solidFill>
                  <a:srgbClr val="FF4655"/>
                </a:solidFill>
                <a:latin typeface="Inter"/>
                <a:cs typeface="Inter"/>
              </a:rPr>
              <a:t>Black Forest Hackathon</a:t>
            </a:r>
            <a:endParaRPr lang="en-US" sz="1400" b="1" dirty="0" spc="300" cap="all">
              <a:solidFill>
                <a:srgbClr val="FF4655"/>
              </a:solidFill>
              <a:latin typeface="Inter"/>
              <a:cs typeface="Inter"/>
            </a:endParaRPr>
          </a:p>
        </p:txBody>
      </p:sp>
      <p:sp>
        <p:nvSpPr>
          <p:cNvPr id="35" name="DRAWING"/>
          <p:cNvSpPr txBox="1"/>
          <p:nvPr/>
        </p:nvSpPr>
        <p:spPr>
          <a:xfrm>
            <a:off x="812800" y="2362200"/>
            <a:ext cx="5524500" cy="1625600"/>
          </a:xfrm>
          <a:prstGeom prst="rect">
            <a:avLst/>
          </a:prstGeom>
          <a:noFill/>
          <a:ln>
            <a:noFill/>
          </a:ln>
        </p:spPr>
        <p:txBody>
          <a:bodyPr wrap="none" lIns="0" tIns="0" rIns="0" bIns="0" anchor="t" rtlCol="0">
            <a:noAutofit/>
          </a:bodyPr>
          <a:lstStyle/>
          <a:p>
            <a:pPr algn="l"/>
            <a:r>
              <a:rPr lang="en-US" sz="10000" b="1" dirty="0" spc="-300">
                <a:ln w="19050">
                  <a:solidFill>
                    <a:srgbClr val="EEF2F5"/>
                  </a:solidFill>
                </a:ln>
                <a:noFill/>
                <a:latin typeface="Space Grotesk"/>
                <a:cs typeface="Space Grotesk"/>
              </a:rPr>
              <a:t>DRAWING</a:t>
            </a:r>
            <a:endParaRPr lang="en-US" sz="10000" b="1" dirty="0" spc="-300">
              <a:ln w="19050">
                <a:solidFill>
                  <a:srgbClr val="EEF2F5"/>
                </a:solidFill>
              </a:ln>
              <a:noFill/>
              <a:latin typeface="Space Grotesk"/>
              <a:cs typeface="Space Grotesk"/>
            </a:endParaRPr>
          </a:p>
        </p:txBody>
      </p:sp>
      <p:sp>
        <p:nvSpPr>
          <p:cNvPr id="36" name="2"/>
          <p:cNvSpPr txBox="1"/>
          <p:nvPr/>
        </p:nvSpPr>
        <p:spPr>
          <a:xfrm>
            <a:off x="6296660" y="2362200"/>
            <a:ext cx="844550" cy="1625600"/>
          </a:xfrm>
          <a:prstGeom prst="rect">
            <a:avLst/>
          </a:prstGeom>
          <a:noFill/>
          <a:ln>
            <a:noFill/>
          </a:ln>
        </p:spPr>
        <p:txBody>
          <a:bodyPr wrap="none" lIns="0" tIns="0" rIns="0" bIns="0" anchor="t" rtlCol="0">
            <a:noAutofit/>
          </a:bodyPr>
          <a:lstStyle/>
          <a:p>
            <a:pPr algn="l"/>
            <a:r>
              <a:rPr lang="en-US" sz="10000" b="1" dirty="0" spc="-300">
                <a:solidFill>
                  <a:srgbClr val="FF4655"/>
                </a:solidFill>
                <a:latin typeface="Space Grotesk"/>
                <a:cs typeface="Space Grotesk"/>
              </a:rPr>
              <a:t>2</a:t>
            </a:r>
            <a:endParaRPr lang="en-US" sz="10000" b="1" dirty="0" spc="-300">
              <a:solidFill>
                <a:srgbClr val="FF4655"/>
              </a:solidFill>
              <a:latin typeface="Space Grotesk"/>
              <a:cs typeface="Space Grotesk"/>
            </a:endParaRPr>
          </a:p>
        </p:txBody>
      </p:sp>
      <p:sp>
        <p:nvSpPr>
          <p:cNvPr id="37" name="CAD flat"/>
          <p:cNvSpPr txBox="1"/>
          <p:nvPr/>
        </p:nvSpPr>
        <p:spPr>
          <a:xfrm>
            <a:off x="7368540" y="2362200"/>
            <a:ext cx="2578100" cy="1625600"/>
          </a:xfrm>
          <a:prstGeom prst="rect">
            <a:avLst/>
          </a:prstGeom>
          <a:noFill/>
          <a:ln>
            <a:noFill/>
          </a:ln>
        </p:spPr>
        <p:txBody>
          <a:bodyPr wrap="none" lIns="0" tIns="0" rIns="0" bIns="0" anchor="t" rtlCol="0">
            <a:noAutofit/>
          </a:bodyPr>
          <a:lstStyle/>
          <a:p>
            <a:pPr algn="l"/>
            <a:r>
              <a:rPr lang="en-US" sz="10000" b="1" dirty="0" spc="-200">
                <a:solidFill>
                  <a:srgbClr val="FF4655"/>
                </a:solidFill>
                <a:latin typeface="Space Grotesk"/>
                <a:cs typeface="Space Grotesk"/>
              </a:rPr>
              <a:t>CAD</a:t>
            </a:r>
            <a:endParaRPr lang="en-US" sz="10000" b="1" dirty="0" spc="-200">
              <a:solidFill>
                <a:srgbClr val="FF4655"/>
              </a:solidFill>
              <a:latin typeface="Space Grotesk"/>
              <a:cs typeface="Space Grotesk"/>
            </a:endParaRPr>
          </a:p>
        </p:txBody>
      </p:sp>
      <p:sp>
        <p:nvSpPr>
          <p:cNvPr id="38" name="CAD 3D"/>
          <p:cNvSpPr txBox="1"/>
          <p:nvPr/>
        </p:nvSpPr>
        <p:spPr>
          <a:xfrm>
            <a:off x="7368540" y="2362200"/>
            <a:ext cx="2578100" cy="1625600"/>
          </a:xfrm>
          <a:prstGeom prst="rect">
            <a:avLst/>
          </a:prstGeom>
          <a:noFill/>
          <a:ln>
            <a:noFill/>
          </a:ln>
        </p:spPr>
        <p:txBody>
          <a:bodyPr wrap="none" lIns="0" tIns="0" rIns="0" bIns="0" anchor="t" rtlCol="0">
            <a:noAutofit/>
            <a:scene3d>
              <a:camera prst="perspectiveFront">
                <a:rot lat="0" lon="1680000" rev="0"/>
              </a:camera>
              <a:lightRig rig="threePt" dir="t"/>
            </a:scene3d>
            <a:sp3d extrusionH="228600" prstMaterial="matte">
              <a:extrusionClr>
                <a:srgbClr val="8F1F2A"/>
              </a:extrusionClr>
            </a:sp3d>
          </a:bodyPr>
          <a:lstStyle/>
          <a:p>
            <a:pPr algn="l"/>
            <a:r>
              <a:rPr lang="en-US" sz="10000" b="1" dirty="0" spc="-200">
                <a:solidFill>
                  <a:srgbClr val="FF4655"/>
                </a:solidFill>
                <a:latin typeface="Space Grotesk"/>
                <a:cs typeface="Space Grotesk"/>
              </a:rPr>
              <a:t>CAD</a:t>
            </a:r>
            <a:endParaRPr lang="en-US" sz="10000" b="1" dirty="0" spc="-200">
              <a:solidFill>
                <a:srgbClr val="FF4655"/>
              </a:solidFill>
              <a:latin typeface="Space Grotesk"/>
              <a:cs typeface="Space Grotesk"/>
            </a:endParaRPr>
          </a:p>
        </p:txBody>
      </p:sp>
      <p:sp>
        <p:nvSpPr>
          <p:cNvPr id="39" name="Team name"/>
          <p:cNvSpPr txBox="1"/>
          <p:nvPr/>
        </p:nvSpPr>
        <p:spPr>
          <a:xfrm>
            <a:off x="812800" y="4158996"/>
            <a:ext cx="7620000" cy="457200"/>
          </a:xfrm>
          <a:prstGeom prst="rect">
            <a:avLst/>
          </a:prstGeom>
          <a:noFill/>
          <a:ln>
            <a:noFill/>
          </a:ln>
        </p:spPr>
        <p:txBody>
          <a:bodyPr wrap="square" lIns="0" tIns="0" rIns="0" bIns="0" anchor="t" rtlCol="0">
            <a:noAutofit/>
          </a:bodyPr>
          <a:lstStyle/>
          <a:p>
            <a:pPr algn="l"/>
            <a:r>
              <a:rPr lang="en-US" sz="2800" b="1" dirty="0">
                <a:solidFill>
                  <a:srgbClr val="EEF2F5"/>
                </a:solidFill>
                <a:latin typeface="Space Grotesk"/>
                <a:cs typeface="Space Grotesk"/>
              </a:rPr>
              <a:t>The Novice Ninjas</a:t>
            </a:r>
            <a:endParaRPr lang="en-US" sz="2800" b="1" dirty="0">
              <a:solidFill>
                <a:srgbClr val="EEF2F5"/>
              </a:solidFill>
              <a:latin typeface="Space Grotesk"/>
              <a:cs typeface="Space Grotesk"/>
            </a:endParaRPr>
          </a:p>
        </p:txBody>
      </p:sp>
      <p:sp>
        <p:nvSpPr>
          <p:cNvPr id="40" name="Tagline"/>
          <p:cNvSpPr txBox="1"/>
          <p:nvPr/>
        </p:nvSpPr>
        <p:spPr>
          <a:xfrm>
            <a:off x="812800" y="4775200"/>
            <a:ext cx="6985000" cy="292100"/>
          </a:xfrm>
          <a:prstGeom prst="rect">
            <a:avLst/>
          </a:prstGeom>
          <a:noFill/>
          <a:ln>
            <a:noFill/>
          </a:ln>
        </p:spPr>
        <p:txBody>
          <a:bodyPr wrap="square" lIns="0" tIns="0" rIns="0" bIns="0" anchor="t" rtlCol="0">
            <a:noAutofit/>
          </a:bodyPr>
          <a:lstStyle/>
          <a:p>
            <a:pPr algn="l">
              <a:lnSpc>
                <a:spcPts val="2240"/>
              </a:lnSpc>
            </a:pPr>
            <a:r>
              <a:rPr lang="en-US" sz="1600" b="0" dirty="0">
                <a:solidFill>
                  <a:srgbClr val="9FB0C0"/>
                </a:solidFill>
                <a:latin typeface="Inter"/>
                <a:cs typeface="Inter"/>
              </a:rPr>
              <a:t>From 2D technical drawings to 3D STEP models, automatically.</a:t>
            </a:r>
            <a:endParaRPr lang="en-US" sz="1600" b="0" dirty="0">
              <a:solidFill>
                <a:srgbClr val="9FB0C0"/>
              </a:solidFill>
              <a:latin typeface="Inter"/>
              <a:cs typeface="Inter"/>
            </a:endParaRPr>
          </a:p>
        </p:txBody>
      </p:sp>
    </p:spTree>
  </p:cSld>
  <p:clrMapOvr>
    <a:masterClrMapping/>
  </p:clrMapOvr>
  <p:transition advClick="0" advTm="127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600"/>
                                        <p:tgtEl>
                                          <p:spTgt spid="35"/>
                                        </p:tgtEl>
                                      </p:cBhvr>
                                    </p:animEffect>
                                    <p:anim calcmode="lin" valueType="num">
                                      <p:cBhvr additive="base">
                                        <p:cTn id="12" dur="600" fill="hold"/>
                                        <p:tgtEl>
                                          <p:spTgt spid="35"/>
                                        </p:tgtEl>
                                        <p:attrNameLst>
                                          <p:attrName>ppt_x</p:attrName>
                                        </p:attrNameLst>
                                      </p:cBhvr>
                                      <p:tavLst>
                                        <p:tav tm="0">
                                          <p:val>
                                            <p:strVal val="#ppt_x"/>
                                          </p:val>
                                        </p:tav>
                                        <p:tav tm="100000">
                                          <p:val>
                                            <p:strVal val="#ppt_x"/>
                                          </p:val>
                                        </p:tav>
                                      </p:tavLst>
                                    </p:anim>
                                    <p:anim calcmode="lin" valueType="num">
                                      <p:cBhvr additive="base">
                                        <p:cTn id="13" dur="600" fill="hold"/>
                                        <p:tgtEl>
                                          <p:spTgt spid="35"/>
                                        </p:tgtEl>
                                        <p:attrNameLst>
                                          <p:attrName>ppt_y</p:attrName>
                                        </p:attrNameLst>
                                      </p:cBhvr>
                                      <p:tavLst>
                                        <p:tav tm="0">
                                          <p:val>
                                            <p:strVal val="#ppt_y+.1"/>
                                          </p:val>
                                        </p:tav>
                                        <p:tav tm="100000">
                                          <p:val>
                                            <p:strVal val="#ppt_y"/>
                                          </p:val>
                                        </p:tav>
                                      </p:tavLst>
                                    </p:anim>
                                  </p:childTnLst>
                                </p:cTn>
                              </p:par>
                            </p:childTnLst>
                          </p:cTn>
                        </p:par>
                        <p:par>
                          <p:cTn id="14" fill="hold">
                            <p:stCondLst>
                              <p:cond delay="1100"/>
                            </p:stCondLst>
                            <p:childTnLst>
                              <p:par>
                                <p:cTn id="15" presetID="53" presetClass="entr" presetSubtype="16" fill="hold" grpId="0" nodeType="afterEffect">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cBhvr additive="base">
                                        <p:cTn id="17" dur="500" fill="hold"/>
                                        <p:tgtEl>
                                          <p:spTgt spid="36"/>
                                        </p:tgtEl>
                                        <p:attrNameLst>
                                          <p:attrName>ppt_w</p:attrName>
                                        </p:attrNameLst>
                                      </p:cBhvr>
                                      <p:tavLst>
                                        <p:tav tm="0">
                                          <p:val>
                                            <p:fltVal val="0"/>
                                          </p:val>
                                        </p:tav>
                                        <p:tav tm="100000">
                                          <p:val>
                                            <p:strVal val="#ppt_w"/>
                                          </p:val>
                                        </p:tav>
                                      </p:tavLst>
                                    </p:anim>
                                    <p:anim calcmode="lin" valueType="num">
                                      <p:cBhvr additive="base">
                                        <p:cTn id="18" dur="500" fill="hold"/>
                                        <p:tgtEl>
                                          <p:spTgt spid="36"/>
                                        </p:tgtEl>
                                        <p:attrNameLst>
                                          <p:attrName>ppt_h</p:attrName>
                                        </p:attrNameLst>
                                      </p:cBhvr>
                                      <p:tavLst>
                                        <p:tav tm="0">
                                          <p:val>
                                            <p:fltVal val="0"/>
                                          </p:val>
                                        </p:tav>
                                        <p:tav tm="100000">
                                          <p:val>
                                            <p:strVal val="#ppt_h"/>
                                          </p:val>
                                        </p:tav>
                                      </p:tavLst>
                                    </p:anim>
                                    <p:animEffect transition="in" filter="fade">
                                      <p:cBhvr>
                                        <p:cTn id="19" dur="500"/>
                                        <p:tgtEl>
                                          <p:spTgt spid="36"/>
                                        </p:tgtEl>
                                      </p:cBhvr>
                                    </p:animEffect>
                                  </p:childTnLst>
                                </p:cTn>
                              </p:par>
                            </p:childTnLst>
                          </p:cTn>
                        </p:par>
                        <p:par>
                          <p:cTn id="20" fill="hold">
                            <p:stCondLst>
                              <p:cond delay="1600"/>
                            </p:stCondLst>
                            <p:childTnLst>
                              <p:par>
                                <p:cTn id="21" presetID="10" presetClass="entr" presetSubtype="0"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childTnLst>
                          </p:cTn>
                        </p:par>
                        <p:par>
                          <p:cTn id="24" fill="hold">
                            <p:stCondLst>
                              <p:cond delay="2100"/>
                            </p:stCondLst>
                            <p:childTnLst>
                              <p:par>
                                <p:cTn id="25" presetID="10" presetClass="exit" presetSubtype="0" fill="hold" grpId="1" nodeType="afterEffect">
                                  <p:stCondLst>
                                    <p:cond delay="1000"/>
                                  </p:stCondLst>
                                  <p:childTnLst>
                                    <p:animEffect transition="out" filter="fade">
                                      <p:cBhvr>
                                        <p:cTn id="26" dur="500"/>
                                        <p:tgtEl>
                                          <p:spTgt spid="37"/>
                                        </p:tgtEl>
                                      </p:cBhvr>
                                    </p:animEffect>
                                    <p:set>
                                      <p:cBhvr>
                                        <p:cTn id="27" dur="1" fill="hold">
                                          <p:stCondLst>
                                            <p:cond delay="499"/>
                                          </p:stCondLst>
                                        </p:cTn>
                                        <p:tgtEl>
                                          <p:spTgt spid="37"/>
                                        </p:tgtEl>
                                        <p:attrNameLst>
                                          <p:attrName>style.visibility</p:attrName>
                                        </p:attrNameLst>
                                      </p:cBhvr>
                                      <p:to>
                                        <p:strVal val="hidden"/>
                                      </p:to>
                                    </p:set>
                                  </p:childTnLst>
                                </p:cTn>
                              </p:par>
                              <p:par>
                                <p:cTn id="28" presetID="53" presetClass="entr" presetSubtype="16" fill="hold" grpId="0" nodeType="withEffect">
                                  <p:stCondLst>
                                    <p:cond delay="1000"/>
                                  </p:stCondLst>
                                  <p:childTnLst>
                                    <p:set>
                                      <p:cBhvr>
                                        <p:cTn id="29" dur="1" fill="hold">
                                          <p:stCondLst>
                                            <p:cond delay="0"/>
                                          </p:stCondLst>
                                        </p:cTn>
                                        <p:tgtEl>
                                          <p:spTgt spid="38"/>
                                        </p:tgtEl>
                                        <p:attrNameLst>
                                          <p:attrName>style.visibility</p:attrName>
                                        </p:attrNameLst>
                                      </p:cBhvr>
                                      <p:to>
                                        <p:strVal val="visible"/>
                                      </p:to>
                                    </p:set>
                                    <p:anim calcmode="lin" valueType="num">
                                      <p:cBhvr additive="base">
                                        <p:cTn id="30" dur="500" fill="hold"/>
                                        <p:tgtEl>
                                          <p:spTgt spid="38"/>
                                        </p:tgtEl>
                                        <p:attrNameLst>
                                          <p:attrName>ppt_w</p:attrName>
                                        </p:attrNameLst>
                                      </p:cBhvr>
                                      <p:tavLst>
                                        <p:tav tm="0">
                                          <p:val>
                                            <p:fltVal val="0"/>
                                          </p:val>
                                        </p:tav>
                                        <p:tav tm="100000">
                                          <p:val>
                                            <p:strVal val="#ppt_w"/>
                                          </p:val>
                                        </p:tav>
                                      </p:tavLst>
                                    </p:anim>
                                    <p:anim calcmode="lin" valueType="num">
                                      <p:cBhvr additive="base">
                                        <p:cTn id="31" dur="500" fill="hold"/>
                                        <p:tgtEl>
                                          <p:spTgt spid="38"/>
                                        </p:tgtEl>
                                        <p:attrNameLst>
                                          <p:attrName>ppt_h</p:attrName>
                                        </p:attrNameLst>
                                      </p:cBhvr>
                                      <p:tavLst>
                                        <p:tav tm="0">
                                          <p:val>
                                            <p:fltVal val="0"/>
                                          </p:val>
                                        </p:tav>
                                        <p:tav tm="100000">
                                          <p:val>
                                            <p:strVal val="#ppt_h"/>
                                          </p:val>
                                        </p:tav>
                                      </p:tavLst>
                                    </p:anim>
                                    <p:animEffect transition="in" filter="fade">
                                      <p:cBhvr>
                                        <p:cTn id="32" dur="500"/>
                                        <p:tgtEl>
                                          <p:spTgt spid="38"/>
                                        </p:tgtEl>
                                      </p:cBhvr>
                                    </p:animEffect>
                                  </p:childTnLst>
                                </p:cTn>
                              </p:par>
                            </p:childTnLst>
                          </p:cTn>
                        </p:par>
                        <p:par>
                          <p:cTn id="33" fill="hold">
                            <p:stCondLst>
                              <p:cond delay="3600"/>
                            </p:stCondLst>
                            <p:childTnLst>
                              <p:par>
                                <p:cTn id="34" presetID="42" presetClass="entr" presetSubtype="0" fill="hold" grpId="0" nodeType="after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600"/>
                                        <p:tgtEl>
                                          <p:spTgt spid="39"/>
                                        </p:tgtEl>
                                      </p:cBhvr>
                                    </p:animEffect>
                                    <p:anim calcmode="lin" valueType="num">
                                      <p:cBhvr additive="base">
                                        <p:cTn id="37" dur="600" fill="hold"/>
                                        <p:tgtEl>
                                          <p:spTgt spid="39"/>
                                        </p:tgtEl>
                                        <p:attrNameLst>
                                          <p:attrName>ppt_x</p:attrName>
                                        </p:attrNameLst>
                                      </p:cBhvr>
                                      <p:tavLst>
                                        <p:tav tm="0">
                                          <p:val>
                                            <p:strVal val="#ppt_x"/>
                                          </p:val>
                                        </p:tav>
                                        <p:tav tm="100000">
                                          <p:val>
                                            <p:strVal val="#ppt_x"/>
                                          </p:val>
                                        </p:tav>
                                      </p:tavLst>
                                    </p:anim>
                                    <p:anim calcmode="lin" valueType="num">
                                      <p:cBhvr additive="base">
                                        <p:cTn id="38" dur="600" fill="hold"/>
                                        <p:tgtEl>
                                          <p:spTgt spid="39"/>
                                        </p:tgtEl>
                                        <p:attrNameLst>
                                          <p:attrName>ppt_y</p:attrName>
                                        </p:attrNameLst>
                                      </p:cBhvr>
                                      <p:tavLst>
                                        <p:tav tm="0">
                                          <p:val>
                                            <p:strVal val="#ppt_y+.1"/>
                                          </p:val>
                                        </p:tav>
                                        <p:tav tm="100000">
                                          <p:val>
                                            <p:strVal val="#ppt_y"/>
                                          </p:val>
                                        </p:tav>
                                      </p:tavLst>
                                    </p:anim>
                                  </p:childTnLst>
                                </p:cTn>
                              </p:par>
                            </p:childTnLst>
                          </p:cTn>
                        </p:par>
                        <p:par>
                          <p:cTn id="39" fill="hold">
                            <p:stCondLst>
                              <p:cond delay="4200"/>
                            </p:stCondLst>
                            <p:childTnLst>
                              <p:par>
                                <p:cTn id="40" presetID="10" presetClass="entr" presetSubtype="0" fill="hold" grpId="0" nodeType="after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P spid="37" grpId="1"/>
      <p:bldP spid="38" grpId="0"/>
      <p:bldP spid="39" grpId="0"/>
      <p:bldP spid="40"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924"/>
        </a:solidFill>
        <a:effectLst/>
      </p:bgPr>
    </p:bg>
    <p:spTree>
      <p:nvGrpSpPr>
        <p:cNvPr id="1" name=""/>
        <p:cNvGrpSpPr/>
        <p:nvPr/>
      </p:nvGrpSpPr>
      <p:grpSpPr/>
      <p:sp>
        <p:nvSpPr>
          <p:cNvPr id="2" name="!!bar"/>
          <p:cNvSpPr/>
          <p:nvPr/>
        </p:nvSpPr>
        <p:spPr>
          <a:xfrm>
            <a:off x="812800" y="609600"/>
            <a:ext cx="457200" cy="50800"/>
          </a:xfrm>
          <a:prstGeom prst="roundRect">
            <a:avLst>
              <a:gd name="adj" fmla="val 50000"/>
            </a:avLst>
          </a:prstGeom>
          <a:solidFill>
            <a:srgbClr val="FF4655"/>
          </a:solidFill>
          <a:ln>
            <a:noFill/>
          </a:ln>
        </p:spPr>
      </p:sp>
      <p:sp>
        <p:nvSpPr>
          <p:cNvPr id="3" name="Eyebrow"/>
          <p:cNvSpPr txBox="1"/>
          <p:nvPr/>
        </p:nvSpPr>
        <p:spPr>
          <a:xfrm>
            <a:off x="812800" y="812800"/>
            <a:ext cx="10566400" cy="190500"/>
          </a:xfrm>
          <a:prstGeom prst="rect">
            <a:avLst/>
          </a:prstGeom>
          <a:noFill/>
          <a:ln>
            <a:noFill/>
          </a:ln>
        </p:spPr>
        <p:txBody>
          <a:bodyPr wrap="square" lIns="0" tIns="0" rIns="0" bIns="0" anchor="t" rtlCol="0">
            <a:noAutofit/>
          </a:bodyPr>
          <a:lstStyle/>
          <a:p>
            <a:pPr algn="l"/>
            <a:r>
              <a:rPr lang="en-US" sz="1200" b="1" dirty="0" spc="200" cap="all">
                <a:solidFill>
                  <a:srgbClr val="FF4655"/>
                </a:solidFill>
                <a:latin typeface="Inter"/>
                <a:cs typeface="Inter"/>
              </a:rPr>
              <a:t>01 — Problem</a:t>
            </a:r>
            <a:endParaRPr lang="en-US" sz="1200" b="1" dirty="0" spc="200" cap="all">
              <a:solidFill>
                <a:srgbClr val="FF4655"/>
              </a:solidFill>
              <a:latin typeface="Inter"/>
              <a:cs typeface="Inter"/>
            </a:endParaRPr>
          </a:p>
        </p:txBody>
      </p:sp>
      <p:sp>
        <p:nvSpPr>
          <p:cNvPr id="4" name="Title"/>
          <p:cNvSpPr txBox="1"/>
          <p:nvPr/>
        </p:nvSpPr>
        <p:spPr>
          <a:xfrm>
            <a:off x="812800" y="1034288"/>
            <a:ext cx="10566400" cy="730250"/>
          </a:xfrm>
          <a:prstGeom prst="rect">
            <a:avLst/>
          </a:prstGeom>
          <a:noFill/>
          <a:ln>
            <a:noFill/>
          </a:ln>
        </p:spPr>
        <p:txBody>
          <a:bodyPr wrap="square" lIns="0" tIns="0" rIns="0" bIns="0" anchor="t" rtlCol="0">
            <a:noAutofit/>
          </a:bodyPr>
          <a:lstStyle/>
          <a:p>
            <a:pPr algn="l"/>
            <a:r>
              <a:rPr lang="en-US" sz="4400" b="1" dirty="0" spc="-100">
                <a:solidFill>
                  <a:srgbClr val="EEF2F5"/>
                </a:solidFill>
                <a:latin typeface="Space Grotesk"/>
                <a:cs typeface="Space Grotesk"/>
              </a:rPr>
              <a:t>The problem</a:t>
            </a:r>
            <a:endParaRPr lang="en-US" sz="4400" b="1" dirty="0" spc="-100">
              <a:solidFill>
                <a:srgbClr val="EEF2F5"/>
              </a:solidFill>
              <a:latin typeface="Space Grotesk"/>
              <a:cs typeface="Space Grotesk"/>
            </a:endParaRPr>
          </a:p>
        </p:txBody>
      </p:sp>
      <p:pic>
        <p:nvPicPr>
          <p:cNvPr id="5" name="Drawing Befestigung" descr="2D component drawing “Befestigung”: front and top views with dimensions and the title block"/>
          <p:cNvPicPr>
            <a:picLocks noChangeAspect="1"/>
          </p:cNvPicPr>
          <p:nvPr/>
        </p:nvPicPr>
        <p:blipFill>
          <a:blip r:embed="rId2"/>
          <a:srcRect l="78" r="78" t="0" b="0"/>
          <a:stretch>
            <a:fillRect/>
          </a:stretch>
        </p:blipFill>
        <p:spPr>
          <a:xfrm>
            <a:off x="812800" y="2159000"/>
            <a:ext cx="4762500" cy="3429000"/>
          </a:xfrm>
          <a:prstGeom prst="roundRect">
            <a:avLst>
              <a:gd name="adj" fmla="val 4444"/>
            </a:avLst>
          </a:prstGeom>
          <a:ln w="6350">
            <a:solidFill>
              <a:srgbClr val="2B3D50"/>
            </a:solidFill>
          </a:ln>
        </p:spPr>
      </p:pic>
      <p:grpSp>
        <p:nvGrpSpPr>
          <p:cNvPr id="6" name="Card 2D drawings only"/>
          <p:cNvGrpSpPr/>
          <p:nvPr/>
        </p:nvGrpSpPr>
        <p:grpSpPr>
          <a:xfrm>
            <a:off x="5778500" y="2159000"/>
            <a:ext cx="5600700" cy="1612900"/>
            <a:chOff x="5778500" y="2159000"/>
            <a:chExt cx="5600700" cy="1612900"/>
          </a:xfrm>
        </p:grpSpPr>
        <p:sp>
          <p:nvSpPr>
            <p:cNvPr id="7" name="Card"/>
            <p:cNvSpPr/>
            <p:nvPr/>
          </p:nvSpPr>
          <p:spPr>
            <a:xfrm>
              <a:off x="5778500" y="2159000"/>
              <a:ext cx="5600700" cy="1612900"/>
            </a:xfrm>
            <a:prstGeom prst="roundRect">
              <a:avLst>
                <a:gd name="adj" fmla="val 9449"/>
              </a:avLst>
            </a:prstGeom>
            <a:solidFill>
              <a:srgbClr val="172433"/>
            </a:solidFill>
            <a:ln w="6350">
              <a:solidFill>
                <a:srgbClr val="2B3D50"/>
              </a:solidFill>
            </a:ln>
          </p:spPr>
        </p:sp>
        <p:pic>
          <p:nvPicPr>
            <p:cNvPr id="8" name="Icon Warning" descr="Warning icon"/>
            <p:cNvPicPr>
              <a:picLocks noChangeAspect="1"/>
            </p:cNvPicPr>
            <p:nvPr/>
          </p:nvPicPr>
          <p:blipFill>
            <a:blip r:embed="rId3"/>
            <a:stretch>
              <a:fillRect/>
            </a:stretch>
          </p:blipFill>
          <p:spPr>
            <a:xfrm>
              <a:off x="6032500" y="2762250"/>
              <a:ext cx="406400" cy="406400"/>
            </a:xfrm>
            <a:prstGeom prst="rect">
              <a:avLst/>
            </a:prstGeom>
          </p:spPr>
        </p:pic>
        <p:sp>
          <p:nvSpPr>
            <p:cNvPr id="9" name="Heading"/>
            <p:cNvSpPr txBox="1"/>
            <p:nvPr/>
          </p:nvSpPr>
          <p:spPr>
            <a:xfrm>
              <a:off x="6642100" y="2636774"/>
              <a:ext cx="4483100" cy="355600"/>
            </a:xfrm>
            <a:prstGeom prst="rect">
              <a:avLst/>
            </a:prstGeom>
            <a:noFill/>
            <a:ln>
              <a:noFill/>
            </a:ln>
          </p:spPr>
          <p:txBody>
            <a:bodyPr wrap="square" lIns="0" tIns="0" rIns="0" bIns="0" anchor="t" rtlCol="0">
              <a:noAutofit/>
            </a:bodyPr>
            <a:lstStyle/>
            <a:p>
              <a:pPr algn="l"/>
              <a:r>
                <a:rPr lang="en-US" sz="2200" b="1" dirty="0">
                  <a:solidFill>
                    <a:srgbClr val="EEF2F5"/>
                  </a:solidFill>
                  <a:latin typeface="Space Grotesk"/>
                  <a:cs typeface="Space Grotesk"/>
                </a:rPr>
                <a:t>2D drawings only</a:t>
              </a:r>
              <a:endParaRPr lang="en-US" sz="2200" b="1" dirty="0">
                <a:solidFill>
                  <a:srgbClr val="EEF2F5"/>
                </a:solidFill>
                <a:latin typeface="Space Grotesk"/>
                <a:cs typeface="Space Grotesk"/>
              </a:endParaRPr>
            </a:p>
          </p:txBody>
        </p:sp>
        <p:sp>
          <p:nvSpPr>
            <p:cNvPr id="10" name="Body"/>
            <p:cNvSpPr txBox="1"/>
            <p:nvPr/>
          </p:nvSpPr>
          <p:spPr>
            <a:xfrm>
              <a:off x="6642100" y="3020060"/>
              <a:ext cx="4483100" cy="274320"/>
            </a:xfrm>
            <a:prstGeom prst="rect">
              <a:avLst/>
            </a:prstGeom>
            <a:noFill/>
            <a:ln>
              <a:noFill/>
            </a:ln>
          </p:spPr>
          <p:txBody>
            <a:bodyPr wrap="square" lIns="0" tIns="0" rIns="0" bIns="0" anchor="t" rtlCol="0">
              <a:noAutofit/>
            </a:bodyPr>
            <a:lstStyle/>
            <a:p>
              <a:pPr algn="l">
                <a:lnSpc>
                  <a:spcPts val="1960"/>
                </a:lnSpc>
              </a:pPr>
              <a:r>
                <a:rPr lang="en-US" sz="1400" b="0" dirty="0">
                  <a:solidFill>
                    <a:srgbClr val="B4C2CF"/>
                  </a:solidFill>
                  <a:latin typeface="Inter"/>
                  <a:cs typeface="Inter"/>
                </a:rPr>
                <a:t>…in countless different formats.</a:t>
              </a:r>
              <a:endParaRPr lang="en-US" sz="1400" b="0" dirty="0">
                <a:solidFill>
                  <a:srgbClr val="B4C2CF"/>
                </a:solidFill>
                <a:latin typeface="Inter"/>
                <a:cs typeface="Inter"/>
              </a:endParaRPr>
            </a:p>
          </p:txBody>
        </p:sp>
      </p:grpSp>
      <p:pic>
        <p:nvPicPr>
          <p:cNvPr id="11" name="3D model" descr="3D model of the Befestigung part: base plate with three holes, slotted tube boss, arm and fork clamp"/>
          <p:cNvPicPr>
            <a:picLocks noChangeAspect="1"/>
          </p:cNvPicPr>
          <p:nvPr/>
        </p:nvPicPr>
        <p:blipFill>
          <a:blip r:embed="rId4"/>
          <a:srcRect l="10" r="10"/>
          <a:stretch>
            <a:fillRect/>
          </a:stretch>
        </p:blipFill>
        <p:spPr>
          <a:xfrm>
            <a:off x="5778500" y="2159000"/>
            <a:ext cx="5600700" cy="3429000"/>
          </a:xfrm>
          <a:prstGeom prst="roundRect">
            <a:avLst>
              <a:gd name="adj" fmla="val 4444"/>
            </a:avLst>
          </a:prstGeom>
          <a:ln w="6350">
            <a:solidFill>
              <a:srgbClr val="2B3D50"/>
            </a:solidFill>
          </a:ln>
        </p:spPr>
      </p:pic>
      <p:sp>
        <p:nvSpPr>
          <p:cNvPr id="12" name="Pill 3D model"/>
          <p:cNvSpPr/>
          <p:nvPr/>
        </p:nvSpPr>
        <p:spPr>
          <a:xfrm>
            <a:off x="5981700" y="2362200"/>
            <a:ext cx="1270000" cy="285750"/>
          </a:xfrm>
          <a:prstGeom prst="roundRect">
            <a:avLst>
              <a:gd name="adj" fmla="val 50000"/>
            </a:avLst>
          </a:prstGeom>
          <a:solidFill>
            <a:srgbClr val="3DDC84"/>
          </a:solidFill>
          <a:ln>
            <a:noFill/>
          </a:ln>
        </p:spPr>
        <p:txBody>
          <a:bodyPr wrap="none" lIns="127000" tIns="50800" rIns="127000" bIns="50800" anchor="ctr" rtlCol="0">
            <a:noAutofit/>
          </a:bodyPr>
          <a:lstStyle/>
          <a:p>
            <a:pPr algn="l"/>
            <a:r>
              <a:rPr lang="en-US" sz="1200" b="1" dirty="0">
                <a:solidFill>
                  <a:srgbClr val="0F1924"/>
                </a:solidFill>
                <a:latin typeface="Inter"/>
                <a:cs typeface="Inter"/>
              </a:rPr>
              <a:t>3D model</a:t>
            </a:r>
            <a:endParaRPr lang="en-US" sz="1200" b="1" dirty="0">
              <a:solidFill>
                <a:srgbClr val="0F1924"/>
              </a:solidFill>
              <a:latin typeface="Inter"/>
              <a:cs typeface="Inter"/>
            </a:endParaRPr>
          </a:p>
        </p:txBody>
      </p:sp>
      <p:sp>
        <p:nvSpPr>
          <p:cNvPr id="13" name="Footer"/>
          <p:cNvSpPr txBox="1"/>
          <p:nvPr/>
        </p:nvSpPr>
        <p:spPr>
          <a:xfrm>
            <a:off x="812800" y="6267450"/>
            <a:ext cx="6350000" cy="190500"/>
          </a:xfrm>
          <a:prstGeom prst="rect">
            <a:avLst/>
          </a:prstGeom>
          <a:noFill/>
          <a:ln>
            <a:noFill/>
          </a:ln>
        </p:spPr>
        <p:txBody>
          <a:bodyPr wrap="square" lIns="0" tIns="0" rIns="0" bIns="0" anchor="t" rtlCol="0">
            <a:noAutofit/>
          </a:bodyPr>
          <a:lstStyle/>
          <a:p>
            <a:pPr algn="l"/>
            <a:r>
              <a:rPr lang="en-US" sz="1200" b="0" dirty="0">
                <a:solidFill>
                  <a:srgbClr val="8A9CAE"/>
                </a:solidFill>
                <a:latin typeface="Inter"/>
                <a:cs typeface="Inter"/>
              </a:rPr>
              <a:t>Drawing2CAD · The Novice Ninjas</a:t>
            </a:r>
            <a:endParaRPr lang="en-US" sz="1200" b="0" dirty="0">
              <a:solidFill>
                <a:srgbClr val="8A9CAE"/>
              </a:solidFill>
              <a:latin typeface="Inter"/>
              <a:cs typeface="Inter"/>
            </a:endParaRPr>
          </a:p>
        </p:txBody>
      </p:sp>
      <p:sp>
        <p:nvSpPr>
          <p:cNvPr id="14" name="Slide number"/>
          <p:cNvSpPr txBox="1"/>
          <p:nvPr/>
        </p:nvSpPr>
        <p:spPr>
          <a:xfrm>
            <a:off x="10109200" y="6267450"/>
            <a:ext cx="1270000" cy="190500"/>
          </a:xfrm>
          <a:prstGeom prst="rect">
            <a:avLst/>
          </a:prstGeom>
          <a:noFill/>
          <a:ln>
            <a:noFill/>
          </a:ln>
        </p:spPr>
        <p:txBody>
          <a:bodyPr wrap="square" lIns="0" tIns="0" rIns="0" bIns="0" anchor="t" rtlCol="0">
            <a:noAutofit/>
          </a:bodyPr>
          <a:lstStyle/>
          <a:p>
            <a:pPr algn="r"/>
            <a:r>
              <a:rPr lang="en-US" sz="1200" b="0" dirty="0">
                <a:solidFill>
                  <a:srgbClr val="8A9CAE"/>
                </a:solidFill>
                <a:latin typeface="Inter"/>
                <a:cs typeface="Inter"/>
              </a:rPr>
              <a:t>02</a:t>
            </a:r>
            <a:endParaRPr lang="en-US" sz="1200" b="0" dirty="0">
              <a:solidFill>
                <a:srgbClr val="8A9CAE"/>
              </a:solidFill>
              <a:latin typeface="Inter"/>
              <a:cs typeface="Inter"/>
            </a:endParaRPr>
          </a:p>
        </p:txBody>
      </p:sp>
    </p:spTree>
  </p:cSld>
  <p:clrMapOvr>
    <a:masterClrMapping/>
  </p:clrMapOvr>
  <mc:AlternateContent xmlns:mc="http://schemas.openxmlformats.org/markup-compatibility/2006">
    <mc:Choice xmlns:p159="http://schemas.microsoft.com/office/powerpoint/2015/09/main" Requires="p159">
      <p:transition spd="slow" advClick="0" advTm="11200">
        <p159:morph option="byObject"/>
      </p:transition>
    </mc:Choice>
    <mc:Fallback>
      <p:transition spd="slow" advClick="0" advTm="112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additive="base">
                                        <p:cTn id="8" dur="600" fill="hold"/>
                                        <p:tgtEl>
                                          <p:spTgt spid="5"/>
                                        </p:tgtEl>
                                        <p:attrNameLst>
                                          <p:attrName>ppt_x</p:attrName>
                                        </p:attrNameLst>
                                      </p:cBhvr>
                                      <p:tavLst>
                                        <p:tav tm="0">
                                          <p:val>
                                            <p:strVal val="#ppt_x"/>
                                          </p:val>
                                        </p:tav>
                                        <p:tav tm="100000">
                                          <p:val>
                                            <p:strVal val="#ppt_x"/>
                                          </p:val>
                                        </p:tav>
                                      </p:tavLst>
                                    </p:anim>
                                    <p:anim calcmode="lin" valueType="num">
                                      <p:cBhvr additive="base">
                                        <p:cTn id="9" dur="6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6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childTnLst>
                          </p:cTn>
                        </p:par>
                        <p:par>
                          <p:cTn id="16" fill="hold">
                            <p:stCondLst>
                              <p:cond delay="1200"/>
                            </p:stCondLst>
                            <p:childTnLst>
                              <p:par>
                                <p:cTn id="17" presetID="10" presetClass="exit" presetSubtype="0" fill="hold" grpId="1" nodeType="afterEffect">
                                  <p:stCondLst>
                                    <p:cond delay="1500"/>
                                  </p:stCondLst>
                                  <p:childTnLst>
                                    <p:animEffect transition="out" filter="fade">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par>
                                <p:cTn id="20" presetID="53" presetClass="entr" presetSubtype="16" fill="hold" grpId="0" nodeType="withEffect">
                                  <p:stCondLst>
                                    <p:cond delay="150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ppt_w</p:attrName>
                                        </p:attrNameLst>
                                      </p:cBhvr>
                                      <p:tavLst>
                                        <p:tav tm="0">
                                          <p:val>
                                            <p:fltVal val="0"/>
                                          </p:val>
                                        </p:tav>
                                        <p:tav tm="100000">
                                          <p:val>
                                            <p:strVal val="#ppt_w"/>
                                          </p:val>
                                        </p:tav>
                                      </p:tavLst>
                                    </p:anim>
                                    <p:anim calcmode="lin" valueType="num">
                                      <p:cBhvr additive="base">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grpId="0" nodeType="withEffect">
                                  <p:stCondLst>
                                    <p:cond delay="150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ppt_w</p:attrName>
                                        </p:attrNameLst>
                                      </p:cBhvr>
                                      <p:tavLst>
                                        <p:tav tm="0">
                                          <p:val>
                                            <p:fltVal val="0"/>
                                          </p:val>
                                        </p:tav>
                                        <p:tav tm="100000">
                                          <p:val>
                                            <p:strVal val="#ppt_w"/>
                                          </p:val>
                                        </p:tav>
                                      </p:tavLst>
                                    </p:anim>
                                    <p:anim calcmode="lin" valueType="num">
                                      <p:cBhvr additive="base">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924"/>
        </a:solidFill>
        <a:effectLst/>
      </p:bgPr>
    </p:bg>
    <p:spTree>
      <p:nvGrpSpPr>
        <p:cNvPr id="1" name=""/>
        <p:cNvGrpSpPr/>
        <p:nvPr/>
      </p:nvGrpSpPr>
      <p:grpSpPr/>
      <p:sp>
        <p:nvSpPr>
          <p:cNvPr id="2" name="!!bar"/>
          <p:cNvSpPr/>
          <p:nvPr/>
        </p:nvSpPr>
        <p:spPr>
          <a:xfrm>
            <a:off x="812800" y="609600"/>
            <a:ext cx="457200" cy="50800"/>
          </a:xfrm>
          <a:prstGeom prst="roundRect">
            <a:avLst>
              <a:gd name="adj" fmla="val 50000"/>
            </a:avLst>
          </a:prstGeom>
          <a:solidFill>
            <a:srgbClr val="FF4655"/>
          </a:solidFill>
          <a:ln>
            <a:noFill/>
          </a:ln>
        </p:spPr>
      </p:sp>
      <p:sp>
        <p:nvSpPr>
          <p:cNvPr id="3" name="Eyebrow"/>
          <p:cNvSpPr txBox="1"/>
          <p:nvPr/>
        </p:nvSpPr>
        <p:spPr>
          <a:xfrm>
            <a:off x="812800" y="812800"/>
            <a:ext cx="10566400" cy="190500"/>
          </a:xfrm>
          <a:prstGeom prst="rect">
            <a:avLst/>
          </a:prstGeom>
          <a:noFill/>
          <a:ln>
            <a:noFill/>
          </a:ln>
        </p:spPr>
        <p:txBody>
          <a:bodyPr wrap="square" lIns="0" tIns="0" rIns="0" bIns="0" anchor="t" rtlCol="0">
            <a:noAutofit/>
          </a:bodyPr>
          <a:lstStyle/>
          <a:p>
            <a:pPr algn="l"/>
            <a:r>
              <a:rPr lang="en-US" sz="1200" b="1" dirty="0" spc="200" cap="all">
                <a:solidFill>
                  <a:srgbClr val="FF4655"/>
                </a:solidFill>
                <a:latin typeface="Inter"/>
                <a:cs typeface="Inter"/>
              </a:rPr>
              <a:t>02 — Goal</a:t>
            </a:r>
            <a:endParaRPr lang="en-US" sz="1200" b="1" dirty="0" spc="200" cap="all">
              <a:solidFill>
                <a:srgbClr val="FF4655"/>
              </a:solidFill>
              <a:latin typeface="Inter"/>
              <a:cs typeface="Inter"/>
            </a:endParaRPr>
          </a:p>
        </p:txBody>
      </p:sp>
      <p:sp>
        <p:nvSpPr>
          <p:cNvPr id="4" name="Title"/>
          <p:cNvSpPr txBox="1"/>
          <p:nvPr/>
        </p:nvSpPr>
        <p:spPr>
          <a:xfrm>
            <a:off x="812800" y="1034288"/>
            <a:ext cx="10566400" cy="730250"/>
          </a:xfrm>
          <a:prstGeom prst="rect">
            <a:avLst/>
          </a:prstGeom>
          <a:noFill/>
          <a:ln>
            <a:noFill/>
          </a:ln>
        </p:spPr>
        <p:txBody>
          <a:bodyPr wrap="square" lIns="0" tIns="0" rIns="0" bIns="0" anchor="t" rtlCol="0">
            <a:noAutofit/>
          </a:bodyPr>
          <a:lstStyle/>
          <a:p>
            <a:pPr algn="l"/>
            <a:r>
              <a:rPr lang="en-US" sz="4400" b="1" dirty="0" spc="-100">
                <a:solidFill>
                  <a:srgbClr val="EEF2F5"/>
                </a:solidFill>
                <a:latin typeface="Space Grotesk"/>
                <a:cs typeface="Space Grotesk"/>
              </a:rPr>
              <a:t>The goal: Drawing2CAD</a:t>
            </a:r>
            <a:endParaRPr lang="en-US" sz="4400" b="1" dirty="0" spc="-100">
              <a:solidFill>
                <a:srgbClr val="EEF2F5"/>
              </a:solidFill>
              <a:latin typeface="Space Grotesk"/>
              <a:cs typeface="Space Grotesk"/>
            </a:endParaRPr>
          </a:p>
        </p:txBody>
      </p:sp>
      <p:grpSp>
        <p:nvGrpSpPr>
          <p:cNvPr id="5" name="Goal card 1"/>
          <p:cNvGrpSpPr/>
          <p:nvPr/>
        </p:nvGrpSpPr>
        <p:grpSpPr>
          <a:xfrm>
            <a:off x="812800" y="2349500"/>
            <a:ext cx="3251200" cy="2984500"/>
            <a:chOff x="812800" y="2349500"/>
            <a:chExt cx="3251200" cy="2984500"/>
          </a:xfrm>
        </p:grpSpPr>
        <p:sp>
          <p:nvSpPr>
            <p:cNvPr id="6" name="Card"/>
            <p:cNvSpPr/>
            <p:nvPr/>
          </p:nvSpPr>
          <p:spPr>
            <a:xfrm>
              <a:off x="812800" y="2349500"/>
              <a:ext cx="3251200" cy="2984500"/>
            </a:xfrm>
            <a:prstGeom prst="roundRect">
              <a:avLst>
                <a:gd name="adj" fmla="val 5106"/>
              </a:avLst>
            </a:prstGeom>
            <a:solidFill>
              <a:srgbClr val="172433"/>
            </a:solidFill>
            <a:ln w="6350">
              <a:solidFill>
                <a:srgbClr val="2B3D50"/>
              </a:solidFill>
            </a:ln>
          </p:spPr>
        </p:sp>
        <p:pic>
          <p:nvPicPr>
            <p:cNvPr id="7" name="Icon Verified" descr="Verified icon"/>
            <p:cNvPicPr>
              <a:picLocks noChangeAspect="1"/>
            </p:cNvPicPr>
            <p:nvPr/>
          </p:nvPicPr>
          <p:blipFill>
            <a:blip r:embed="rId2"/>
            <a:stretch>
              <a:fillRect/>
            </a:stretch>
          </p:blipFill>
          <p:spPr>
            <a:xfrm>
              <a:off x="1117600" y="2654300"/>
              <a:ext cx="406400" cy="406400"/>
            </a:xfrm>
            <a:prstGeom prst="rect">
              <a:avLst/>
            </a:prstGeom>
          </p:spPr>
        </p:pic>
        <p:sp>
          <p:nvSpPr>
            <p:cNvPr id="8" name="Heading"/>
            <p:cNvSpPr txBox="1"/>
            <p:nvPr/>
          </p:nvSpPr>
          <p:spPr>
            <a:xfrm>
              <a:off x="1117600" y="3213100"/>
              <a:ext cx="2641600" cy="332740"/>
            </a:xfrm>
            <a:prstGeom prst="rect">
              <a:avLst/>
            </a:prstGeom>
            <a:noFill/>
            <a:ln>
              <a:noFill/>
            </a:ln>
          </p:spPr>
          <p:txBody>
            <a:bodyPr wrap="square" lIns="0" tIns="0" rIns="0" bIns="0" anchor="t" rtlCol="0">
              <a:noAutofit/>
            </a:bodyPr>
            <a:lstStyle/>
            <a:p>
              <a:pPr algn="l">
                <a:lnSpc>
                  <a:spcPts val="2420"/>
                </a:lnSpc>
              </a:pPr>
              <a:r>
                <a:rPr lang="en-US" sz="2200" b="1" dirty="0">
                  <a:solidFill>
                    <a:srgbClr val="EEF2F5"/>
                  </a:solidFill>
                  <a:latin typeface="Space Grotesk"/>
                  <a:cs typeface="Space Grotesk"/>
                </a:rPr>
                <a:t>Accurate output</a:t>
              </a:r>
              <a:endParaRPr lang="en-US" sz="2200" b="1" dirty="0">
                <a:solidFill>
                  <a:srgbClr val="EEF2F5"/>
                </a:solidFill>
                <a:latin typeface="Space Grotesk"/>
                <a:cs typeface="Space Grotesk"/>
              </a:endParaRPr>
            </a:p>
          </p:txBody>
        </p:sp>
        <p:sp>
          <p:nvSpPr>
            <p:cNvPr id="9" name="Body"/>
            <p:cNvSpPr txBox="1"/>
            <p:nvPr/>
          </p:nvSpPr>
          <p:spPr>
            <a:xfrm>
              <a:off x="1117600" y="3672840"/>
              <a:ext cx="2641600" cy="523240"/>
            </a:xfrm>
            <a:prstGeom prst="rect">
              <a:avLst/>
            </a:prstGeom>
            <a:noFill/>
            <a:ln>
              <a:noFill/>
            </a:ln>
          </p:spPr>
          <p:txBody>
            <a:bodyPr wrap="square" lIns="0" tIns="0" rIns="0" bIns="0" anchor="t" rtlCol="0">
              <a:noAutofit/>
            </a:bodyPr>
            <a:lstStyle/>
            <a:p>
              <a:pPr algn="l">
                <a:lnSpc>
                  <a:spcPts val="1960"/>
                </a:lnSpc>
              </a:pPr>
              <a:r>
                <a:rPr lang="en-US" sz="1400" b="0" dirty="0">
                  <a:solidFill>
                    <a:srgbClr val="B4C2CF"/>
                  </a:solidFill>
                  <a:latin typeface="Inter"/>
                  <a:cs typeface="Inter"/>
                </a:rPr>
                <a:t>Dimension-true 3D models, exported as STEP.</a:t>
              </a:r>
              <a:endParaRPr lang="en-US" sz="1400" b="0" dirty="0">
                <a:solidFill>
                  <a:srgbClr val="B4C2CF"/>
                </a:solidFill>
                <a:latin typeface="Inter"/>
                <a:cs typeface="Inter"/>
              </a:endParaRPr>
            </a:p>
          </p:txBody>
        </p:sp>
      </p:grpSp>
      <p:grpSp>
        <p:nvGrpSpPr>
          <p:cNvPr id="10" name="Goal card 2"/>
          <p:cNvGrpSpPr/>
          <p:nvPr/>
        </p:nvGrpSpPr>
        <p:grpSpPr>
          <a:xfrm>
            <a:off x="4470400" y="2349500"/>
            <a:ext cx="3251200" cy="2984500"/>
            <a:chOff x="4470400" y="2349500"/>
            <a:chExt cx="3251200" cy="2984500"/>
          </a:xfrm>
        </p:grpSpPr>
        <p:sp>
          <p:nvSpPr>
            <p:cNvPr id="11" name="Card"/>
            <p:cNvSpPr/>
            <p:nvPr/>
          </p:nvSpPr>
          <p:spPr>
            <a:xfrm>
              <a:off x="4470400" y="2349500"/>
              <a:ext cx="3251200" cy="2984500"/>
            </a:xfrm>
            <a:prstGeom prst="roundRect">
              <a:avLst>
                <a:gd name="adj" fmla="val 5106"/>
              </a:avLst>
            </a:prstGeom>
            <a:solidFill>
              <a:srgbClr val="172433"/>
            </a:solidFill>
            <a:ln w="6350">
              <a:solidFill>
                <a:srgbClr val="2B3D50"/>
              </a:solidFill>
            </a:ln>
          </p:spPr>
        </p:sp>
        <p:pic>
          <p:nvPicPr>
            <p:cNvPr id="12" name="Icon Lightning" descr="Lightning icon"/>
            <p:cNvPicPr>
              <a:picLocks noChangeAspect="1"/>
            </p:cNvPicPr>
            <p:nvPr/>
          </p:nvPicPr>
          <p:blipFill>
            <a:blip r:embed="rId3"/>
            <a:stretch>
              <a:fillRect/>
            </a:stretch>
          </p:blipFill>
          <p:spPr>
            <a:xfrm>
              <a:off x="4775200" y="2654300"/>
              <a:ext cx="406400" cy="406400"/>
            </a:xfrm>
            <a:prstGeom prst="rect">
              <a:avLst/>
            </a:prstGeom>
          </p:spPr>
        </p:pic>
        <p:sp>
          <p:nvSpPr>
            <p:cNvPr id="13" name="Heading"/>
            <p:cNvSpPr txBox="1"/>
            <p:nvPr/>
          </p:nvSpPr>
          <p:spPr>
            <a:xfrm>
              <a:off x="4775200" y="3213100"/>
              <a:ext cx="2641600" cy="640080"/>
            </a:xfrm>
            <a:prstGeom prst="rect">
              <a:avLst/>
            </a:prstGeom>
            <a:noFill/>
            <a:ln>
              <a:noFill/>
            </a:ln>
          </p:spPr>
          <p:txBody>
            <a:bodyPr wrap="square" lIns="0" tIns="0" rIns="0" bIns="0" anchor="t" rtlCol="0">
              <a:noAutofit/>
            </a:bodyPr>
            <a:lstStyle/>
            <a:p>
              <a:pPr algn="l">
                <a:lnSpc>
                  <a:spcPts val="2420"/>
                </a:lnSpc>
              </a:pPr>
              <a:r>
                <a:rPr lang="en-US" sz="2200" b="1" dirty="0">
                  <a:solidFill>
                    <a:srgbClr val="EEF2F5"/>
                  </a:solidFill>
                  <a:latin typeface="Space Grotesk"/>
                  <a:cs typeface="Space Grotesk"/>
                </a:rPr>
                <a:t>Automated workflow</a:t>
              </a:r>
              <a:endParaRPr lang="en-US" sz="2200" b="1" dirty="0">
                <a:solidFill>
                  <a:srgbClr val="EEF2F5"/>
                </a:solidFill>
                <a:latin typeface="Space Grotesk"/>
                <a:cs typeface="Space Grotesk"/>
              </a:endParaRPr>
            </a:p>
          </p:txBody>
        </p:sp>
        <p:sp>
          <p:nvSpPr>
            <p:cNvPr id="14" name="Body"/>
            <p:cNvSpPr txBox="1"/>
            <p:nvPr/>
          </p:nvSpPr>
          <p:spPr>
            <a:xfrm>
              <a:off x="4775200" y="3980180"/>
              <a:ext cx="2641600" cy="523240"/>
            </a:xfrm>
            <a:prstGeom prst="rect">
              <a:avLst/>
            </a:prstGeom>
            <a:noFill/>
            <a:ln>
              <a:noFill/>
            </a:ln>
          </p:spPr>
          <p:txBody>
            <a:bodyPr wrap="square" lIns="0" tIns="0" rIns="0" bIns="0" anchor="t" rtlCol="0">
              <a:noAutofit/>
            </a:bodyPr>
            <a:lstStyle/>
            <a:p>
              <a:pPr algn="l">
                <a:lnSpc>
                  <a:spcPts val="1960"/>
                </a:lnSpc>
              </a:pPr>
              <a:r>
                <a:rPr lang="en-US" sz="1400" b="0" dirty="0">
                  <a:solidFill>
                    <a:srgbClr val="B4C2CF"/>
                  </a:solidFill>
                  <a:latin typeface="Inter"/>
                  <a:cs typeface="Inter"/>
                </a:rPr>
                <a:t>PDF in, STEP file out. No manual remodelling.</a:t>
              </a:r>
              <a:endParaRPr lang="en-US" sz="1400" b="0" dirty="0">
                <a:solidFill>
                  <a:srgbClr val="B4C2CF"/>
                </a:solidFill>
                <a:latin typeface="Inter"/>
                <a:cs typeface="Inter"/>
              </a:endParaRPr>
            </a:p>
          </p:txBody>
        </p:sp>
      </p:grpSp>
      <p:grpSp>
        <p:nvGrpSpPr>
          <p:cNvPr id="15" name="Goal card 3"/>
          <p:cNvGrpSpPr/>
          <p:nvPr/>
        </p:nvGrpSpPr>
        <p:grpSpPr>
          <a:xfrm>
            <a:off x="8128000" y="2349500"/>
            <a:ext cx="3251200" cy="2984500"/>
            <a:chOff x="8128000" y="2349500"/>
            <a:chExt cx="3251200" cy="2984500"/>
          </a:xfrm>
        </p:grpSpPr>
        <p:sp>
          <p:nvSpPr>
            <p:cNvPr id="16" name="Card"/>
            <p:cNvSpPr/>
            <p:nvPr/>
          </p:nvSpPr>
          <p:spPr>
            <a:xfrm>
              <a:off x="8128000" y="2349500"/>
              <a:ext cx="3251200" cy="2984500"/>
            </a:xfrm>
            <a:prstGeom prst="roundRect">
              <a:avLst>
                <a:gd name="adj" fmla="val 5106"/>
              </a:avLst>
            </a:prstGeom>
            <a:solidFill>
              <a:srgbClr val="172433"/>
            </a:solidFill>
            <a:ln w="6350">
              <a:solidFill>
                <a:srgbClr val="2B3D50"/>
              </a:solidFill>
            </a:ln>
          </p:spPr>
        </p:sp>
        <p:pic>
          <p:nvPicPr>
            <p:cNvPr id="17" name="Icon Lightbulb" descr="Lightbulb icon"/>
            <p:cNvPicPr>
              <a:picLocks noChangeAspect="1"/>
            </p:cNvPicPr>
            <p:nvPr/>
          </p:nvPicPr>
          <p:blipFill>
            <a:blip r:embed="rId4"/>
            <a:stretch>
              <a:fillRect/>
            </a:stretch>
          </p:blipFill>
          <p:spPr>
            <a:xfrm>
              <a:off x="8432800" y="2654300"/>
              <a:ext cx="406400" cy="406400"/>
            </a:xfrm>
            <a:prstGeom prst="rect">
              <a:avLst/>
            </a:prstGeom>
          </p:spPr>
        </p:pic>
        <p:sp>
          <p:nvSpPr>
            <p:cNvPr id="18" name="Heading"/>
            <p:cNvSpPr txBox="1"/>
            <p:nvPr/>
          </p:nvSpPr>
          <p:spPr>
            <a:xfrm>
              <a:off x="8432800" y="3213100"/>
              <a:ext cx="2641600" cy="640080"/>
            </a:xfrm>
            <a:prstGeom prst="rect">
              <a:avLst/>
            </a:prstGeom>
            <a:noFill/>
            <a:ln>
              <a:noFill/>
            </a:ln>
          </p:spPr>
          <p:txBody>
            <a:bodyPr wrap="square" lIns="0" tIns="0" rIns="0" bIns="0" anchor="t" rtlCol="0">
              <a:noAutofit/>
            </a:bodyPr>
            <a:lstStyle/>
            <a:p>
              <a:pPr algn="l">
                <a:lnSpc>
                  <a:spcPts val="2420"/>
                </a:lnSpc>
              </a:pPr>
              <a:r>
                <a:rPr lang="en-US" sz="2200" b="1" dirty="0">
                  <a:solidFill>
                    <a:srgbClr val="EEF2F5"/>
                  </a:solidFill>
                  <a:latin typeface="Space Grotesk"/>
                  <a:cs typeface="Space Grotesk"/>
                </a:rPr>
                <a:t xml:space="preserve">Using average, </a:t>
              </a:r>
              <a:br>
                <a:rPr lang="en-US" sz="2200" b="1" dirty="0">
                  <a:solidFill>
                    <a:srgbClr val="EEF2F5"/>
                  </a:solidFill>
                  <a:latin typeface="Space Grotesk"/>
                  <a:cs typeface="Space Grotesk"/>
                </a:rPr>
              </a:br>
              <a:r>
                <a:rPr lang="en-US" sz="2200" b="1" dirty="0" u="sng">
                  <a:solidFill>
                    <a:srgbClr val="EEF2F5"/>
                  </a:solidFill>
                  <a:latin typeface="Space Grotesk"/>
                  <a:cs typeface="Space Grotesk"/>
                </a:rPr>
                <a:t>low-cost</a:t>
              </a:r>
              <a:r>
                <a:rPr lang="en-US" sz="2200" b="1" dirty="0">
                  <a:solidFill>
                    <a:srgbClr val="EEF2F5"/>
                  </a:solidFill>
                  <a:latin typeface="Space Grotesk"/>
                  <a:cs typeface="Space Grotesk"/>
                </a:rPr>
                <a:t xml:space="preserve"> AI models</a:t>
              </a:r>
              <a:endParaRPr lang="en-US" sz="2200" b="1" dirty="0">
                <a:solidFill>
                  <a:srgbClr val="EEF2F5"/>
                </a:solidFill>
                <a:latin typeface="Space Grotesk"/>
                <a:cs typeface="Space Grotesk"/>
              </a:endParaRPr>
            </a:p>
          </p:txBody>
        </p:sp>
        <p:sp>
          <p:nvSpPr>
            <p:cNvPr id="19" name="Body"/>
            <p:cNvSpPr txBox="1"/>
            <p:nvPr/>
          </p:nvSpPr>
          <p:spPr>
            <a:xfrm>
              <a:off x="8432800" y="3980180"/>
              <a:ext cx="2641600" cy="523240"/>
            </a:xfrm>
            <a:prstGeom prst="rect">
              <a:avLst/>
            </a:prstGeom>
            <a:noFill/>
            <a:ln>
              <a:noFill/>
            </a:ln>
          </p:spPr>
          <p:txBody>
            <a:bodyPr wrap="square" lIns="0" tIns="0" rIns="0" bIns="0" anchor="t" rtlCol="0">
              <a:noAutofit/>
            </a:bodyPr>
            <a:lstStyle/>
            <a:p>
              <a:pPr algn="l">
                <a:lnSpc>
                  <a:spcPts val="1960"/>
                </a:lnSpc>
              </a:pPr>
              <a:r>
                <a:rPr lang="en-US" sz="1400" b="0" dirty="0">
                  <a:solidFill>
                    <a:srgbClr val="B4C2CF"/>
                  </a:solidFill>
                  <a:latin typeface="Inter"/>
                  <a:cs typeface="Inter"/>
                </a:rPr>
                <a:t>Works with everyday, off-the-shelf models.</a:t>
              </a:r>
              <a:endParaRPr lang="en-US" sz="1400" b="0" dirty="0">
                <a:solidFill>
                  <a:srgbClr val="B4C2CF"/>
                </a:solidFill>
                <a:latin typeface="Inter"/>
                <a:cs typeface="Inter"/>
              </a:endParaRPr>
            </a:p>
          </p:txBody>
        </p:sp>
      </p:grpSp>
      <p:sp>
        <p:nvSpPr>
          <p:cNvPr id="20" name="Footer"/>
          <p:cNvSpPr txBox="1"/>
          <p:nvPr/>
        </p:nvSpPr>
        <p:spPr>
          <a:xfrm>
            <a:off x="812800" y="6267450"/>
            <a:ext cx="6350000" cy="190500"/>
          </a:xfrm>
          <a:prstGeom prst="rect">
            <a:avLst/>
          </a:prstGeom>
          <a:noFill/>
          <a:ln>
            <a:noFill/>
          </a:ln>
        </p:spPr>
        <p:txBody>
          <a:bodyPr wrap="square" lIns="0" tIns="0" rIns="0" bIns="0" anchor="t" rtlCol="0">
            <a:noAutofit/>
          </a:bodyPr>
          <a:lstStyle/>
          <a:p>
            <a:pPr algn="l"/>
            <a:r>
              <a:rPr lang="en-US" sz="1200" b="0" dirty="0">
                <a:solidFill>
                  <a:srgbClr val="8A9CAE"/>
                </a:solidFill>
                <a:latin typeface="Inter"/>
                <a:cs typeface="Inter"/>
              </a:rPr>
              <a:t>Drawing2CAD · The Novice Ninjas</a:t>
            </a:r>
            <a:endParaRPr lang="en-US" sz="1200" b="0" dirty="0">
              <a:solidFill>
                <a:srgbClr val="8A9CAE"/>
              </a:solidFill>
              <a:latin typeface="Inter"/>
              <a:cs typeface="Inter"/>
            </a:endParaRPr>
          </a:p>
        </p:txBody>
      </p:sp>
      <p:sp>
        <p:nvSpPr>
          <p:cNvPr id="21" name="Slide number"/>
          <p:cNvSpPr txBox="1"/>
          <p:nvPr/>
        </p:nvSpPr>
        <p:spPr>
          <a:xfrm>
            <a:off x="10109200" y="6267450"/>
            <a:ext cx="1270000" cy="190500"/>
          </a:xfrm>
          <a:prstGeom prst="rect">
            <a:avLst/>
          </a:prstGeom>
          <a:noFill/>
          <a:ln>
            <a:noFill/>
          </a:ln>
        </p:spPr>
        <p:txBody>
          <a:bodyPr wrap="square" lIns="0" tIns="0" rIns="0" bIns="0" anchor="t" rtlCol="0">
            <a:noAutofit/>
          </a:bodyPr>
          <a:lstStyle/>
          <a:p>
            <a:pPr algn="r"/>
            <a:r>
              <a:rPr lang="en-US" sz="1200" b="0" dirty="0">
                <a:solidFill>
                  <a:srgbClr val="8A9CAE"/>
                </a:solidFill>
                <a:latin typeface="Inter"/>
                <a:cs typeface="Inter"/>
              </a:rPr>
              <a:t>03</a:t>
            </a:r>
            <a:endParaRPr lang="en-US" sz="1200" b="0" dirty="0">
              <a:solidFill>
                <a:srgbClr val="8A9CAE"/>
              </a:solidFill>
              <a:latin typeface="Inter"/>
              <a:cs typeface="Inter"/>
            </a:endParaRPr>
          </a:p>
        </p:txBody>
      </p:sp>
    </p:spTree>
  </p:cSld>
  <p:clrMapOvr>
    <a:masterClrMapping/>
  </p:clrMapOvr>
  <p:transition spd="med" advClick="0" advTm="98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additive="base">
                                        <p:cTn id="8" dur="600" fill="hold"/>
                                        <p:tgtEl>
                                          <p:spTgt spid="5"/>
                                        </p:tgtEl>
                                        <p:attrNameLst>
                                          <p:attrName>ppt_x</p:attrName>
                                        </p:attrNameLst>
                                      </p:cBhvr>
                                      <p:tavLst>
                                        <p:tav tm="0">
                                          <p:val>
                                            <p:strVal val="#ppt_x"/>
                                          </p:val>
                                        </p:tav>
                                        <p:tav tm="100000">
                                          <p:val>
                                            <p:strVal val="#ppt_x"/>
                                          </p:val>
                                        </p:tav>
                                      </p:tavLst>
                                    </p:anim>
                                    <p:anim calcmode="lin" valueType="num">
                                      <p:cBhvr additive="base">
                                        <p:cTn id="9" dur="6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6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600"/>
                                        <p:tgtEl>
                                          <p:spTgt spid="10"/>
                                        </p:tgtEl>
                                      </p:cBhvr>
                                    </p:animEffect>
                                    <p:anim calcmode="lin" valueType="num">
                                      <p:cBhvr additive="base">
                                        <p:cTn id="14" dur="600" fill="hold"/>
                                        <p:tgtEl>
                                          <p:spTgt spid="10"/>
                                        </p:tgtEl>
                                        <p:attrNameLst>
                                          <p:attrName>ppt_x</p:attrName>
                                        </p:attrNameLst>
                                      </p:cBhvr>
                                      <p:tavLst>
                                        <p:tav tm="0">
                                          <p:val>
                                            <p:strVal val="#ppt_x"/>
                                          </p:val>
                                        </p:tav>
                                        <p:tav tm="100000">
                                          <p:val>
                                            <p:strVal val="#ppt_x"/>
                                          </p:val>
                                        </p:tav>
                                      </p:tavLst>
                                    </p:anim>
                                    <p:anim calcmode="lin" valueType="num">
                                      <p:cBhvr additive="base">
                                        <p:cTn id="15" dur="600" fill="hold"/>
                                        <p:tgtEl>
                                          <p:spTgt spid="10"/>
                                        </p:tgtEl>
                                        <p:attrNameLst>
                                          <p:attrName>ppt_y</p:attrName>
                                        </p:attrNameLst>
                                      </p:cBhvr>
                                      <p:tavLst>
                                        <p:tav tm="0">
                                          <p:val>
                                            <p:strVal val="#ppt_y+.1"/>
                                          </p:val>
                                        </p:tav>
                                        <p:tav tm="100000">
                                          <p:val>
                                            <p:strVal val="#ppt_y"/>
                                          </p:val>
                                        </p:tav>
                                      </p:tavLst>
                                    </p:anim>
                                  </p:childTnLst>
                                </p:cTn>
                              </p:par>
                            </p:childTnLst>
                          </p:cTn>
                        </p:par>
                        <p:par>
                          <p:cTn id="16" fill="hold">
                            <p:stCondLst>
                              <p:cond delay="1200"/>
                            </p:stCondLst>
                            <p:childTnLst>
                              <p:par>
                                <p:cTn id="17" presetID="42"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600"/>
                                        <p:tgtEl>
                                          <p:spTgt spid="15"/>
                                        </p:tgtEl>
                                      </p:cBhvr>
                                    </p:animEffect>
                                    <p:anim calcmode="lin" valueType="num">
                                      <p:cBhvr additive="base">
                                        <p:cTn id="20" dur="600" fill="hold"/>
                                        <p:tgtEl>
                                          <p:spTgt spid="15"/>
                                        </p:tgtEl>
                                        <p:attrNameLst>
                                          <p:attrName>ppt_x</p:attrName>
                                        </p:attrNameLst>
                                      </p:cBhvr>
                                      <p:tavLst>
                                        <p:tav tm="0">
                                          <p:val>
                                            <p:strVal val="#ppt_x"/>
                                          </p:val>
                                        </p:tav>
                                        <p:tav tm="100000">
                                          <p:val>
                                            <p:strVal val="#ppt_x"/>
                                          </p:val>
                                        </p:tav>
                                      </p:tavLst>
                                    </p:anim>
                                    <p:anim calcmode="lin" valueType="num">
                                      <p:cBhvr additive="base">
                                        <p:cTn id="21" dur="6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924"/>
        </a:solidFill>
        <a:effectLst/>
      </p:bgPr>
    </p:bg>
    <p:spTree>
      <p:nvGrpSpPr>
        <p:cNvPr id="1" name=""/>
        <p:cNvGrpSpPr/>
        <p:nvPr/>
      </p:nvGrpSpPr>
      <p:grpSpPr/>
      <p:sp>
        <p:nvSpPr>
          <p:cNvPr id="2" name="!!bar"/>
          <p:cNvSpPr/>
          <p:nvPr/>
        </p:nvSpPr>
        <p:spPr>
          <a:xfrm>
            <a:off x="812800" y="609600"/>
            <a:ext cx="457200" cy="50800"/>
          </a:xfrm>
          <a:prstGeom prst="roundRect">
            <a:avLst>
              <a:gd name="adj" fmla="val 50000"/>
            </a:avLst>
          </a:prstGeom>
          <a:solidFill>
            <a:srgbClr val="FF4655"/>
          </a:solidFill>
          <a:ln>
            <a:noFill/>
          </a:ln>
        </p:spPr>
      </p:sp>
      <p:sp>
        <p:nvSpPr>
          <p:cNvPr id="3" name="Eyebrow"/>
          <p:cNvSpPr txBox="1"/>
          <p:nvPr/>
        </p:nvSpPr>
        <p:spPr>
          <a:xfrm>
            <a:off x="812800" y="812800"/>
            <a:ext cx="10566400" cy="190500"/>
          </a:xfrm>
          <a:prstGeom prst="rect">
            <a:avLst/>
          </a:prstGeom>
          <a:noFill/>
          <a:ln>
            <a:noFill/>
          </a:ln>
        </p:spPr>
        <p:txBody>
          <a:bodyPr wrap="square" lIns="0" tIns="0" rIns="0" bIns="0" anchor="t" rtlCol="0">
            <a:noAutofit/>
          </a:bodyPr>
          <a:lstStyle/>
          <a:p>
            <a:pPr algn="l"/>
            <a:r>
              <a:rPr lang="en-US" sz="1200" b="1" dirty="0" spc="200" cap="all">
                <a:solidFill>
                  <a:srgbClr val="FF4655"/>
                </a:solidFill>
                <a:latin typeface="Inter"/>
                <a:cs typeface="Inter"/>
              </a:rPr>
              <a:t>03 — Architecture</a:t>
            </a:r>
            <a:endParaRPr lang="en-US" sz="1200" b="1" dirty="0" spc="200" cap="all">
              <a:solidFill>
                <a:srgbClr val="FF4655"/>
              </a:solidFill>
              <a:latin typeface="Inter"/>
              <a:cs typeface="Inter"/>
            </a:endParaRPr>
          </a:p>
        </p:txBody>
      </p:sp>
      <p:sp>
        <p:nvSpPr>
          <p:cNvPr id="4" name="Title"/>
          <p:cNvSpPr txBox="1"/>
          <p:nvPr/>
        </p:nvSpPr>
        <p:spPr>
          <a:xfrm>
            <a:off x="812800" y="1034288"/>
            <a:ext cx="10566400" cy="730250"/>
          </a:xfrm>
          <a:prstGeom prst="rect">
            <a:avLst/>
          </a:prstGeom>
          <a:noFill/>
          <a:ln>
            <a:noFill/>
          </a:ln>
        </p:spPr>
        <p:txBody>
          <a:bodyPr wrap="square" lIns="0" tIns="0" rIns="0" bIns="0" anchor="t" rtlCol="0">
            <a:noAutofit/>
          </a:bodyPr>
          <a:lstStyle/>
          <a:p>
            <a:pPr algn="l"/>
            <a:r>
              <a:rPr lang="en-US" sz="4400" b="1" dirty="0" spc="-100">
                <a:solidFill>
                  <a:srgbClr val="EEF2F5"/>
                </a:solidFill>
                <a:latin typeface="Space Grotesk"/>
                <a:cs typeface="Space Grotesk"/>
              </a:rPr>
              <a:t>The idea</a:t>
            </a:r>
            <a:endParaRPr lang="en-US" sz="4400" b="1" dirty="0" spc="-100">
              <a:solidFill>
                <a:srgbClr val="EEF2F5"/>
              </a:solidFill>
              <a:latin typeface="Space Grotesk"/>
              <a:cs typeface="Space Grotesk"/>
            </a:endParaRPr>
          </a:p>
        </p:txBody>
      </p:sp>
      <p:grpSp>
        <p:nvGrpSpPr>
          <p:cNvPr id="5" name="User card"/>
          <p:cNvGrpSpPr/>
          <p:nvPr/>
        </p:nvGrpSpPr>
        <p:grpSpPr>
          <a:xfrm>
            <a:off x="812800" y="2794000"/>
            <a:ext cx="1778000" cy="1397000"/>
            <a:chOff x="812800" y="2794000"/>
            <a:chExt cx="1778000" cy="1397000"/>
          </a:xfrm>
        </p:grpSpPr>
        <p:sp>
          <p:nvSpPr>
            <p:cNvPr id="6" name="Card"/>
            <p:cNvSpPr/>
            <p:nvPr/>
          </p:nvSpPr>
          <p:spPr>
            <a:xfrm>
              <a:off x="812800" y="2794000"/>
              <a:ext cx="1778000" cy="1397000"/>
            </a:xfrm>
            <a:prstGeom prst="roundRect">
              <a:avLst>
                <a:gd name="adj" fmla="val 9091"/>
              </a:avLst>
            </a:prstGeom>
            <a:solidFill>
              <a:srgbClr val="172433"/>
            </a:solidFill>
            <a:ln w="6350">
              <a:solidFill>
                <a:srgbClr val="2B3D50"/>
              </a:solidFill>
            </a:ln>
          </p:spPr>
        </p:sp>
        <p:pic>
          <p:nvPicPr>
            <p:cNvPr id="7" name="Icon Users" descr="Users icon"/>
            <p:cNvPicPr>
              <a:picLocks noChangeAspect="1"/>
            </p:cNvPicPr>
            <p:nvPr/>
          </p:nvPicPr>
          <p:blipFill>
            <a:blip r:embed="rId2"/>
            <a:stretch>
              <a:fillRect/>
            </a:stretch>
          </p:blipFill>
          <p:spPr>
            <a:xfrm>
              <a:off x="1498600" y="3084830"/>
              <a:ext cx="406400" cy="406400"/>
            </a:xfrm>
            <a:prstGeom prst="rect">
              <a:avLst/>
            </a:prstGeom>
          </p:spPr>
        </p:pic>
        <p:sp>
          <p:nvSpPr>
            <p:cNvPr id="8" name="Heading"/>
            <p:cNvSpPr txBox="1"/>
            <p:nvPr/>
          </p:nvSpPr>
          <p:spPr>
            <a:xfrm>
              <a:off x="812800" y="3567684"/>
              <a:ext cx="1778000" cy="355600"/>
            </a:xfrm>
            <a:prstGeom prst="rect">
              <a:avLst/>
            </a:prstGeom>
            <a:noFill/>
            <a:ln>
              <a:noFill/>
            </a:ln>
          </p:spPr>
          <p:txBody>
            <a:bodyPr wrap="square" lIns="0" tIns="0" rIns="0" bIns="0" anchor="t" rtlCol="0">
              <a:noAutofit/>
            </a:bodyPr>
            <a:lstStyle/>
            <a:p>
              <a:pPr algn="ctr"/>
              <a:r>
                <a:rPr lang="en-US" sz="2200" b="1" dirty="0">
                  <a:solidFill>
                    <a:srgbClr val="EEF2F5"/>
                  </a:solidFill>
                  <a:latin typeface="Space Grotesk"/>
                  <a:cs typeface="Space Grotesk"/>
                </a:rPr>
                <a:t>User</a:t>
              </a:r>
              <a:endParaRPr lang="en-US" sz="2200" b="1" dirty="0">
                <a:solidFill>
                  <a:srgbClr val="EEF2F5"/>
                </a:solidFill>
                <a:latin typeface="Space Grotesk"/>
                <a:cs typeface="Space Grotesk"/>
              </a:endParaRPr>
            </a:p>
          </p:txBody>
        </p:sp>
      </p:grpSp>
      <p:cxnSp>
        <p:nvCxnSpPr>
          <p:cNvPr id="9" name="Arrow PDF 1"/>
          <p:cNvCxnSpPr/>
          <p:nvPr/>
        </p:nvCxnSpPr>
        <p:spPr>
          <a:xfrm>
            <a:off x="2590800" y="3238500"/>
            <a:ext cx="1473200" cy="0"/>
          </a:xfrm>
          <a:prstGeom prst="straightConnector1">
            <a:avLst/>
          </a:prstGeom>
          <a:ln w="19050">
            <a:solidFill>
              <a:srgbClr val="FF4655"/>
            </a:solidFill>
            <a:round/>
            <a:tailEnd type="triangle" w="med" len="med"/>
          </a:ln>
        </p:spPr>
      </p:cxnSp>
      <p:sp>
        <p:nvSpPr>
          <p:cNvPr id="10" name="Label PDF"/>
          <p:cNvSpPr txBox="1"/>
          <p:nvPr/>
        </p:nvSpPr>
        <p:spPr>
          <a:xfrm>
            <a:off x="2692400" y="2895600"/>
            <a:ext cx="1270000" cy="190500"/>
          </a:xfrm>
          <a:prstGeom prst="rect">
            <a:avLst/>
          </a:prstGeom>
          <a:noFill/>
          <a:ln>
            <a:noFill/>
          </a:ln>
        </p:spPr>
        <p:txBody>
          <a:bodyPr wrap="square" lIns="0" tIns="0" rIns="0" bIns="0" anchor="t" rtlCol="0">
            <a:noAutofit/>
          </a:bodyPr>
          <a:lstStyle/>
          <a:p>
            <a:pPr algn="ctr"/>
            <a:r>
              <a:rPr lang="en-US" sz="1200" b="1" dirty="0">
                <a:solidFill>
                  <a:srgbClr val="FF4655"/>
                </a:solidFill>
                <a:latin typeface="Inter"/>
                <a:cs typeface="Inter"/>
              </a:rPr>
              <a:t>PDF</a:t>
            </a:r>
            <a:endParaRPr lang="en-US" sz="1200" b="1" dirty="0">
              <a:solidFill>
                <a:srgbClr val="FF4655"/>
              </a:solidFill>
              <a:latin typeface="Inter"/>
              <a:cs typeface="Inter"/>
            </a:endParaRPr>
          </a:p>
        </p:txBody>
      </p:sp>
      <p:grpSp>
        <p:nvGrpSpPr>
          <p:cNvPr id="11" name="UI card"/>
          <p:cNvGrpSpPr/>
          <p:nvPr/>
        </p:nvGrpSpPr>
        <p:grpSpPr>
          <a:xfrm>
            <a:off x="4064000" y="2794000"/>
            <a:ext cx="2032000" cy="1397000"/>
            <a:chOff x="4064000" y="2794000"/>
            <a:chExt cx="2032000" cy="1397000"/>
          </a:xfrm>
        </p:grpSpPr>
        <p:sp>
          <p:nvSpPr>
            <p:cNvPr id="12" name="Card"/>
            <p:cNvSpPr/>
            <p:nvPr/>
          </p:nvSpPr>
          <p:spPr>
            <a:xfrm>
              <a:off x="4064000" y="2794000"/>
              <a:ext cx="2032000" cy="1397000"/>
            </a:xfrm>
            <a:prstGeom prst="roundRect">
              <a:avLst>
                <a:gd name="adj" fmla="val 9091"/>
              </a:avLst>
            </a:prstGeom>
            <a:solidFill>
              <a:srgbClr val="172433"/>
            </a:solidFill>
            <a:ln w="6350">
              <a:solidFill>
                <a:srgbClr val="2B3D50"/>
              </a:solidFill>
            </a:ln>
          </p:spPr>
        </p:sp>
        <p:pic>
          <p:nvPicPr>
            <p:cNvPr id="13" name="Icon Globe" descr="Globe icon"/>
            <p:cNvPicPr>
              <a:picLocks noChangeAspect="1"/>
            </p:cNvPicPr>
            <p:nvPr/>
          </p:nvPicPr>
          <p:blipFill>
            <a:blip r:embed="rId3"/>
            <a:stretch>
              <a:fillRect/>
            </a:stretch>
          </p:blipFill>
          <p:spPr>
            <a:xfrm>
              <a:off x="4876800" y="3084830"/>
              <a:ext cx="406400" cy="406400"/>
            </a:xfrm>
            <a:prstGeom prst="rect">
              <a:avLst/>
            </a:prstGeom>
          </p:spPr>
        </p:pic>
        <p:sp>
          <p:nvSpPr>
            <p:cNvPr id="14" name="Heading"/>
            <p:cNvSpPr txBox="1"/>
            <p:nvPr/>
          </p:nvSpPr>
          <p:spPr>
            <a:xfrm>
              <a:off x="4064000" y="3567684"/>
              <a:ext cx="2032000" cy="355600"/>
            </a:xfrm>
            <a:prstGeom prst="rect">
              <a:avLst/>
            </a:prstGeom>
            <a:noFill/>
            <a:ln>
              <a:noFill/>
            </a:ln>
          </p:spPr>
          <p:txBody>
            <a:bodyPr wrap="square" lIns="0" tIns="0" rIns="0" bIns="0" anchor="t" rtlCol="0">
              <a:noAutofit/>
            </a:bodyPr>
            <a:lstStyle/>
            <a:p>
              <a:pPr algn="ctr"/>
              <a:r>
                <a:rPr lang="en-US" sz="2200" b="1" dirty="0">
                  <a:solidFill>
                    <a:srgbClr val="EEF2F5"/>
                  </a:solidFill>
                  <a:latin typeface="Space Grotesk"/>
                  <a:cs typeface="Space Grotesk"/>
                </a:rPr>
                <a:t>UI</a:t>
              </a:r>
              <a:endParaRPr lang="en-US" sz="2200" b="1" dirty="0">
                <a:solidFill>
                  <a:srgbClr val="EEF2F5"/>
                </a:solidFill>
                <a:latin typeface="Space Grotesk"/>
                <a:cs typeface="Space Grotesk"/>
              </a:endParaRPr>
            </a:p>
          </p:txBody>
        </p:sp>
      </p:grpSp>
      <p:cxnSp>
        <p:nvCxnSpPr>
          <p:cNvPr id="15" name="Arrow PDF 2"/>
          <p:cNvCxnSpPr/>
          <p:nvPr/>
        </p:nvCxnSpPr>
        <p:spPr>
          <a:xfrm>
            <a:off x="6096000" y="3238500"/>
            <a:ext cx="1473200" cy="0"/>
          </a:xfrm>
          <a:prstGeom prst="straightConnector1">
            <a:avLst/>
          </a:prstGeom>
          <a:ln w="19050">
            <a:solidFill>
              <a:srgbClr val="FF4655"/>
            </a:solidFill>
            <a:round/>
            <a:tailEnd type="triangle" w="med" len="med"/>
          </a:ln>
        </p:spPr>
      </p:cxnSp>
      <p:sp>
        <p:nvSpPr>
          <p:cNvPr id="16" name="Label PDF"/>
          <p:cNvSpPr txBox="1"/>
          <p:nvPr/>
        </p:nvSpPr>
        <p:spPr>
          <a:xfrm>
            <a:off x="6197600" y="2895600"/>
            <a:ext cx="1270000" cy="190500"/>
          </a:xfrm>
          <a:prstGeom prst="rect">
            <a:avLst/>
          </a:prstGeom>
          <a:noFill/>
          <a:ln>
            <a:noFill/>
          </a:ln>
        </p:spPr>
        <p:txBody>
          <a:bodyPr wrap="square" lIns="0" tIns="0" rIns="0" bIns="0" anchor="t" rtlCol="0">
            <a:noAutofit/>
          </a:bodyPr>
          <a:lstStyle/>
          <a:p>
            <a:pPr algn="ctr"/>
            <a:r>
              <a:rPr lang="en-US" sz="1200" b="1" dirty="0">
                <a:solidFill>
                  <a:srgbClr val="FF4655"/>
                </a:solidFill>
                <a:latin typeface="Inter"/>
                <a:cs typeface="Inter"/>
              </a:rPr>
              <a:t>PDF</a:t>
            </a:r>
            <a:endParaRPr lang="en-US" sz="1200" b="1" dirty="0">
              <a:solidFill>
                <a:srgbClr val="FF4655"/>
              </a:solidFill>
              <a:latin typeface="Inter"/>
              <a:cs typeface="Inter"/>
            </a:endParaRPr>
          </a:p>
        </p:txBody>
      </p:sp>
      <p:sp>
        <p:nvSpPr>
          <p:cNvPr id="17" name="!!mcp"/>
          <p:cNvSpPr/>
          <p:nvPr/>
        </p:nvSpPr>
        <p:spPr>
          <a:xfrm>
            <a:off x="7569200" y="2540000"/>
            <a:ext cx="3810000" cy="1905000"/>
          </a:xfrm>
          <a:prstGeom prst="roundRect">
            <a:avLst>
              <a:gd name="adj" fmla="val 9333"/>
            </a:avLst>
          </a:prstGeom>
          <a:solidFill>
            <a:srgbClr val="1B2A3B"/>
          </a:solidFill>
          <a:ln w="12700">
            <a:solidFill>
              <a:srgbClr val="FF4655"/>
            </a:solidFill>
          </a:ln>
        </p:spPr>
      </p:sp>
      <p:pic>
        <p:nvPicPr>
          <p:cNvPr id="18" name="Icon Tool" descr="Tool icon"/>
          <p:cNvPicPr>
            <a:picLocks noChangeAspect="1"/>
          </p:cNvPicPr>
          <p:nvPr/>
        </p:nvPicPr>
        <p:blipFill>
          <a:blip r:embed="rId4"/>
          <a:stretch>
            <a:fillRect/>
          </a:stretch>
        </p:blipFill>
        <p:spPr>
          <a:xfrm>
            <a:off x="9245600" y="3059430"/>
            <a:ext cx="457200" cy="457200"/>
          </a:xfrm>
          <a:prstGeom prst="rect">
            <a:avLst/>
          </a:prstGeom>
        </p:spPr>
      </p:pic>
      <p:sp>
        <p:nvSpPr>
          <p:cNvPr id="19" name="MCP heading"/>
          <p:cNvSpPr txBox="1"/>
          <p:nvPr/>
        </p:nvSpPr>
        <p:spPr>
          <a:xfrm>
            <a:off x="7823200" y="3593084"/>
            <a:ext cx="3302000" cy="355600"/>
          </a:xfrm>
          <a:prstGeom prst="rect">
            <a:avLst/>
          </a:prstGeom>
          <a:noFill/>
          <a:ln>
            <a:noFill/>
          </a:ln>
        </p:spPr>
        <p:txBody>
          <a:bodyPr wrap="square" lIns="0" tIns="0" rIns="0" bIns="0" anchor="t" rtlCol="0">
            <a:noAutofit/>
          </a:bodyPr>
          <a:lstStyle/>
          <a:p>
            <a:pPr algn="ctr"/>
            <a:r>
              <a:rPr lang="en-US" sz="2200" b="1" dirty="0">
                <a:solidFill>
                  <a:srgbClr val="EEF2F5"/>
                </a:solidFill>
                <a:latin typeface="Space Grotesk"/>
                <a:cs typeface="Space Grotesk"/>
              </a:rPr>
              <a:t>3D Creation MCP Server</a:t>
            </a:r>
            <a:endParaRPr lang="en-US" sz="2200" b="1" dirty="0">
              <a:solidFill>
                <a:srgbClr val="EEF2F5"/>
              </a:solidFill>
              <a:latin typeface="Space Grotesk"/>
              <a:cs typeface="Space Grotesk"/>
            </a:endParaRPr>
          </a:p>
        </p:txBody>
      </p:sp>
      <p:cxnSp>
        <p:nvCxnSpPr>
          <p:cNvPr id="20" name="Arrow skills"/>
          <p:cNvCxnSpPr/>
          <p:nvPr/>
        </p:nvCxnSpPr>
        <p:spPr>
          <a:xfrm flipV="1">
            <a:off x="9474200" y="4445000"/>
            <a:ext cx="0" cy="482600"/>
          </a:xfrm>
          <a:prstGeom prst="straightConnector1">
            <a:avLst/>
          </a:prstGeom>
          <a:ln w="19050">
            <a:solidFill>
              <a:srgbClr val="9FB0C0"/>
            </a:solidFill>
            <a:round/>
            <a:tailEnd type="triangle" w="med" len="med"/>
          </a:ln>
        </p:spPr>
      </p:cxnSp>
      <p:grpSp>
        <p:nvGrpSpPr>
          <p:cNvPr id="21" name="Skill box"/>
          <p:cNvGrpSpPr/>
          <p:nvPr/>
        </p:nvGrpSpPr>
        <p:grpSpPr>
          <a:xfrm>
            <a:off x="7569200" y="4927600"/>
            <a:ext cx="3810000" cy="711200"/>
            <a:chOff x="7569200" y="4927600"/>
            <a:chExt cx="3810000" cy="711200"/>
          </a:xfrm>
        </p:grpSpPr>
        <p:sp>
          <p:nvSpPr>
            <p:cNvPr id="22" name="Card"/>
            <p:cNvSpPr/>
            <p:nvPr/>
          </p:nvSpPr>
          <p:spPr>
            <a:xfrm>
              <a:off x="7569200" y="4927600"/>
              <a:ext cx="3810000" cy="711200"/>
            </a:xfrm>
            <a:prstGeom prst="roundRect">
              <a:avLst>
                <a:gd name="adj" fmla="val 17857"/>
              </a:avLst>
            </a:prstGeom>
            <a:solidFill>
              <a:srgbClr val="172433"/>
            </a:solidFill>
            <a:ln w="6350">
              <a:solidFill>
                <a:srgbClr val="6F8396"/>
              </a:solidFill>
              <a:prstDash val="dash"/>
            </a:ln>
          </p:spPr>
        </p:sp>
        <p:pic>
          <p:nvPicPr>
            <p:cNvPr id="23" name="Icon Book" descr="Book icon"/>
            <p:cNvPicPr>
              <a:picLocks noChangeAspect="1"/>
            </p:cNvPicPr>
            <p:nvPr/>
          </p:nvPicPr>
          <p:blipFill>
            <a:blip r:embed="rId5"/>
            <a:stretch>
              <a:fillRect/>
            </a:stretch>
          </p:blipFill>
          <p:spPr>
            <a:xfrm>
              <a:off x="8415338" y="5130800"/>
              <a:ext cx="304800" cy="304800"/>
            </a:xfrm>
            <a:prstGeom prst="rect">
              <a:avLst/>
            </a:prstGeom>
          </p:spPr>
        </p:pic>
        <p:sp>
          <p:nvSpPr>
            <p:cNvPr id="24" name="Skill text"/>
            <p:cNvSpPr txBox="1"/>
            <p:nvPr/>
          </p:nvSpPr>
          <p:spPr>
            <a:xfrm>
              <a:off x="8847138" y="5153025"/>
              <a:ext cx="1876425" cy="266700"/>
            </a:xfrm>
            <a:prstGeom prst="rect">
              <a:avLst/>
            </a:prstGeom>
            <a:noFill/>
            <a:ln>
              <a:noFill/>
            </a:ln>
          </p:spPr>
          <p:txBody>
            <a:bodyPr wrap="none" lIns="0" tIns="0" rIns="0" bIns="0" anchor="t" rtlCol="0">
              <a:noAutofit/>
            </a:bodyPr>
            <a:lstStyle/>
            <a:p>
              <a:pPr algn="l"/>
              <a:r>
                <a:rPr lang="en-US" sz="1600" b="1" dirty="0">
                  <a:solidFill>
                    <a:srgbClr val="EEF2F5"/>
                  </a:solidFill>
                  <a:latin typeface="Space Grotesk"/>
                  <a:cs typeface="Space Grotesk"/>
                </a:rPr>
                <a:t>Skill &amp; tooling set</a:t>
              </a:r>
              <a:endParaRPr lang="en-US" sz="1600" b="1" dirty="0">
                <a:solidFill>
                  <a:srgbClr val="EEF2F5"/>
                </a:solidFill>
                <a:latin typeface="Space Grotesk"/>
                <a:cs typeface="Space Grotesk"/>
              </a:endParaRPr>
            </a:p>
          </p:txBody>
        </p:sp>
      </p:grpSp>
      <p:cxnSp>
        <p:nvCxnSpPr>
          <p:cNvPr id="25" name="Arrow STEP 1"/>
          <p:cNvCxnSpPr/>
          <p:nvPr/>
        </p:nvCxnSpPr>
        <p:spPr>
          <a:xfrm flipH="1">
            <a:off x="6096000" y="3746500"/>
            <a:ext cx="1473200" cy="0"/>
          </a:xfrm>
          <a:prstGeom prst="straightConnector1">
            <a:avLst/>
          </a:prstGeom>
          <a:ln w="19050">
            <a:solidFill>
              <a:srgbClr val="3DDC84"/>
            </a:solidFill>
            <a:round/>
            <a:tailEnd type="triangle" w="med" len="med"/>
          </a:ln>
        </p:spPr>
      </p:cxnSp>
      <p:sp>
        <p:nvSpPr>
          <p:cNvPr id="26" name="Label STEP file"/>
          <p:cNvSpPr txBox="1"/>
          <p:nvPr/>
        </p:nvSpPr>
        <p:spPr>
          <a:xfrm>
            <a:off x="6197600" y="3835400"/>
            <a:ext cx="1270000" cy="190500"/>
          </a:xfrm>
          <a:prstGeom prst="rect">
            <a:avLst/>
          </a:prstGeom>
          <a:noFill/>
          <a:ln>
            <a:noFill/>
          </a:ln>
        </p:spPr>
        <p:txBody>
          <a:bodyPr wrap="square" lIns="0" tIns="0" rIns="0" bIns="0" anchor="t" rtlCol="0">
            <a:noAutofit/>
          </a:bodyPr>
          <a:lstStyle/>
          <a:p>
            <a:pPr algn="ctr"/>
            <a:r>
              <a:rPr lang="en-US" sz="1200" b="1" dirty="0">
                <a:solidFill>
                  <a:srgbClr val="3DDC84"/>
                </a:solidFill>
                <a:latin typeface="Inter"/>
                <a:cs typeface="Inter"/>
              </a:rPr>
              <a:t>STEP file</a:t>
            </a:r>
            <a:endParaRPr lang="en-US" sz="1200" b="1" dirty="0">
              <a:solidFill>
                <a:srgbClr val="3DDC84"/>
              </a:solidFill>
              <a:latin typeface="Inter"/>
              <a:cs typeface="Inter"/>
            </a:endParaRPr>
          </a:p>
        </p:txBody>
      </p:sp>
      <p:cxnSp>
        <p:nvCxnSpPr>
          <p:cNvPr id="27" name="Arrow STEP 2"/>
          <p:cNvCxnSpPr/>
          <p:nvPr/>
        </p:nvCxnSpPr>
        <p:spPr>
          <a:xfrm flipH="1">
            <a:off x="2590800" y="3746500"/>
            <a:ext cx="1473200" cy="0"/>
          </a:xfrm>
          <a:prstGeom prst="straightConnector1">
            <a:avLst/>
          </a:prstGeom>
          <a:ln w="19050">
            <a:solidFill>
              <a:srgbClr val="3DDC84"/>
            </a:solidFill>
            <a:round/>
            <a:tailEnd type="triangle" w="med" len="med"/>
          </a:ln>
        </p:spPr>
      </p:cxnSp>
      <p:sp>
        <p:nvSpPr>
          <p:cNvPr id="28" name="Label STEP file"/>
          <p:cNvSpPr txBox="1"/>
          <p:nvPr/>
        </p:nvSpPr>
        <p:spPr>
          <a:xfrm>
            <a:off x="2692400" y="3835400"/>
            <a:ext cx="1270000" cy="190500"/>
          </a:xfrm>
          <a:prstGeom prst="rect">
            <a:avLst/>
          </a:prstGeom>
          <a:noFill/>
          <a:ln>
            <a:noFill/>
          </a:ln>
        </p:spPr>
        <p:txBody>
          <a:bodyPr wrap="square" lIns="0" tIns="0" rIns="0" bIns="0" anchor="t" rtlCol="0">
            <a:noAutofit/>
          </a:bodyPr>
          <a:lstStyle/>
          <a:p>
            <a:pPr algn="ctr"/>
            <a:r>
              <a:rPr lang="en-US" sz="1200" b="1" dirty="0">
                <a:solidFill>
                  <a:srgbClr val="3DDC84"/>
                </a:solidFill>
                <a:latin typeface="Inter"/>
                <a:cs typeface="Inter"/>
              </a:rPr>
              <a:t>STEP file</a:t>
            </a:r>
            <a:endParaRPr lang="en-US" sz="1200" b="1" dirty="0">
              <a:solidFill>
                <a:srgbClr val="3DDC84"/>
              </a:solidFill>
              <a:latin typeface="Inter"/>
              <a:cs typeface="Inter"/>
            </a:endParaRPr>
          </a:p>
        </p:txBody>
      </p:sp>
      <p:sp>
        <p:nvSpPr>
          <p:cNvPr id="29" name="Footer"/>
          <p:cNvSpPr txBox="1"/>
          <p:nvPr/>
        </p:nvSpPr>
        <p:spPr>
          <a:xfrm>
            <a:off x="812800" y="6267450"/>
            <a:ext cx="6350000" cy="190500"/>
          </a:xfrm>
          <a:prstGeom prst="rect">
            <a:avLst/>
          </a:prstGeom>
          <a:noFill/>
          <a:ln>
            <a:noFill/>
          </a:ln>
        </p:spPr>
        <p:txBody>
          <a:bodyPr wrap="square" lIns="0" tIns="0" rIns="0" bIns="0" anchor="t" rtlCol="0">
            <a:noAutofit/>
          </a:bodyPr>
          <a:lstStyle/>
          <a:p>
            <a:pPr algn="l"/>
            <a:r>
              <a:rPr lang="en-US" sz="1200" b="0" dirty="0">
                <a:solidFill>
                  <a:srgbClr val="8A9CAE"/>
                </a:solidFill>
                <a:latin typeface="Inter"/>
                <a:cs typeface="Inter"/>
              </a:rPr>
              <a:t>Drawing2CAD · The Novice Ninjas</a:t>
            </a:r>
            <a:endParaRPr lang="en-US" sz="1200" b="0" dirty="0">
              <a:solidFill>
                <a:srgbClr val="8A9CAE"/>
              </a:solidFill>
              <a:latin typeface="Inter"/>
              <a:cs typeface="Inter"/>
            </a:endParaRPr>
          </a:p>
        </p:txBody>
      </p:sp>
      <p:sp>
        <p:nvSpPr>
          <p:cNvPr id="30" name="Slide number"/>
          <p:cNvSpPr txBox="1"/>
          <p:nvPr/>
        </p:nvSpPr>
        <p:spPr>
          <a:xfrm>
            <a:off x="10109200" y="6267450"/>
            <a:ext cx="1270000" cy="190500"/>
          </a:xfrm>
          <a:prstGeom prst="rect">
            <a:avLst/>
          </a:prstGeom>
          <a:noFill/>
          <a:ln>
            <a:noFill/>
          </a:ln>
        </p:spPr>
        <p:txBody>
          <a:bodyPr wrap="square" lIns="0" tIns="0" rIns="0" bIns="0" anchor="t" rtlCol="0">
            <a:noAutofit/>
          </a:bodyPr>
          <a:lstStyle/>
          <a:p>
            <a:pPr algn="r"/>
            <a:r>
              <a:rPr lang="en-US" sz="1200" b="0" dirty="0">
                <a:solidFill>
                  <a:srgbClr val="8A9CAE"/>
                </a:solidFill>
                <a:latin typeface="Inter"/>
                <a:cs typeface="Inter"/>
              </a:rPr>
              <a:t>04</a:t>
            </a:r>
            <a:endParaRPr lang="en-US" sz="1200" b="0" dirty="0">
              <a:solidFill>
                <a:srgbClr val="8A9CAE"/>
              </a:solidFill>
              <a:latin typeface="Inter"/>
              <a:cs typeface="Inter"/>
            </a:endParaRPr>
          </a:p>
        </p:txBody>
      </p:sp>
    </p:spTree>
  </p:cSld>
  <p:clrMapOvr>
    <a:masterClrMapping/>
  </p:clrMapOvr>
  <p:transition spd="slow" advClick="0" advTm="12100">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par>
                          <p:cTn id="26" fill="hold">
                            <p:stCondLst>
                              <p:cond delay="2000"/>
                            </p:stCondLst>
                            <p:childTnLst>
                              <p:par>
                                <p:cTn id="27" presetID="53" presetClass="entr" presetSubtype="16"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ppt_w</p:attrName>
                                        </p:attrNameLst>
                                      </p:cBhvr>
                                      <p:tavLst>
                                        <p:tav tm="0">
                                          <p:val>
                                            <p:fltVal val="0"/>
                                          </p:val>
                                        </p:tav>
                                        <p:tav tm="100000">
                                          <p:val>
                                            <p:strVal val="#ppt_w"/>
                                          </p:val>
                                        </p:tav>
                                      </p:tavLst>
                                    </p:anim>
                                    <p:anim calcmode="lin" valueType="num">
                                      <p:cBhvr additive="base">
                                        <p:cTn id="30" dur="500" fill="hold"/>
                                        <p:tgtEl>
                                          <p:spTgt spid="17"/>
                                        </p:tgtEl>
                                        <p:attrNameLst>
                                          <p:attrName>ppt_h</p:attrName>
                                        </p:attrNameLst>
                                      </p:cBhvr>
                                      <p:tavLst>
                                        <p:tav tm="0">
                                          <p:val>
                                            <p:fltVal val="0"/>
                                          </p:val>
                                        </p:tav>
                                        <p:tav tm="100000">
                                          <p:val>
                                            <p:strVal val="#ppt_h"/>
                                          </p:val>
                                        </p:tav>
                                      </p:tavLst>
                                    </p:anim>
                                    <p:animEffect transition="in" filter="fade">
                                      <p:cBhvr>
                                        <p:cTn id="31" dur="500"/>
                                        <p:tgtEl>
                                          <p:spTgt spid="17"/>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additive="base">
                                        <p:cTn id="34" dur="500" fill="hold"/>
                                        <p:tgtEl>
                                          <p:spTgt spid="18"/>
                                        </p:tgtEl>
                                        <p:attrNameLst>
                                          <p:attrName>ppt_w</p:attrName>
                                        </p:attrNameLst>
                                      </p:cBhvr>
                                      <p:tavLst>
                                        <p:tav tm="0">
                                          <p:val>
                                            <p:fltVal val="0"/>
                                          </p:val>
                                        </p:tav>
                                        <p:tav tm="100000">
                                          <p:val>
                                            <p:strVal val="#ppt_w"/>
                                          </p:val>
                                        </p:tav>
                                      </p:tavLst>
                                    </p:anim>
                                    <p:anim calcmode="lin" valueType="num">
                                      <p:cBhvr additive="base">
                                        <p:cTn id="35" dur="500" fill="hold"/>
                                        <p:tgtEl>
                                          <p:spTgt spid="18"/>
                                        </p:tgtEl>
                                        <p:attrNameLst>
                                          <p:attrName>ppt_h</p:attrName>
                                        </p:attrNameLst>
                                      </p:cBhvr>
                                      <p:tavLst>
                                        <p:tav tm="0">
                                          <p:val>
                                            <p:fltVal val="0"/>
                                          </p:val>
                                        </p:tav>
                                        <p:tav tm="100000">
                                          <p:val>
                                            <p:strVal val="#ppt_h"/>
                                          </p:val>
                                        </p:tav>
                                      </p:tavLst>
                                    </p:anim>
                                    <p:animEffect transition="in" filter="fade">
                                      <p:cBhvr>
                                        <p:cTn id="36" dur="500"/>
                                        <p:tgtEl>
                                          <p:spTgt spid="18"/>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ppt_w</p:attrName>
                                        </p:attrNameLst>
                                      </p:cBhvr>
                                      <p:tavLst>
                                        <p:tav tm="0">
                                          <p:val>
                                            <p:fltVal val="0"/>
                                          </p:val>
                                        </p:tav>
                                        <p:tav tm="100000">
                                          <p:val>
                                            <p:strVal val="#ppt_w"/>
                                          </p:val>
                                        </p:tav>
                                      </p:tavLst>
                                    </p:anim>
                                    <p:anim calcmode="lin" valueType="num">
                                      <p:cBhvr additive="base">
                                        <p:cTn id="40" dur="500" fill="hold"/>
                                        <p:tgtEl>
                                          <p:spTgt spid="19"/>
                                        </p:tgtEl>
                                        <p:attrNameLst>
                                          <p:attrName>ppt_h</p:attrName>
                                        </p:attrNameLst>
                                      </p:cBhvr>
                                      <p:tavLst>
                                        <p:tav tm="0">
                                          <p:val>
                                            <p:fltVal val="0"/>
                                          </p:val>
                                        </p:tav>
                                        <p:tav tm="100000">
                                          <p:val>
                                            <p:strVal val="#ppt_h"/>
                                          </p:val>
                                        </p:tav>
                                      </p:tavLst>
                                    </p:anim>
                                    <p:animEffect transition="in" filter="fade">
                                      <p:cBhvr>
                                        <p:cTn id="41" dur="500"/>
                                        <p:tgtEl>
                                          <p:spTgt spid="19"/>
                                        </p:tgtEl>
                                      </p:cBhvr>
                                    </p:animEffect>
                                  </p:childTnLst>
                                </p:cTn>
                              </p:par>
                            </p:childTnLst>
                          </p:cTn>
                        </p:par>
                        <p:par>
                          <p:cTn id="42" fill="hold">
                            <p:stCondLst>
                              <p:cond delay="2500"/>
                            </p:stCondLst>
                            <p:childTnLst>
                              <p:par>
                                <p:cTn id="43" presetID="10" presetClass="entr" presetSubtype="0" fill="hold" grpId="0" nodeType="after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42"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600"/>
                                        <p:tgtEl>
                                          <p:spTgt spid="21"/>
                                        </p:tgtEl>
                                      </p:cBhvr>
                                    </p:animEffect>
                                    <p:anim calcmode="lin" valueType="num">
                                      <p:cBhvr additive="base">
                                        <p:cTn id="49" dur="600" fill="hold"/>
                                        <p:tgtEl>
                                          <p:spTgt spid="21"/>
                                        </p:tgtEl>
                                        <p:attrNameLst>
                                          <p:attrName>ppt_x</p:attrName>
                                        </p:attrNameLst>
                                      </p:cBhvr>
                                      <p:tavLst>
                                        <p:tav tm="0">
                                          <p:val>
                                            <p:strVal val="#ppt_x"/>
                                          </p:val>
                                        </p:tav>
                                        <p:tav tm="100000">
                                          <p:val>
                                            <p:strVal val="#ppt_x"/>
                                          </p:val>
                                        </p:tav>
                                      </p:tavLst>
                                    </p:anim>
                                    <p:anim calcmode="lin" valueType="num">
                                      <p:cBhvr additive="base">
                                        <p:cTn id="50" dur="600" fill="hold"/>
                                        <p:tgtEl>
                                          <p:spTgt spid="21"/>
                                        </p:tgtEl>
                                        <p:attrNameLst>
                                          <p:attrName>ppt_y</p:attrName>
                                        </p:attrNameLst>
                                      </p:cBhvr>
                                      <p:tavLst>
                                        <p:tav tm="0">
                                          <p:val>
                                            <p:strVal val="#ppt_y+.1"/>
                                          </p:val>
                                        </p:tav>
                                        <p:tav tm="100000">
                                          <p:val>
                                            <p:strVal val="#ppt_y"/>
                                          </p:val>
                                        </p:tav>
                                      </p:tavLst>
                                    </p:anim>
                                  </p:childTnLst>
                                </p:cTn>
                              </p:par>
                            </p:childTnLst>
                          </p:cTn>
                        </p:par>
                        <p:par>
                          <p:cTn id="51" fill="hold">
                            <p:stCondLst>
                              <p:cond delay="3100"/>
                            </p:stCondLst>
                            <p:childTnLst>
                              <p:par>
                                <p:cTn id="52" presetID="10" presetClass="entr" presetSubtype="0" fill="hold" grpId="0"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childTnLst>
                          </p:cTn>
                        </p:par>
                        <p:par>
                          <p:cTn id="58" fill="hold">
                            <p:stCondLst>
                              <p:cond delay="3600"/>
                            </p:stCondLst>
                            <p:childTnLst>
                              <p:par>
                                <p:cTn id="59" presetID="10" presetClass="entr" presetSubtype="0" fill="hold" grpId="0" nodeType="after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5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17" grpId="0" animBg="1"/>
      <p:bldP spid="19" grpId="0"/>
      <p:bldP spid="26" grpId="0"/>
      <p:bldP spid="28"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924"/>
        </a:solidFill>
        <a:effectLst/>
      </p:bgPr>
    </p:bg>
    <p:spTree>
      <p:nvGrpSpPr>
        <p:cNvPr id="1" name=""/>
        <p:cNvGrpSpPr/>
        <p:nvPr/>
      </p:nvGrpSpPr>
      <p:grpSpPr/>
      <p:sp>
        <p:nvSpPr>
          <p:cNvPr id="2" name="!!bar"/>
          <p:cNvSpPr/>
          <p:nvPr/>
        </p:nvSpPr>
        <p:spPr>
          <a:xfrm>
            <a:off x="812800" y="609600"/>
            <a:ext cx="457200" cy="50800"/>
          </a:xfrm>
          <a:prstGeom prst="roundRect">
            <a:avLst>
              <a:gd name="adj" fmla="val 50000"/>
            </a:avLst>
          </a:prstGeom>
          <a:solidFill>
            <a:srgbClr val="FF4655"/>
          </a:solidFill>
          <a:ln>
            <a:noFill/>
          </a:ln>
        </p:spPr>
      </p:sp>
      <p:sp>
        <p:nvSpPr>
          <p:cNvPr id="3" name="Eyebrow"/>
          <p:cNvSpPr txBox="1"/>
          <p:nvPr/>
        </p:nvSpPr>
        <p:spPr>
          <a:xfrm>
            <a:off x="812800" y="812800"/>
            <a:ext cx="10566400" cy="190500"/>
          </a:xfrm>
          <a:prstGeom prst="rect">
            <a:avLst/>
          </a:prstGeom>
          <a:noFill/>
          <a:ln>
            <a:noFill/>
          </a:ln>
        </p:spPr>
        <p:txBody>
          <a:bodyPr wrap="square" lIns="0" tIns="0" rIns="0" bIns="0" anchor="t" rtlCol="0">
            <a:noAutofit/>
          </a:bodyPr>
          <a:lstStyle/>
          <a:p>
            <a:pPr algn="l"/>
            <a:r>
              <a:rPr lang="en-US" sz="1200" b="1" dirty="0" spc="200" cap="all">
                <a:solidFill>
                  <a:srgbClr val="FF4655"/>
                </a:solidFill>
                <a:latin typeface="Inter"/>
                <a:cs typeface="Inter"/>
              </a:rPr>
              <a:t>03 — Architecture</a:t>
            </a:r>
            <a:endParaRPr lang="en-US" sz="1200" b="1" dirty="0" spc="200" cap="all">
              <a:solidFill>
                <a:srgbClr val="FF4655"/>
              </a:solidFill>
              <a:latin typeface="Inter"/>
              <a:cs typeface="Inter"/>
            </a:endParaRPr>
          </a:p>
        </p:txBody>
      </p:sp>
      <p:sp>
        <p:nvSpPr>
          <p:cNvPr id="4" name="Title"/>
          <p:cNvSpPr txBox="1"/>
          <p:nvPr/>
        </p:nvSpPr>
        <p:spPr>
          <a:xfrm>
            <a:off x="812800" y="1034288"/>
            <a:ext cx="10566400" cy="730250"/>
          </a:xfrm>
          <a:prstGeom prst="rect">
            <a:avLst/>
          </a:prstGeom>
          <a:noFill/>
          <a:ln>
            <a:noFill/>
          </a:ln>
        </p:spPr>
        <p:txBody>
          <a:bodyPr wrap="square" lIns="0" tIns="0" rIns="0" bIns="0" anchor="t" rtlCol="0">
            <a:noAutofit/>
          </a:bodyPr>
          <a:lstStyle/>
          <a:p>
            <a:pPr algn="l"/>
            <a:r>
              <a:rPr lang="en-US" sz="4400" b="1" dirty="0" spc="-100">
                <a:solidFill>
                  <a:srgbClr val="EEF2F5"/>
                </a:solidFill>
                <a:latin typeface="Space Grotesk"/>
                <a:cs typeface="Space Grotesk"/>
              </a:rPr>
              <a:t>Inside the MCP server</a:t>
            </a:r>
            <a:endParaRPr lang="en-US" sz="4400" b="1" dirty="0" spc="-100">
              <a:solidFill>
                <a:srgbClr val="EEF2F5"/>
              </a:solidFill>
              <a:latin typeface="Space Grotesk"/>
              <a:cs typeface="Space Grotesk"/>
            </a:endParaRPr>
          </a:p>
        </p:txBody>
      </p:sp>
      <p:sp>
        <p:nvSpPr>
          <p:cNvPr id="5" name="!!mcp"/>
          <p:cNvSpPr/>
          <p:nvPr/>
        </p:nvSpPr>
        <p:spPr>
          <a:xfrm>
            <a:off x="2032000" y="2286000"/>
            <a:ext cx="8128000" cy="3175000"/>
          </a:xfrm>
          <a:prstGeom prst="roundRect">
            <a:avLst>
              <a:gd name="adj" fmla="val 5600"/>
            </a:avLst>
          </a:prstGeom>
          <a:solidFill>
            <a:srgbClr val="1B2A3B"/>
          </a:solidFill>
          <a:ln w="12700">
            <a:solidFill>
              <a:srgbClr val="FF4655"/>
            </a:solidFill>
          </a:ln>
        </p:spPr>
      </p:sp>
      <p:sp>
        <p:nvSpPr>
          <p:cNvPr id="6" name="MCP label"/>
          <p:cNvSpPr txBox="1"/>
          <p:nvPr/>
        </p:nvSpPr>
        <p:spPr>
          <a:xfrm>
            <a:off x="2336800" y="2489200"/>
            <a:ext cx="5080000" cy="190500"/>
          </a:xfrm>
          <a:prstGeom prst="rect">
            <a:avLst/>
          </a:prstGeom>
          <a:noFill/>
          <a:ln>
            <a:noFill/>
          </a:ln>
        </p:spPr>
        <p:txBody>
          <a:bodyPr wrap="square" lIns="0" tIns="0" rIns="0" bIns="0" anchor="t" rtlCol="0">
            <a:noAutofit/>
          </a:bodyPr>
          <a:lstStyle/>
          <a:p>
            <a:pPr algn="l"/>
            <a:r>
              <a:rPr lang="en-US" sz="1200" b="1" dirty="0" spc="200" cap="all">
                <a:solidFill>
                  <a:srgbClr val="FF4655"/>
                </a:solidFill>
                <a:latin typeface="Inter"/>
                <a:cs typeface="Inter"/>
              </a:rPr>
              <a:t>3D Creation MCP Server</a:t>
            </a:r>
            <a:endParaRPr lang="en-US" sz="1200" b="1" dirty="0" spc="200" cap="all">
              <a:solidFill>
                <a:srgbClr val="FF4655"/>
              </a:solidFill>
              <a:latin typeface="Inter"/>
              <a:cs typeface="Inter"/>
            </a:endParaRPr>
          </a:p>
        </p:txBody>
      </p:sp>
      <p:cxnSp>
        <p:nvCxnSpPr>
          <p:cNvPr id="7" name="Arrow PDF in"/>
          <p:cNvCxnSpPr/>
          <p:nvPr/>
        </p:nvCxnSpPr>
        <p:spPr>
          <a:xfrm>
            <a:off x="1016000" y="3556000"/>
            <a:ext cx="1422400" cy="0"/>
          </a:xfrm>
          <a:prstGeom prst="straightConnector1">
            <a:avLst/>
          </a:prstGeom>
          <a:ln w="19050">
            <a:solidFill>
              <a:srgbClr val="FF4655"/>
            </a:solidFill>
            <a:round/>
            <a:tailEnd type="triangle" w="med" len="med"/>
          </a:ln>
        </p:spPr>
      </p:cxnSp>
      <p:sp>
        <p:nvSpPr>
          <p:cNvPr id="8" name="Label PDF"/>
          <p:cNvSpPr txBox="1"/>
          <p:nvPr/>
        </p:nvSpPr>
        <p:spPr>
          <a:xfrm>
            <a:off x="812800" y="3175000"/>
            <a:ext cx="1219200" cy="190500"/>
          </a:xfrm>
          <a:prstGeom prst="rect">
            <a:avLst/>
          </a:prstGeom>
          <a:noFill/>
          <a:ln>
            <a:noFill/>
          </a:ln>
        </p:spPr>
        <p:txBody>
          <a:bodyPr wrap="square" lIns="0" tIns="0" rIns="0" bIns="0" anchor="t" rtlCol="0">
            <a:noAutofit/>
          </a:bodyPr>
          <a:lstStyle/>
          <a:p>
            <a:pPr algn="ctr"/>
            <a:r>
              <a:rPr lang="en-US" sz="1200" b="1" dirty="0">
                <a:solidFill>
                  <a:srgbClr val="FF4655"/>
                </a:solidFill>
                <a:latin typeface="Inter"/>
                <a:cs typeface="Inter"/>
              </a:rPr>
              <a:t>PDF</a:t>
            </a:r>
            <a:endParaRPr lang="en-US" sz="1200" b="1" dirty="0">
              <a:solidFill>
                <a:srgbClr val="FF4655"/>
              </a:solidFill>
              <a:latin typeface="Inter"/>
              <a:cs typeface="Inter"/>
            </a:endParaRPr>
          </a:p>
        </p:txBody>
      </p:sp>
      <p:grpSp>
        <p:nvGrpSpPr>
          <p:cNvPr id="9" name="Stage 01"/>
          <p:cNvGrpSpPr/>
          <p:nvPr/>
        </p:nvGrpSpPr>
        <p:grpSpPr>
          <a:xfrm>
            <a:off x="2438400" y="2921000"/>
            <a:ext cx="2032000" cy="1270000"/>
            <a:chOff x="2438400" y="2921000"/>
            <a:chExt cx="2032000" cy="1270000"/>
          </a:xfrm>
        </p:grpSpPr>
        <p:sp>
          <p:nvSpPr>
            <p:cNvPr id="10" name="Card"/>
            <p:cNvSpPr/>
            <p:nvPr/>
          </p:nvSpPr>
          <p:spPr>
            <a:xfrm>
              <a:off x="2438400" y="2921000"/>
              <a:ext cx="2032000" cy="1270000"/>
            </a:xfrm>
            <a:prstGeom prst="roundRect">
              <a:avLst>
                <a:gd name="adj" fmla="val 10000"/>
              </a:avLst>
            </a:prstGeom>
            <a:solidFill>
              <a:srgbClr val="0F1924"/>
            </a:solidFill>
            <a:ln w="6350">
              <a:solidFill>
                <a:srgbClr val="2B3D50"/>
              </a:solidFill>
            </a:ln>
          </p:spPr>
        </p:sp>
        <p:sp>
          <p:nvSpPr>
            <p:cNvPr id="11" name="Number"/>
            <p:cNvSpPr txBox="1"/>
            <p:nvPr/>
          </p:nvSpPr>
          <p:spPr>
            <a:xfrm>
              <a:off x="2641600" y="3181668"/>
              <a:ext cx="1625600" cy="203200"/>
            </a:xfrm>
            <a:prstGeom prst="rect">
              <a:avLst/>
            </a:prstGeom>
            <a:noFill/>
            <a:ln>
              <a:noFill/>
            </a:ln>
          </p:spPr>
          <p:txBody>
            <a:bodyPr wrap="square" lIns="0" tIns="0" rIns="0" bIns="0" anchor="t" rtlCol="0">
              <a:noAutofit/>
            </a:bodyPr>
            <a:lstStyle/>
            <a:p>
              <a:pPr algn="l"/>
              <a:r>
                <a:rPr lang="en-US" sz="1200" b="1" dirty="0">
                  <a:solidFill>
                    <a:srgbClr val="FF4655"/>
                  </a:solidFill>
                  <a:latin typeface="Space Grotesk"/>
                  <a:cs typeface="Space Grotesk"/>
                </a:rPr>
                <a:t>01</a:t>
              </a:r>
              <a:endParaRPr lang="en-US" sz="1200" b="1" dirty="0">
                <a:solidFill>
                  <a:srgbClr val="FF4655"/>
                </a:solidFill>
                <a:latin typeface="Space Grotesk"/>
                <a:cs typeface="Space Grotesk"/>
              </a:endParaRPr>
            </a:p>
          </p:txBody>
        </p:sp>
        <p:sp>
          <p:nvSpPr>
            <p:cNvPr id="12" name="Heading"/>
            <p:cNvSpPr txBox="1"/>
            <p:nvPr/>
          </p:nvSpPr>
          <p:spPr>
            <a:xfrm>
              <a:off x="2641600" y="3427412"/>
              <a:ext cx="1625600" cy="528320"/>
            </a:xfrm>
            <a:prstGeom prst="rect">
              <a:avLst/>
            </a:prstGeom>
            <a:noFill/>
            <a:ln>
              <a:noFill/>
            </a:ln>
          </p:spPr>
          <p:txBody>
            <a:bodyPr wrap="square" lIns="0" tIns="0" rIns="0" bIns="0" anchor="t" rtlCol="0">
              <a:noAutofit/>
            </a:bodyPr>
            <a:lstStyle/>
            <a:p>
              <a:pPr algn="l">
                <a:lnSpc>
                  <a:spcPts val="1980"/>
                </a:lnSpc>
              </a:pPr>
              <a:r>
                <a:rPr lang="en-US" sz="1800" b="1" dirty="0">
                  <a:solidFill>
                    <a:srgbClr val="EEF2F5"/>
                  </a:solidFill>
                  <a:latin typeface="Space Grotesk"/>
                  <a:cs typeface="Space Grotesk"/>
                </a:rPr>
                <a:t>Features extraction</a:t>
              </a:r>
              <a:endParaRPr lang="en-US" sz="1800" b="1" dirty="0">
                <a:solidFill>
                  <a:srgbClr val="EEF2F5"/>
                </a:solidFill>
                <a:latin typeface="Space Grotesk"/>
                <a:cs typeface="Space Grotesk"/>
              </a:endParaRPr>
            </a:p>
          </p:txBody>
        </p:sp>
      </p:grpSp>
      <p:cxnSp>
        <p:nvCxnSpPr>
          <p:cNvPr id="13" name="Arrow 1-2"/>
          <p:cNvCxnSpPr/>
          <p:nvPr/>
        </p:nvCxnSpPr>
        <p:spPr>
          <a:xfrm>
            <a:off x="4470400" y="3556000"/>
            <a:ext cx="609600" cy="0"/>
          </a:xfrm>
          <a:prstGeom prst="straightConnector1">
            <a:avLst/>
          </a:prstGeom>
          <a:ln w="19050">
            <a:solidFill>
              <a:srgbClr val="9FB0C0"/>
            </a:solidFill>
            <a:round/>
            <a:tailEnd type="triangle" w="med" len="med"/>
          </a:ln>
        </p:spPr>
      </p:cxnSp>
      <p:grpSp>
        <p:nvGrpSpPr>
          <p:cNvPr id="14" name="Stage 02"/>
          <p:cNvGrpSpPr/>
          <p:nvPr/>
        </p:nvGrpSpPr>
        <p:grpSpPr>
          <a:xfrm>
            <a:off x="5080000" y="2921000"/>
            <a:ext cx="2032000" cy="1270000"/>
            <a:chOff x="5080000" y="2921000"/>
            <a:chExt cx="2032000" cy="1270000"/>
          </a:xfrm>
        </p:grpSpPr>
        <p:sp>
          <p:nvSpPr>
            <p:cNvPr id="15" name="Card"/>
            <p:cNvSpPr/>
            <p:nvPr/>
          </p:nvSpPr>
          <p:spPr>
            <a:xfrm>
              <a:off x="5080000" y="2921000"/>
              <a:ext cx="2032000" cy="1270000"/>
            </a:xfrm>
            <a:prstGeom prst="roundRect">
              <a:avLst>
                <a:gd name="adj" fmla="val 10000"/>
              </a:avLst>
            </a:prstGeom>
            <a:solidFill>
              <a:srgbClr val="0F1924"/>
            </a:solidFill>
            <a:ln w="6350">
              <a:solidFill>
                <a:srgbClr val="2B3D50"/>
              </a:solidFill>
            </a:ln>
          </p:spPr>
        </p:sp>
        <p:sp>
          <p:nvSpPr>
            <p:cNvPr id="16" name="Number"/>
            <p:cNvSpPr txBox="1"/>
            <p:nvPr/>
          </p:nvSpPr>
          <p:spPr>
            <a:xfrm>
              <a:off x="5283200" y="3181668"/>
              <a:ext cx="1625600" cy="203200"/>
            </a:xfrm>
            <a:prstGeom prst="rect">
              <a:avLst/>
            </a:prstGeom>
            <a:noFill/>
            <a:ln>
              <a:noFill/>
            </a:ln>
          </p:spPr>
          <p:txBody>
            <a:bodyPr wrap="square" lIns="0" tIns="0" rIns="0" bIns="0" anchor="t" rtlCol="0">
              <a:noAutofit/>
            </a:bodyPr>
            <a:lstStyle/>
            <a:p>
              <a:pPr algn="l"/>
              <a:r>
                <a:rPr lang="en-US" sz="1200" b="1" dirty="0">
                  <a:solidFill>
                    <a:srgbClr val="FF4655"/>
                  </a:solidFill>
                  <a:latin typeface="Space Grotesk"/>
                  <a:cs typeface="Space Grotesk"/>
                </a:rPr>
                <a:t>02</a:t>
              </a:r>
              <a:endParaRPr lang="en-US" sz="1200" b="1" dirty="0">
                <a:solidFill>
                  <a:srgbClr val="FF4655"/>
                </a:solidFill>
                <a:latin typeface="Space Grotesk"/>
                <a:cs typeface="Space Grotesk"/>
              </a:endParaRPr>
            </a:p>
          </p:txBody>
        </p:sp>
        <p:sp>
          <p:nvSpPr>
            <p:cNvPr id="17" name="Heading"/>
            <p:cNvSpPr txBox="1"/>
            <p:nvPr/>
          </p:nvSpPr>
          <p:spPr>
            <a:xfrm>
              <a:off x="5283200" y="3427412"/>
              <a:ext cx="1625600" cy="528320"/>
            </a:xfrm>
            <a:prstGeom prst="rect">
              <a:avLst/>
            </a:prstGeom>
            <a:noFill/>
            <a:ln>
              <a:noFill/>
            </a:ln>
          </p:spPr>
          <p:txBody>
            <a:bodyPr wrap="square" lIns="0" tIns="0" rIns="0" bIns="0" anchor="t" rtlCol="0">
              <a:noAutofit/>
            </a:bodyPr>
            <a:lstStyle/>
            <a:p>
              <a:pPr algn="l">
                <a:lnSpc>
                  <a:spcPts val="1980"/>
                </a:lnSpc>
              </a:pPr>
              <a:r>
                <a:rPr lang="en-US" sz="1800" b="1" dirty="0">
                  <a:solidFill>
                    <a:srgbClr val="EEF2F5"/>
                  </a:solidFill>
                  <a:latin typeface="Space Grotesk"/>
                  <a:cs typeface="Space Grotesk"/>
                </a:rPr>
                <a:t xml:space="preserve">3D Model </a:t>
              </a:r>
              <a:br>
                <a:rPr lang="en-US" sz="1800" b="1" dirty="0">
                  <a:solidFill>
                    <a:srgbClr val="EEF2F5"/>
                  </a:solidFill>
                  <a:latin typeface="Space Grotesk"/>
                  <a:cs typeface="Space Grotesk"/>
                </a:rPr>
              </a:br>
              <a:r>
                <a:rPr lang="en-US" sz="1800" b="1" dirty="0">
                  <a:solidFill>
                    <a:srgbClr val="EEF2F5"/>
                  </a:solidFill>
                  <a:latin typeface="Space Grotesk"/>
                  <a:cs typeface="Space Grotesk"/>
                </a:rPr>
                <a:t>Creator</a:t>
              </a:r>
              <a:endParaRPr lang="en-US" sz="1800" b="1" dirty="0">
                <a:solidFill>
                  <a:srgbClr val="EEF2F5"/>
                </a:solidFill>
                <a:latin typeface="Space Grotesk"/>
                <a:cs typeface="Space Grotesk"/>
              </a:endParaRPr>
            </a:p>
          </p:txBody>
        </p:sp>
      </p:grpSp>
      <p:cxnSp>
        <p:nvCxnSpPr>
          <p:cNvPr id="18" name="Arrow 2-3"/>
          <p:cNvCxnSpPr/>
          <p:nvPr/>
        </p:nvCxnSpPr>
        <p:spPr>
          <a:xfrm>
            <a:off x="7112000" y="3556000"/>
            <a:ext cx="609600" cy="0"/>
          </a:xfrm>
          <a:prstGeom prst="straightConnector1">
            <a:avLst/>
          </a:prstGeom>
          <a:ln w="19050">
            <a:solidFill>
              <a:srgbClr val="9FB0C0"/>
            </a:solidFill>
            <a:round/>
            <a:tailEnd type="triangle" w="med" len="med"/>
          </a:ln>
        </p:spPr>
      </p:cxnSp>
      <p:grpSp>
        <p:nvGrpSpPr>
          <p:cNvPr id="19" name="Stage 03"/>
          <p:cNvGrpSpPr/>
          <p:nvPr/>
        </p:nvGrpSpPr>
        <p:grpSpPr>
          <a:xfrm>
            <a:off x="7721600" y="2921000"/>
            <a:ext cx="2032000" cy="1270000"/>
            <a:chOff x="7721600" y="2921000"/>
            <a:chExt cx="2032000" cy="1270000"/>
          </a:xfrm>
        </p:grpSpPr>
        <p:sp>
          <p:nvSpPr>
            <p:cNvPr id="20" name="Card"/>
            <p:cNvSpPr/>
            <p:nvPr/>
          </p:nvSpPr>
          <p:spPr>
            <a:xfrm>
              <a:off x="7721600" y="2921000"/>
              <a:ext cx="2032000" cy="1270000"/>
            </a:xfrm>
            <a:prstGeom prst="roundRect">
              <a:avLst>
                <a:gd name="adj" fmla="val 10000"/>
              </a:avLst>
            </a:prstGeom>
            <a:solidFill>
              <a:srgbClr val="0F1924"/>
            </a:solidFill>
            <a:ln w="6350">
              <a:solidFill>
                <a:srgbClr val="2B3D50"/>
              </a:solidFill>
            </a:ln>
          </p:spPr>
        </p:sp>
        <p:sp>
          <p:nvSpPr>
            <p:cNvPr id="21" name="Number"/>
            <p:cNvSpPr txBox="1"/>
            <p:nvPr/>
          </p:nvSpPr>
          <p:spPr>
            <a:xfrm>
              <a:off x="7924800" y="3307398"/>
              <a:ext cx="1625600" cy="203200"/>
            </a:xfrm>
            <a:prstGeom prst="rect">
              <a:avLst/>
            </a:prstGeom>
            <a:noFill/>
            <a:ln>
              <a:noFill/>
            </a:ln>
          </p:spPr>
          <p:txBody>
            <a:bodyPr wrap="square" lIns="0" tIns="0" rIns="0" bIns="0" anchor="t" rtlCol="0">
              <a:noAutofit/>
            </a:bodyPr>
            <a:lstStyle/>
            <a:p>
              <a:pPr algn="l"/>
              <a:r>
                <a:rPr lang="en-US" sz="1200" b="1" dirty="0">
                  <a:solidFill>
                    <a:srgbClr val="FF4655"/>
                  </a:solidFill>
                  <a:latin typeface="Space Grotesk"/>
                  <a:cs typeface="Space Grotesk"/>
                </a:rPr>
                <a:t>03</a:t>
              </a:r>
              <a:endParaRPr lang="en-US" sz="1200" b="1" dirty="0">
                <a:solidFill>
                  <a:srgbClr val="FF4655"/>
                </a:solidFill>
                <a:latin typeface="Space Grotesk"/>
                <a:cs typeface="Space Grotesk"/>
              </a:endParaRPr>
            </a:p>
          </p:txBody>
        </p:sp>
        <p:sp>
          <p:nvSpPr>
            <p:cNvPr id="22" name="Heading"/>
            <p:cNvSpPr txBox="1"/>
            <p:nvPr/>
          </p:nvSpPr>
          <p:spPr>
            <a:xfrm>
              <a:off x="7924800" y="3553143"/>
              <a:ext cx="1625600" cy="276860"/>
            </a:xfrm>
            <a:prstGeom prst="rect">
              <a:avLst/>
            </a:prstGeom>
            <a:noFill/>
            <a:ln>
              <a:noFill/>
            </a:ln>
          </p:spPr>
          <p:txBody>
            <a:bodyPr wrap="square" lIns="0" tIns="0" rIns="0" bIns="0" anchor="t" rtlCol="0">
              <a:noAutofit/>
            </a:bodyPr>
            <a:lstStyle/>
            <a:p>
              <a:pPr algn="l">
                <a:lnSpc>
                  <a:spcPts val="1980"/>
                </a:lnSpc>
              </a:pPr>
              <a:r>
                <a:rPr lang="en-US" sz="1800" b="1" dirty="0">
                  <a:solidFill>
                    <a:srgbClr val="EEF2F5"/>
                  </a:solidFill>
                  <a:latin typeface="Space Grotesk"/>
                  <a:cs typeface="Space Grotesk"/>
                </a:rPr>
                <a:t>Validator</a:t>
              </a:r>
              <a:endParaRPr lang="en-US" sz="1800" b="1" dirty="0">
                <a:solidFill>
                  <a:srgbClr val="EEF2F5"/>
                </a:solidFill>
                <a:latin typeface="Space Grotesk"/>
                <a:cs typeface="Space Grotesk"/>
              </a:endParaRPr>
            </a:p>
          </p:txBody>
        </p:sp>
      </p:grpSp>
      <p:cxnSp>
        <p:nvCxnSpPr>
          <p:cNvPr id="23" name="Loop down"/>
          <p:cNvCxnSpPr/>
          <p:nvPr/>
        </p:nvCxnSpPr>
        <p:spPr>
          <a:xfrm>
            <a:off x="8737600" y="4191000"/>
            <a:ext cx="0" cy="508000"/>
          </a:xfrm>
          <a:prstGeom prst="straightConnector1">
            <a:avLst/>
          </a:prstGeom>
          <a:ln w="19050">
            <a:solidFill>
              <a:srgbClr val="9FB0C0"/>
            </a:solidFill>
            <a:prstDash val="dash"/>
            <a:round/>
          </a:ln>
        </p:spPr>
      </p:cxnSp>
      <p:cxnSp>
        <p:nvCxnSpPr>
          <p:cNvPr id="24" name="Loop across"/>
          <p:cNvCxnSpPr/>
          <p:nvPr/>
        </p:nvCxnSpPr>
        <p:spPr>
          <a:xfrm flipH="1">
            <a:off x="6096000" y="4699000"/>
            <a:ext cx="2641600" cy="0"/>
          </a:xfrm>
          <a:prstGeom prst="straightConnector1">
            <a:avLst/>
          </a:prstGeom>
          <a:ln w="19050">
            <a:solidFill>
              <a:srgbClr val="9FB0C0"/>
            </a:solidFill>
            <a:prstDash val="dash"/>
            <a:round/>
          </a:ln>
        </p:spPr>
      </p:cxnSp>
      <p:cxnSp>
        <p:nvCxnSpPr>
          <p:cNvPr id="25" name="Loop up"/>
          <p:cNvCxnSpPr/>
          <p:nvPr/>
        </p:nvCxnSpPr>
        <p:spPr>
          <a:xfrm flipV="1">
            <a:off x="6096000" y="4191000"/>
            <a:ext cx="0" cy="508000"/>
          </a:xfrm>
          <a:prstGeom prst="straightConnector1">
            <a:avLst/>
          </a:prstGeom>
          <a:ln w="19050">
            <a:solidFill>
              <a:srgbClr val="9FB0C0"/>
            </a:solidFill>
            <a:prstDash val="dash"/>
            <a:round/>
            <a:tailEnd type="triangle" w="med" len="med"/>
          </a:ln>
        </p:spPr>
      </p:cxnSp>
      <p:sp>
        <p:nvSpPr>
          <p:cNvPr id="26" name="Feedback label"/>
          <p:cNvSpPr txBox="1"/>
          <p:nvPr/>
        </p:nvSpPr>
        <p:spPr>
          <a:xfrm>
            <a:off x="6146800" y="4800600"/>
            <a:ext cx="2540000" cy="190500"/>
          </a:xfrm>
          <a:prstGeom prst="rect">
            <a:avLst/>
          </a:prstGeom>
          <a:noFill/>
          <a:ln>
            <a:noFill/>
          </a:ln>
        </p:spPr>
        <p:txBody>
          <a:bodyPr wrap="square" lIns="0" tIns="0" rIns="0" bIns="0" anchor="t" rtlCol="0">
            <a:noAutofit/>
          </a:bodyPr>
          <a:lstStyle/>
          <a:p>
            <a:pPr algn="ctr"/>
            <a:r>
              <a:rPr lang="en-US" sz="1200" b="0" dirty="0">
                <a:solidFill>
                  <a:srgbClr val="9FB0C0"/>
                </a:solidFill>
                <a:latin typeface="Inter"/>
                <a:cs typeface="Inter"/>
              </a:rPr>
              <a:t>feedback loop</a:t>
            </a:r>
            <a:endParaRPr lang="en-US" sz="1200" b="0" dirty="0">
              <a:solidFill>
                <a:srgbClr val="9FB0C0"/>
              </a:solidFill>
              <a:latin typeface="Inter"/>
              <a:cs typeface="Inter"/>
            </a:endParaRPr>
          </a:p>
        </p:txBody>
      </p:sp>
      <p:cxnSp>
        <p:nvCxnSpPr>
          <p:cNvPr id="27" name="Arrow STEP out"/>
          <p:cNvCxnSpPr/>
          <p:nvPr/>
        </p:nvCxnSpPr>
        <p:spPr>
          <a:xfrm>
            <a:off x="9753600" y="3556000"/>
            <a:ext cx="1524000" cy="0"/>
          </a:xfrm>
          <a:prstGeom prst="straightConnector1">
            <a:avLst/>
          </a:prstGeom>
          <a:ln w="19050">
            <a:solidFill>
              <a:srgbClr val="3DDC84"/>
            </a:solidFill>
            <a:round/>
            <a:tailEnd type="triangle" w="med" len="med"/>
          </a:ln>
        </p:spPr>
      </p:cxnSp>
      <p:sp>
        <p:nvSpPr>
          <p:cNvPr id="28" name="Label STEP file"/>
          <p:cNvSpPr txBox="1"/>
          <p:nvPr/>
        </p:nvSpPr>
        <p:spPr>
          <a:xfrm>
            <a:off x="10160000" y="3175000"/>
            <a:ext cx="1219200" cy="190500"/>
          </a:xfrm>
          <a:prstGeom prst="rect">
            <a:avLst/>
          </a:prstGeom>
          <a:noFill/>
          <a:ln>
            <a:noFill/>
          </a:ln>
        </p:spPr>
        <p:txBody>
          <a:bodyPr wrap="square" lIns="0" tIns="0" rIns="0" bIns="0" anchor="t" rtlCol="0">
            <a:noAutofit/>
          </a:bodyPr>
          <a:lstStyle/>
          <a:p>
            <a:pPr algn="ctr"/>
            <a:r>
              <a:rPr lang="en-US" sz="1200" b="1" dirty="0">
                <a:solidFill>
                  <a:srgbClr val="3DDC84"/>
                </a:solidFill>
                <a:latin typeface="Inter"/>
                <a:cs typeface="Inter"/>
              </a:rPr>
              <a:t>STEP file</a:t>
            </a:r>
            <a:endParaRPr lang="en-US" sz="1200" b="1" dirty="0">
              <a:solidFill>
                <a:srgbClr val="3DDC84"/>
              </a:solidFill>
              <a:latin typeface="Inter"/>
              <a:cs typeface="Inter"/>
            </a:endParaRPr>
          </a:p>
        </p:txBody>
      </p:sp>
      <p:sp>
        <p:nvSpPr>
          <p:cNvPr id="29" name="Footer"/>
          <p:cNvSpPr txBox="1"/>
          <p:nvPr/>
        </p:nvSpPr>
        <p:spPr>
          <a:xfrm>
            <a:off x="812800" y="6267450"/>
            <a:ext cx="6350000" cy="190500"/>
          </a:xfrm>
          <a:prstGeom prst="rect">
            <a:avLst/>
          </a:prstGeom>
          <a:noFill/>
          <a:ln>
            <a:noFill/>
          </a:ln>
        </p:spPr>
        <p:txBody>
          <a:bodyPr wrap="square" lIns="0" tIns="0" rIns="0" bIns="0" anchor="t" rtlCol="0">
            <a:noAutofit/>
          </a:bodyPr>
          <a:lstStyle/>
          <a:p>
            <a:pPr algn="l"/>
            <a:r>
              <a:rPr lang="en-US" sz="1200" b="0" dirty="0">
                <a:solidFill>
                  <a:srgbClr val="8A9CAE"/>
                </a:solidFill>
                <a:latin typeface="Inter"/>
                <a:cs typeface="Inter"/>
              </a:rPr>
              <a:t>Drawing2CAD · The Novice Ninjas</a:t>
            </a:r>
            <a:endParaRPr lang="en-US" sz="1200" b="0" dirty="0">
              <a:solidFill>
                <a:srgbClr val="8A9CAE"/>
              </a:solidFill>
              <a:latin typeface="Inter"/>
              <a:cs typeface="Inter"/>
            </a:endParaRPr>
          </a:p>
        </p:txBody>
      </p:sp>
      <p:sp>
        <p:nvSpPr>
          <p:cNvPr id="30" name="Slide number"/>
          <p:cNvSpPr txBox="1"/>
          <p:nvPr/>
        </p:nvSpPr>
        <p:spPr>
          <a:xfrm>
            <a:off x="10109200" y="6267450"/>
            <a:ext cx="1270000" cy="190500"/>
          </a:xfrm>
          <a:prstGeom prst="rect">
            <a:avLst/>
          </a:prstGeom>
          <a:noFill/>
          <a:ln>
            <a:noFill/>
          </a:ln>
        </p:spPr>
        <p:txBody>
          <a:bodyPr wrap="square" lIns="0" tIns="0" rIns="0" bIns="0" anchor="t" rtlCol="0">
            <a:noAutofit/>
          </a:bodyPr>
          <a:lstStyle/>
          <a:p>
            <a:pPr algn="r"/>
            <a:r>
              <a:rPr lang="en-US" sz="1200" b="0" dirty="0">
                <a:solidFill>
                  <a:srgbClr val="8A9CAE"/>
                </a:solidFill>
                <a:latin typeface="Inter"/>
                <a:cs typeface="Inter"/>
              </a:rPr>
              <a:t>05</a:t>
            </a:r>
            <a:endParaRPr lang="en-US" sz="1200" b="0" dirty="0">
              <a:solidFill>
                <a:srgbClr val="8A9CAE"/>
              </a:solidFill>
              <a:latin typeface="Inter"/>
              <a:cs typeface="Inter"/>
            </a:endParaRPr>
          </a:p>
        </p:txBody>
      </p:sp>
    </p:spTree>
  </p:cSld>
  <p:clrMapOvr>
    <a:masterClrMapping/>
  </p:clrMapOvr>
  <mc:AlternateContent xmlns:mc="http://schemas.openxmlformats.org/markup-compatibility/2006">
    <mc:Choice xmlns:p159="http://schemas.microsoft.com/office/powerpoint/2015/09/main" Requires="p159">
      <p:transition spd="slow" advClick="0" advTm="11800">
        <p159:morph option="byObject"/>
      </p:transition>
    </mc:Choice>
    <mc:Fallback>
      <p:transition spd="slow" advClick="0" advTm="118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600"/>
                                        <p:tgtEl>
                                          <p:spTgt spid="9"/>
                                        </p:tgtEl>
                                      </p:cBhvr>
                                    </p:animEffect>
                                    <p:anim calcmode="lin" valueType="num">
                                      <p:cBhvr additive="base">
                                        <p:cTn id="14" dur="600" fill="hold"/>
                                        <p:tgtEl>
                                          <p:spTgt spid="9"/>
                                        </p:tgtEl>
                                        <p:attrNameLst>
                                          <p:attrName>ppt_x</p:attrName>
                                        </p:attrNameLst>
                                      </p:cBhvr>
                                      <p:tavLst>
                                        <p:tav tm="0">
                                          <p:val>
                                            <p:strVal val="#ppt_x"/>
                                          </p:val>
                                        </p:tav>
                                        <p:tav tm="100000">
                                          <p:val>
                                            <p:strVal val="#ppt_x"/>
                                          </p:val>
                                        </p:tav>
                                      </p:tavLst>
                                    </p:anim>
                                    <p:anim calcmode="lin" valueType="num">
                                      <p:cBhvr additive="base">
                                        <p:cTn id="15" dur="6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par>
                          <p:cTn id="20" fill="hold">
                            <p:stCondLst>
                              <p:cond delay="1100"/>
                            </p:stCondLst>
                            <p:childTnLst>
                              <p:par>
                                <p:cTn id="21" presetID="42"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600"/>
                                        <p:tgtEl>
                                          <p:spTgt spid="14"/>
                                        </p:tgtEl>
                                      </p:cBhvr>
                                    </p:animEffect>
                                    <p:anim calcmode="lin" valueType="num">
                                      <p:cBhvr additive="base">
                                        <p:cTn id="24" dur="600" fill="hold"/>
                                        <p:tgtEl>
                                          <p:spTgt spid="14"/>
                                        </p:tgtEl>
                                        <p:attrNameLst>
                                          <p:attrName>ppt_x</p:attrName>
                                        </p:attrNameLst>
                                      </p:cBhvr>
                                      <p:tavLst>
                                        <p:tav tm="0">
                                          <p:val>
                                            <p:strVal val="#ppt_x"/>
                                          </p:val>
                                        </p:tav>
                                        <p:tav tm="100000">
                                          <p:val>
                                            <p:strVal val="#ppt_x"/>
                                          </p:val>
                                        </p:tav>
                                      </p:tavLst>
                                    </p:anim>
                                    <p:anim calcmode="lin" valueType="num">
                                      <p:cBhvr additive="base">
                                        <p:cTn id="25" dur="600" fill="hold"/>
                                        <p:tgtEl>
                                          <p:spTgt spid="14"/>
                                        </p:tgtEl>
                                        <p:attrNameLst>
                                          <p:attrName>ppt_y</p:attrName>
                                        </p:attrNameLst>
                                      </p:cBhvr>
                                      <p:tavLst>
                                        <p:tav tm="0">
                                          <p:val>
                                            <p:strVal val="#ppt_y+.1"/>
                                          </p:val>
                                        </p:tav>
                                        <p:tav tm="100000">
                                          <p:val>
                                            <p:strVal val="#ppt_y"/>
                                          </p:val>
                                        </p:tav>
                                      </p:tavLst>
                                    </p:anim>
                                  </p:childTnLst>
                                </p:cTn>
                              </p:par>
                            </p:childTnLst>
                          </p:cTn>
                        </p:par>
                        <p:par>
                          <p:cTn id="26" fill="hold">
                            <p:stCondLst>
                              <p:cond delay="1700"/>
                            </p:stCondLst>
                            <p:childTnLst>
                              <p:par>
                                <p:cTn id="27" presetID="10" presetClass="entr" presetSubtype="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par>
                          <p:cTn id="30" fill="hold">
                            <p:stCondLst>
                              <p:cond delay="2200"/>
                            </p:stCondLst>
                            <p:childTnLst>
                              <p:par>
                                <p:cTn id="31" presetID="42" presetClass="entr" presetSubtype="0" fill="hold" grpId="0" nodeType="after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600"/>
                                        <p:tgtEl>
                                          <p:spTgt spid="19"/>
                                        </p:tgtEl>
                                      </p:cBhvr>
                                    </p:animEffect>
                                    <p:anim calcmode="lin" valueType="num">
                                      <p:cBhvr additive="base">
                                        <p:cTn id="34" dur="600" fill="hold"/>
                                        <p:tgtEl>
                                          <p:spTgt spid="19"/>
                                        </p:tgtEl>
                                        <p:attrNameLst>
                                          <p:attrName>ppt_x</p:attrName>
                                        </p:attrNameLst>
                                      </p:cBhvr>
                                      <p:tavLst>
                                        <p:tav tm="0">
                                          <p:val>
                                            <p:strVal val="#ppt_x"/>
                                          </p:val>
                                        </p:tav>
                                        <p:tav tm="100000">
                                          <p:val>
                                            <p:strVal val="#ppt_x"/>
                                          </p:val>
                                        </p:tav>
                                      </p:tavLst>
                                    </p:anim>
                                    <p:anim calcmode="lin" valueType="num">
                                      <p:cBhvr additive="base">
                                        <p:cTn id="35" dur="600" fill="hold"/>
                                        <p:tgtEl>
                                          <p:spTgt spid="19"/>
                                        </p:tgtEl>
                                        <p:attrNameLst>
                                          <p:attrName>ppt_y</p:attrName>
                                        </p:attrNameLst>
                                      </p:cBhvr>
                                      <p:tavLst>
                                        <p:tav tm="0">
                                          <p:val>
                                            <p:strVal val="#ppt_y+.1"/>
                                          </p:val>
                                        </p:tav>
                                        <p:tav tm="100000">
                                          <p:val>
                                            <p:strVal val="#ppt_y"/>
                                          </p:val>
                                        </p:tav>
                                      </p:tavLst>
                                    </p:anim>
                                  </p:childTnLst>
                                </p:cTn>
                              </p:par>
                            </p:childTnLst>
                          </p:cTn>
                        </p:par>
                        <p:par>
                          <p:cTn id="36" fill="hold">
                            <p:stCondLst>
                              <p:cond delay="2800"/>
                            </p:stCondLst>
                            <p:childTnLst>
                              <p:par>
                                <p:cTn id="37" presetID="10" presetClass="entr" presetSubtype="0"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par>
                          <p:cTn id="49" fill="hold">
                            <p:stCondLst>
                              <p:cond delay="3300"/>
                            </p:stCondLst>
                            <p:childTnLst>
                              <p:par>
                                <p:cTn id="50" presetID="10" presetClass="entr" presetSubtype="0" fill="hold" grpId="0" nodeType="after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6" grpId="0"/>
      <p:bldP spid="28" grpId="0"/>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924"/>
        </a:solidFill>
        <a:effectLst/>
      </p:bgPr>
    </p:bg>
    <p:spTree>
      <p:nvGrpSpPr>
        <p:cNvPr id="1" name=""/>
        <p:cNvGrpSpPr/>
        <p:nvPr/>
      </p:nvGrpSpPr>
      <p:grpSpPr/>
      <p:sp>
        <p:nvSpPr>
          <p:cNvPr id="2" name="!!bar"/>
          <p:cNvSpPr/>
          <p:nvPr/>
        </p:nvSpPr>
        <p:spPr>
          <a:xfrm>
            <a:off x="812800" y="609600"/>
            <a:ext cx="457200" cy="50800"/>
          </a:xfrm>
          <a:prstGeom prst="roundRect">
            <a:avLst>
              <a:gd name="adj" fmla="val 50000"/>
            </a:avLst>
          </a:prstGeom>
          <a:solidFill>
            <a:srgbClr val="FF4655"/>
          </a:solidFill>
          <a:ln>
            <a:noFill/>
          </a:ln>
        </p:spPr>
      </p:sp>
      <p:sp>
        <p:nvSpPr>
          <p:cNvPr id="3" name="Eyebrow"/>
          <p:cNvSpPr txBox="1"/>
          <p:nvPr/>
        </p:nvSpPr>
        <p:spPr>
          <a:xfrm>
            <a:off x="812800" y="812800"/>
            <a:ext cx="10566400" cy="190500"/>
          </a:xfrm>
          <a:prstGeom prst="rect">
            <a:avLst/>
          </a:prstGeom>
          <a:noFill/>
          <a:ln>
            <a:noFill/>
          </a:ln>
        </p:spPr>
        <p:txBody>
          <a:bodyPr wrap="square" lIns="0" tIns="0" rIns="0" bIns="0" anchor="t" rtlCol="0">
            <a:noAutofit/>
          </a:bodyPr>
          <a:lstStyle/>
          <a:p>
            <a:pPr algn="l"/>
            <a:r>
              <a:rPr lang="en-US" sz="1200" b="1" dirty="0" spc="200" cap="all">
                <a:solidFill>
                  <a:srgbClr val="FF4655"/>
                </a:solidFill>
                <a:latin typeface="Inter"/>
                <a:cs typeface="Inter"/>
              </a:rPr>
              <a:t>04 — Business Value</a:t>
            </a:r>
            <a:endParaRPr lang="en-US" sz="1200" b="1" dirty="0" spc="200" cap="all">
              <a:solidFill>
                <a:srgbClr val="FF4655"/>
              </a:solidFill>
              <a:latin typeface="Inter"/>
              <a:cs typeface="Inter"/>
            </a:endParaRPr>
          </a:p>
        </p:txBody>
      </p:sp>
      <p:sp>
        <p:nvSpPr>
          <p:cNvPr id="4" name="Title"/>
          <p:cNvSpPr txBox="1"/>
          <p:nvPr/>
        </p:nvSpPr>
        <p:spPr>
          <a:xfrm>
            <a:off x="812800" y="1034288"/>
            <a:ext cx="10566400" cy="730250"/>
          </a:xfrm>
          <a:prstGeom prst="rect">
            <a:avLst/>
          </a:prstGeom>
          <a:noFill/>
          <a:ln>
            <a:noFill/>
          </a:ln>
        </p:spPr>
        <p:txBody>
          <a:bodyPr wrap="square" lIns="0" tIns="0" rIns="0" bIns="0" anchor="t" rtlCol="0">
            <a:noAutofit/>
          </a:bodyPr>
          <a:lstStyle/>
          <a:p>
            <a:pPr algn="l"/>
            <a:r>
              <a:rPr lang="en-US" sz="4400" b="1" dirty="0" spc="-100">
                <a:solidFill>
                  <a:srgbClr val="EEF2F5"/>
                </a:solidFill>
                <a:latin typeface="Space Grotesk"/>
                <a:cs typeface="Space Grotesk"/>
              </a:rPr>
              <a:t>How much is the fish?</a:t>
            </a:r>
            <a:endParaRPr lang="en-US" sz="4400" b="1" dirty="0" spc="-100">
              <a:solidFill>
                <a:srgbClr val="EEF2F5"/>
              </a:solidFill>
              <a:latin typeface="Space Grotesk"/>
              <a:cs typeface="Space Grotesk"/>
            </a:endParaRPr>
          </a:p>
        </p:txBody>
      </p:sp>
      <p:grpSp>
        <p:nvGrpSpPr>
          <p:cNvPr id="5" name="Stat 3 h"/>
          <p:cNvGrpSpPr/>
          <p:nvPr/>
        </p:nvGrpSpPr>
        <p:grpSpPr>
          <a:xfrm>
            <a:off x="812800" y="2159000"/>
            <a:ext cx="2336800" cy="1524000"/>
            <a:chOff x="812800" y="2159000"/>
            <a:chExt cx="2336800" cy="1524000"/>
          </a:xfrm>
        </p:grpSpPr>
        <p:sp>
          <p:nvSpPr>
            <p:cNvPr id="6" name="Card"/>
            <p:cNvSpPr/>
            <p:nvPr/>
          </p:nvSpPr>
          <p:spPr>
            <a:xfrm>
              <a:off x="812800" y="2159000"/>
              <a:ext cx="2336800" cy="1524000"/>
            </a:xfrm>
            <a:prstGeom prst="roundRect">
              <a:avLst>
                <a:gd name="adj" fmla="val 8333"/>
              </a:avLst>
            </a:prstGeom>
            <a:solidFill>
              <a:srgbClr val="172433"/>
            </a:solidFill>
            <a:ln w="6350">
              <a:solidFill>
                <a:srgbClr val="2B3D50"/>
              </a:solidFill>
            </a:ln>
          </p:spPr>
        </p:sp>
        <p:sp>
          <p:nvSpPr>
            <p:cNvPr id="7" name="Value"/>
            <p:cNvSpPr txBox="1"/>
            <p:nvPr/>
          </p:nvSpPr>
          <p:spPr>
            <a:xfrm>
              <a:off x="1066800" y="2334768"/>
              <a:ext cx="1905000" cy="717550"/>
            </a:xfrm>
            <a:prstGeom prst="rect">
              <a:avLst/>
            </a:prstGeom>
            <a:noFill/>
            <a:ln>
              <a:noFill/>
            </a:ln>
          </p:spPr>
          <p:txBody>
            <a:bodyPr wrap="square" lIns="0" tIns="0" rIns="0" bIns="0" anchor="t" rtlCol="0">
              <a:noAutofit/>
            </a:bodyPr>
            <a:lstStyle/>
            <a:p>
              <a:pPr algn="l"/>
              <a:r>
                <a:rPr lang="en-US" sz="4400" b="1" dirty="0">
                  <a:solidFill>
                    <a:srgbClr val="EEF2F5"/>
                  </a:solidFill>
                  <a:latin typeface="Space Grotesk"/>
                  <a:cs typeface="Space Grotesk"/>
                </a:rPr>
                <a:t>3 h</a:t>
              </a:r>
              <a:endParaRPr lang="en-US" sz="4400" b="1" dirty="0">
                <a:solidFill>
                  <a:srgbClr val="EEF2F5"/>
                </a:solidFill>
                <a:latin typeface="Space Grotesk"/>
                <a:cs typeface="Space Grotesk"/>
              </a:endParaRPr>
            </a:p>
          </p:txBody>
        </p:sp>
        <p:sp>
          <p:nvSpPr>
            <p:cNvPr id="8" name="Label"/>
            <p:cNvSpPr txBox="1"/>
            <p:nvPr/>
          </p:nvSpPr>
          <p:spPr>
            <a:xfrm>
              <a:off x="1066800" y="3048000"/>
              <a:ext cx="1828800" cy="256540"/>
            </a:xfrm>
            <a:prstGeom prst="rect">
              <a:avLst/>
            </a:prstGeom>
            <a:noFill/>
            <a:ln>
              <a:noFill/>
            </a:ln>
          </p:spPr>
          <p:txBody>
            <a:bodyPr wrap="square" lIns="0" tIns="0" rIns="0" bIns="0" anchor="t" rtlCol="0">
              <a:noAutofit/>
            </a:bodyPr>
            <a:lstStyle/>
            <a:p>
              <a:pPr algn="l">
                <a:lnSpc>
                  <a:spcPts val="1820"/>
                </a:lnSpc>
              </a:pPr>
              <a:r>
                <a:rPr lang="en-US" sz="1400" b="0" dirty="0">
                  <a:solidFill>
                    <a:srgbClr val="B4C2CF"/>
                  </a:solidFill>
                  <a:latin typeface="Inter"/>
                  <a:cs typeface="Inter"/>
                </a:rPr>
                <a:t>average per drawing</a:t>
              </a:r>
              <a:endParaRPr lang="en-US" sz="1400" b="0" dirty="0">
                <a:solidFill>
                  <a:srgbClr val="B4C2CF"/>
                </a:solidFill>
                <a:latin typeface="Inter"/>
                <a:cs typeface="Inter"/>
              </a:endParaRPr>
            </a:p>
          </p:txBody>
        </p:sp>
      </p:grpSp>
      <p:grpSp>
        <p:nvGrpSpPr>
          <p:cNvPr id="9" name="Stat €50"/>
          <p:cNvGrpSpPr/>
          <p:nvPr/>
        </p:nvGrpSpPr>
        <p:grpSpPr>
          <a:xfrm>
            <a:off x="3352800" y="2159000"/>
            <a:ext cx="2336800" cy="1524000"/>
            <a:chOff x="3352800" y="2159000"/>
            <a:chExt cx="2336800" cy="1524000"/>
          </a:xfrm>
        </p:grpSpPr>
        <p:sp>
          <p:nvSpPr>
            <p:cNvPr id="10" name="Card"/>
            <p:cNvSpPr/>
            <p:nvPr/>
          </p:nvSpPr>
          <p:spPr>
            <a:xfrm>
              <a:off x="3352800" y="2159000"/>
              <a:ext cx="2336800" cy="1524000"/>
            </a:xfrm>
            <a:prstGeom prst="roundRect">
              <a:avLst>
                <a:gd name="adj" fmla="val 8333"/>
              </a:avLst>
            </a:prstGeom>
            <a:solidFill>
              <a:srgbClr val="172433"/>
            </a:solidFill>
            <a:ln w="6350">
              <a:solidFill>
                <a:srgbClr val="2B3D50"/>
              </a:solidFill>
            </a:ln>
          </p:spPr>
        </p:sp>
        <p:sp>
          <p:nvSpPr>
            <p:cNvPr id="11" name="Value"/>
            <p:cNvSpPr txBox="1"/>
            <p:nvPr/>
          </p:nvSpPr>
          <p:spPr>
            <a:xfrm>
              <a:off x="3606800" y="2334768"/>
              <a:ext cx="1905000" cy="717550"/>
            </a:xfrm>
            <a:prstGeom prst="rect">
              <a:avLst/>
            </a:prstGeom>
            <a:noFill/>
            <a:ln>
              <a:noFill/>
            </a:ln>
          </p:spPr>
          <p:txBody>
            <a:bodyPr wrap="square" lIns="0" tIns="0" rIns="0" bIns="0" anchor="t" rtlCol="0">
              <a:noAutofit/>
            </a:bodyPr>
            <a:lstStyle/>
            <a:p>
              <a:pPr algn="l"/>
              <a:r>
                <a:rPr lang="en-US" sz="4400" b="1" dirty="0">
                  <a:solidFill>
                    <a:srgbClr val="EEF2F5"/>
                  </a:solidFill>
                  <a:latin typeface="Space Grotesk"/>
                  <a:cs typeface="Space Grotesk"/>
                </a:rPr>
                <a:t>€50</a:t>
              </a:r>
              <a:endParaRPr lang="en-US" sz="4400" b="1" dirty="0">
                <a:solidFill>
                  <a:srgbClr val="EEF2F5"/>
                </a:solidFill>
                <a:latin typeface="Space Grotesk"/>
                <a:cs typeface="Space Grotesk"/>
              </a:endParaRPr>
            </a:p>
          </p:txBody>
        </p:sp>
        <p:sp>
          <p:nvSpPr>
            <p:cNvPr id="12" name="Label"/>
            <p:cNvSpPr txBox="1"/>
            <p:nvPr/>
          </p:nvSpPr>
          <p:spPr>
            <a:xfrm>
              <a:off x="3606800" y="3048000"/>
              <a:ext cx="1828800" cy="487680"/>
            </a:xfrm>
            <a:prstGeom prst="rect">
              <a:avLst/>
            </a:prstGeom>
            <a:noFill/>
            <a:ln>
              <a:noFill/>
            </a:ln>
          </p:spPr>
          <p:txBody>
            <a:bodyPr wrap="square" lIns="0" tIns="0" rIns="0" bIns="0" anchor="t" rtlCol="0">
              <a:noAutofit/>
            </a:bodyPr>
            <a:lstStyle/>
            <a:p>
              <a:pPr algn="l">
                <a:lnSpc>
                  <a:spcPts val="1820"/>
                </a:lnSpc>
              </a:pPr>
              <a:r>
                <a:rPr lang="en-US" sz="1400" b="0" dirty="0">
                  <a:solidFill>
                    <a:srgbClr val="B4C2CF"/>
                  </a:solidFill>
                  <a:latin typeface="Inter"/>
                  <a:cs typeface="Inter"/>
                </a:rPr>
                <a:t>personnel cost per hour</a:t>
              </a:r>
              <a:endParaRPr lang="en-US" sz="1400" b="0" dirty="0">
                <a:solidFill>
                  <a:srgbClr val="B4C2CF"/>
                </a:solidFill>
                <a:latin typeface="Inter"/>
                <a:cs typeface="Inter"/>
              </a:endParaRPr>
            </a:p>
          </p:txBody>
        </p:sp>
      </p:grpSp>
      <p:grpSp>
        <p:nvGrpSpPr>
          <p:cNvPr id="13" name="Stat €150"/>
          <p:cNvGrpSpPr/>
          <p:nvPr/>
        </p:nvGrpSpPr>
        <p:grpSpPr>
          <a:xfrm>
            <a:off x="5892800" y="2159000"/>
            <a:ext cx="2336800" cy="1524000"/>
            <a:chOff x="5892800" y="2159000"/>
            <a:chExt cx="2336800" cy="1524000"/>
          </a:xfrm>
        </p:grpSpPr>
        <p:sp>
          <p:nvSpPr>
            <p:cNvPr id="14" name="Card"/>
            <p:cNvSpPr/>
            <p:nvPr/>
          </p:nvSpPr>
          <p:spPr>
            <a:xfrm>
              <a:off x="5892800" y="2159000"/>
              <a:ext cx="2336800" cy="1524000"/>
            </a:xfrm>
            <a:prstGeom prst="roundRect">
              <a:avLst>
                <a:gd name="adj" fmla="val 8333"/>
              </a:avLst>
            </a:prstGeom>
            <a:solidFill>
              <a:srgbClr val="172433"/>
            </a:solidFill>
            <a:ln w="12700">
              <a:solidFill>
                <a:srgbClr val="FF4655"/>
              </a:solidFill>
            </a:ln>
          </p:spPr>
        </p:sp>
        <p:sp>
          <p:nvSpPr>
            <p:cNvPr id="15" name="Value"/>
            <p:cNvSpPr txBox="1"/>
            <p:nvPr/>
          </p:nvSpPr>
          <p:spPr>
            <a:xfrm>
              <a:off x="6146800" y="2334768"/>
              <a:ext cx="1905000" cy="717550"/>
            </a:xfrm>
            <a:prstGeom prst="rect">
              <a:avLst/>
            </a:prstGeom>
            <a:noFill/>
            <a:ln>
              <a:noFill/>
            </a:ln>
          </p:spPr>
          <p:txBody>
            <a:bodyPr wrap="square" lIns="0" tIns="0" rIns="0" bIns="0" anchor="t" rtlCol="0">
              <a:noAutofit/>
            </a:bodyPr>
            <a:lstStyle/>
            <a:p>
              <a:pPr algn="l"/>
              <a:r>
                <a:rPr lang="en-US" sz="4400" b="1" dirty="0">
                  <a:solidFill>
                    <a:srgbClr val="FF4655"/>
                  </a:solidFill>
                  <a:latin typeface="Space Grotesk"/>
                  <a:cs typeface="Space Grotesk"/>
                </a:rPr>
                <a:t>€150</a:t>
              </a:r>
              <a:endParaRPr lang="en-US" sz="4400" b="1" dirty="0">
                <a:solidFill>
                  <a:srgbClr val="FF4655"/>
                </a:solidFill>
                <a:latin typeface="Space Grotesk"/>
                <a:cs typeface="Space Grotesk"/>
              </a:endParaRPr>
            </a:p>
          </p:txBody>
        </p:sp>
        <p:sp>
          <p:nvSpPr>
            <p:cNvPr id="16" name="Label"/>
            <p:cNvSpPr txBox="1"/>
            <p:nvPr/>
          </p:nvSpPr>
          <p:spPr>
            <a:xfrm>
              <a:off x="6146800" y="3048000"/>
              <a:ext cx="1828800" cy="487680"/>
            </a:xfrm>
            <a:prstGeom prst="rect">
              <a:avLst/>
            </a:prstGeom>
            <a:noFill/>
            <a:ln>
              <a:noFill/>
            </a:ln>
          </p:spPr>
          <p:txBody>
            <a:bodyPr wrap="square" lIns="0" tIns="0" rIns="0" bIns="0" anchor="t" rtlCol="0">
              <a:noAutofit/>
            </a:bodyPr>
            <a:lstStyle/>
            <a:p>
              <a:pPr algn="l">
                <a:lnSpc>
                  <a:spcPts val="1820"/>
                </a:lnSpc>
              </a:pPr>
              <a:r>
                <a:rPr lang="en-US" sz="1400" b="0" dirty="0">
                  <a:solidFill>
                    <a:srgbClr val="B4C2CF"/>
                  </a:solidFill>
                  <a:latin typeface="Inter"/>
                  <a:cs typeface="Inter"/>
                </a:rPr>
                <a:t>manual cost per drawing</a:t>
              </a:r>
              <a:endParaRPr lang="en-US" sz="1400" b="0" dirty="0">
                <a:solidFill>
                  <a:srgbClr val="B4C2CF"/>
                </a:solidFill>
                <a:latin typeface="Inter"/>
                <a:cs typeface="Inter"/>
              </a:endParaRPr>
            </a:p>
          </p:txBody>
        </p:sp>
      </p:grpSp>
      <p:grpSp>
        <p:nvGrpSpPr>
          <p:cNvPr id="17" name="Saving 500"/>
          <p:cNvGrpSpPr/>
          <p:nvPr/>
        </p:nvGrpSpPr>
        <p:grpSpPr>
          <a:xfrm>
            <a:off x="812800" y="3873500"/>
            <a:ext cx="2336800" cy="1714500"/>
            <a:chOff x="812800" y="3873500"/>
            <a:chExt cx="2336800" cy="1714500"/>
          </a:xfrm>
        </p:grpSpPr>
        <p:sp>
          <p:nvSpPr>
            <p:cNvPr id="18" name="Card"/>
            <p:cNvSpPr/>
            <p:nvPr/>
          </p:nvSpPr>
          <p:spPr>
            <a:xfrm>
              <a:off x="812800" y="3873500"/>
              <a:ext cx="2336800" cy="1714500"/>
            </a:xfrm>
            <a:prstGeom prst="roundRect">
              <a:avLst>
                <a:gd name="adj" fmla="val 7407"/>
              </a:avLst>
            </a:prstGeom>
            <a:solidFill>
              <a:srgbClr val="172433"/>
            </a:solidFill>
            <a:ln w="6350">
              <a:solidFill>
                <a:srgbClr val="2B3D50"/>
              </a:solidFill>
            </a:ln>
          </p:spPr>
        </p:sp>
        <p:sp>
          <p:nvSpPr>
            <p:cNvPr id="19" name="Drawings"/>
            <p:cNvSpPr txBox="1"/>
            <p:nvPr/>
          </p:nvSpPr>
          <p:spPr>
            <a:xfrm>
              <a:off x="1066800" y="4034028"/>
              <a:ext cx="1828800" cy="393700"/>
            </a:xfrm>
            <a:prstGeom prst="rect">
              <a:avLst/>
            </a:prstGeom>
            <a:noFill/>
            <a:ln>
              <a:noFill/>
            </a:ln>
          </p:spPr>
          <p:txBody>
            <a:bodyPr wrap="square" lIns="0" tIns="0" rIns="0" bIns="0" anchor="t" rtlCol="0">
              <a:noAutofit/>
            </a:bodyPr>
            <a:lstStyle/>
            <a:p>
              <a:pPr algn="l"/>
              <a:r>
                <a:rPr lang="en-US" sz="2400" b="1" dirty="0">
                  <a:solidFill>
                    <a:srgbClr val="EEF2F5"/>
                  </a:solidFill>
                  <a:latin typeface="Space Grotesk"/>
                  <a:cs typeface="Space Grotesk"/>
                </a:rPr>
                <a:t>500</a:t>
              </a:r>
              <a:r>
                <a:rPr lang="en-US" sz="1200" b="1" dirty="0">
                  <a:solidFill>
                    <a:srgbClr val="B4C2CF"/>
                  </a:solidFill>
                  <a:latin typeface="Inter"/>
                  <a:cs typeface="Inter"/>
                </a:rPr>
                <a:t xml:space="preserve"> drawings</a:t>
              </a:r>
              <a:endParaRPr lang="en-US" sz="1200" b="1" dirty="0">
                <a:solidFill>
                  <a:srgbClr val="B4C2CF"/>
                </a:solidFill>
                <a:latin typeface="Inter"/>
                <a:cs typeface="Inter"/>
              </a:endParaRPr>
            </a:p>
          </p:txBody>
        </p:sp>
        <p:sp>
          <p:nvSpPr>
            <p:cNvPr id="20" name="Divider"/>
            <p:cNvSpPr/>
            <p:nvPr/>
          </p:nvSpPr>
          <p:spPr>
            <a:xfrm>
              <a:off x="1066800" y="4572000"/>
              <a:ext cx="1828800" cy="12700"/>
            </a:xfrm>
            <a:prstGeom prst="rect">
              <a:avLst/>
            </a:prstGeom>
            <a:solidFill>
              <a:srgbClr val="2B3D50"/>
            </a:solidFill>
            <a:ln>
              <a:noFill/>
            </a:ln>
          </p:spPr>
        </p:sp>
        <p:sp>
          <p:nvSpPr>
            <p:cNvPr id="21" name="Saved value"/>
            <p:cNvSpPr txBox="1"/>
            <p:nvPr/>
          </p:nvSpPr>
          <p:spPr>
            <a:xfrm>
              <a:off x="1066800" y="4731385"/>
              <a:ext cx="1905000" cy="495300"/>
            </a:xfrm>
            <a:prstGeom prst="rect">
              <a:avLst/>
            </a:prstGeom>
            <a:noFill/>
            <a:ln>
              <a:noFill/>
            </a:ln>
          </p:spPr>
          <p:txBody>
            <a:bodyPr wrap="none" lIns="0" tIns="0" rIns="0" bIns="0" anchor="t" rtlCol="0">
              <a:noAutofit/>
            </a:bodyPr>
            <a:lstStyle/>
            <a:p>
              <a:pPr algn="l"/>
              <a:r>
                <a:rPr lang="en-US" sz="3000" b="1" dirty="0" spc="-100">
                  <a:solidFill>
                    <a:srgbClr val="B5E655"/>
                  </a:solidFill>
                  <a:latin typeface="Space Grotesk"/>
                  <a:cs typeface="Space Grotesk"/>
                </a:rPr>
                <a:t>€75,000</a:t>
              </a:r>
              <a:endParaRPr lang="en-US" sz="3000" b="1" dirty="0" spc="-100">
                <a:solidFill>
                  <a:srgbClr val="B5E655"/>
                </a:solidFill>
                <a:latin typeface="Space Grotesk"/>
                <a:cs typeface="Space Grotesk"/>
              </a:endParaRPr>
            </a:p>
          </p:txBody>
        </p:sp>
        <p:sp>
          <p:nvSpPr>
            <p:cNvPr id="22" name="Saved"/>
            <p:cNvSpPr txBox="1"/>
            <p:nvPr/>
          </p:nvSpPr>
          <p:spPr>
            <a:xfrm>
              <a:off x="1066800" y="5200650"/>
              <a:ext cx="1828800" cy="190500"/>
            </a:xfrm>
            <a:prstGeom prst="rect">
              <a:avLst/>
            </a:prstGeom>
            <a:noFill/>
            <a:ln>
              <a:noFill/>
            </a:ln>
          </p:spPr>
          <p:txBody>
            <a:bodyPr wrap="square" lIns="0" tIns="0" rIns="0" bIns="0" anchor="t" rtlCol="0">
              <a:noAutofit/>
            </a:bodyPr>
            <a:lstStyle/>
            <a:p>
              <a:pPr algn="l"/>
              <a:r>
                <a:rPr lang="en-US" sz="1200" b="1" dirty="0" spc="200" cap="all">
                  <a:solidFill>
                    <a:srgbClr val="B4C2CF"/>
                  </a:solidFill>
                  <a:latin typeface="Inter"/>
                  <a:cs typeface="Inter"/>
                </a:rPr>
                <a:t>Saved</a:t>
              </a:r>
              <a:endParaRPr lang="en-US" sz="1200" b="1" dirty="0" spc="200" cap="all">
                <a:solidFill>
                  <a:srgbClr val="B4C2CF"/>
                </a:solidFill>
                <a:latin typeface="Inter"/>
                <a:cs typeface="Inter"/>
              </a:endParaRPr>
            </a:p>
          </p:txBody>
        </p:sp>
      </p:grpSp>
      <p:grpSp>
        <p:nvGrpSpPr>
          <p:cNvPr id="23" name="Saving 2,000"/>
          <p:cNvGrpSpPr/>
          <p:nvPr/>
        </p:nvGrpSpPr>
        <p:grpSpPr>
          <a:xfrm>
            <a:off x="3352800" y="3873500"/>
            <a:ext cx="2336800" cy="1714500"/>
            <a:chOff x="3352800" y="3873500"/>
            <a:chExt cx="2336800" cy="1714500"/>
          </a:xfrm>
        </p:grpSpPr>
        <p:sp>
          <p:nvSpPr>
            <p:cNvPr id="24" name="Card"/>
            <p:cNvSpPr/>
            <p:nvPr/>
          </p:nvSpPr>
          <p:spPr>
            <a:xfrm>
              <a:off x="3352800" y="3873500"/>
              <a:ext cx="2336800" cy="1714500"/>
            </a:xfrm>
            <a:prstGeom prst="roundRect">
              <a:avLst>
                <a:gd name="adj" fmla="val 7407"/>
              </a:avLst>
            </a:prstGeom>
            <a:solidFill>
              <a:srgbClr val="172433"/>
            </a:solidFill>
            <a:ln w="6350">
              <a:solidFill>
                <a:srgbClr val="2B3D50"/>
              </a:solidFill>
            </a:ln>
          </p:spPr>
        </p:sp>
        <p:sp>
          <p:nvSpPr>
            <p:cNvPr id="25" name="Drawings"/>
            <p:cNvSpPr txBox="1"/>
            <p:nvPr/>
          </p:nvSpPr>
          <p:spPr>
            <a:xfrm>
              <a:off x="3606800" y="4034028"/>
              <a:ext cx="1828800" cy="393700"/>
            </a:xfrm>
            <a:prstGeom prst="rect">
              <a:avLst/>
            </a:prstGeom>
            <a:noFill/>
            <a:ln>
              <a:noFill/>
            </a:ln>
          </p:spPr>
          <p:txBody>
            <a:bodyPr wrap="square" lIns="0" tIns="0" rIns="0" bIns="0" anchor="t" rtlCol="0">
              <a:noAutofit/>
            </a:bodyPr>
            <a:lstStyle/>
            <a:p>
              <a:pPr algn="l"/>
              <a:r>
                <a:rPr lang="en-US" sz="2400" b="1" dirty="0">
                  <a:solidFill>
                    <a:srgbClr val="EEF2F5"/>
                  </a:solidFill>
                  <a:latin typeface="Space Grotesk"/>
                  <a:cs typeface="Space Grotesk"/>
                </a:rPr>
                <a:t>2,000</a:t>
              </a:r>
              <a:r>
                <a:rPr lang="en-US" sz="1200" b="1" dirty="0">
                  <a:solidFill>
                    <a:srgbClr val="B4C2CF"/>
                  </a:solidFill>
                  <a:latin typeface="Inter"/>
                  <a:cs typeface="Inter"/>
                </a:rPr>
                <a:t xml:space="preserve"> drawings</a:t>
              </a:r>
              <a:endParaRPr lang="en-US" sz="1200" b="1" dirty="0">
                <a:solidFill>
                  <a:srgbClr val="B4C2CF"/>
                </a:solidFill>
                <a:latin typeface="Inter"/>
                <a:cs typeface="Inter"/>
              </a:endParaRPr>
            </a:p>
          </p:txBody>
        </p:sp>
        <p:sp>
          <p:nvSpPr>
            <p:cNvPr id="26" name="Divider"/>
            <p:cNvSpPr/>
            <p:nvPr/>
          </p:nvSpPr>
          <p:spPr>
            <a:xfrm>
              <a:off x="3606800" y="4572000"/>
              <a:ext cx="1828800" cy="12700"/>
            </a:xfrm>
            <a:prstGeom prst="rect">
              <a:avLst/>
            </a:prstGeom>
            <a:solidFill>
              <a:srgbClr val="2B3D50"/>
            </a:solidFill>
            <a:ln>
              <a:noFill/>
            </a:ln>
          </p:spPr>
        </p:sp>
        <p:sp>
          <p:nvSpPr>
            <p:cNvPr id="27" name="Saved value"/>
            <p:cNvSpPr txBox="1"/>
            <p:nvPr/>
          </p:nvSpPr>
          <p:spPr>
            <a:xfrm>
              <a:off x="3606800" y="4731385"/>
              <a:ext cx="1905000" cy="495300"/>
            </a:xfrm>
            <a:prstGeom prst="rect">
              <a:avLst/>
            </a:prstGeom>
            <a:noFill/>
            <a:ln>
              <a:noFill/>
            </a:ln>
          </p:spPr>
          <p:txBody>
            <a:bodyPr wrap="none" lIns="0" tIns="0" rIns="0" bIns="0" anchor="t" rtlCol="0">
              <a:noAutofit/>
            </a:bodyPr>
            <a:lstStyle/>
            <a:p>
              <a:pPr algn="l"/>
              <a:r>
                <a:rPr lang="en-US" sz="3000" b="1" dirty="0" spc="-100">
                  <a:solidFill>
                    <a:srgbClr val="B5E655"/>
                  </a:solidFill>
                  <a:latin typeface="Space Grotesk"/>
                  <a:cs typeface="Space Grotesk"/>
                </a:rPr>
                <a:t>€300,000</a:t>
              </a:r>
              <a:endParaRPr lang="en-US" sz="3000" b="1" dirty="0" spc="-100">
                <a:solidFill>
                  <a:srgbClr val="B5E655"/>
                </a:solidFill>
                <a:latin typeface="Space Grotesk"/>
                <a:cs typeface="Space Grotesk"/>
              </a:endParaRPr>
            </a:p>
          </p:txBody>
        </p:sp>
        <p:sp>
          <p:nvSpPr>
            <p:cNvPr id="28" name="Saved"/>
            <p:cNvSpPr txBox="1"/>
            <p:nvPr/>
          </p:nvSpPr>
          <p:spPr>
            <a:xfrm>
              <a:off x="3606800" y="5200650"/>
              <a:ext cx="1828800" cy="190500"/>
            </a:xfrm>
            <a:prstGeom prst="rect">
              <a:avLst/>
            </a:prstGeom>
            <a:noFill/>
            <a:ln>
              <a:noFill/>
            </a:ln>
          </p:spPr>
          <p:txBody>
            <a:bodyPr wrap="square" lIns="0" tIns="0" rIns="0" bIns="0" anchor="t" rtlCol="0">
              <a:noAutofit/>
            </a:bodyPr>
            <a:lstStyle/>
            <a:p>
              <a:pPr algn="l"/>
              <a:r>
                <a:rPr lang="en-US" sz="1200" b="1" dirty="0" spc="200" cap="all">
                  <a:solidFill>
                    <a:srgbClr val="B4C2CF"/>
                  </a:solidFill>
                  <a:latin typeface="Inter"/>
                  <a:cs typeface="Inter"/>
                </a:rPr>
                <a:t>Saved</a:t>
              </a:r>
              <a:endParaRPr lang="en-US" sz="1200" b="1" dirty="0" spc="200" cap="all">
                <a:solidFill>
                  <a:srgbClr val="B4C2CF"/>
                </a:solidFill>
                <a:latin typeface="Inter"/>
                <a:cs typeface="Inter"/>
              </a:endParaRPr>
            </a:p>
          </p:txBody>
        </p:sp>
      </p:grpSp>
      <p:grpSp>
        <p:nvGrpSpPr>
          <p:cNvPr id="29" name="Saving 5,000"/>
          <p:cNvGrpSpPr/>
          <p:nvPr/>
        </p:nvGrpSpPr>
        <p:grpSpPr>
          <a:xfrm>
            <a:off x="5892800" y="3873500"/>
            <a:ext cx="2336800" cy="1714500"/>
            <a:chOff x="5892800" y="3873500"/>
            <a:chExt cx="2336800" cy="1714500"/>
          </a:xfrm>
        </p:grpSpPr>
        <p:sp>
          <p:nvSpPr>
            <p:cNvPr id="30" name="Card"/>
            <p:cNvSpPr/>
            <p:nvPr/>
          </p:nvSpPr>
          <p:spPr>
            <a:xfrm>
              <a:off x="5892800" y="3873500"/>
              <a:ext cx="2336800" cy="1714500"/>
            </a:xfrm>
            <a:prstGeom prst="roundRect">
              <a:avLst>
                <a:gd name="adj" fmla="val 7407"/>
              </a:avLst>
            </a:prstGeom>
            <a:solidFill>
              <a:srgbClr val="172433"/>
            </a:solidFill>
            <a:ln w="6350">
              <a:solidFill>
                <a:srgbClr val="2B3D50"/>
              </a:solidFill>
            </a:ln>
          </p:spPr>
        </p:sp>
        <p:sp>
          <p:nvSpPr>
            <p:cNvPr id="31" name="Drawings"/>
            <p:cNvSpPr txBox="1"/>
            <p:nvPr/>
          </p:nvSpPr>
          <p:spPr>
            <a:xfrm>
              <a:off x="6146800" y="4034028"/>
              <a:ext cx="1828800" cy="393700"/>
            </a:xfrm>
            <a:prstGeom prst="rect">
              <a:avLst/>
            </a:prstGeom>
            <a:noFill/>
            <a:ln>
              <a:noFill/>
            </a:ln>
          </p:spPr>
          <p:txBody>
            <a:bodyPr wrap="square" lIns="0" tIns="0" rIns="0" bIns="0" anchor="t" rtlCol="0">
              <a:noAutofit/>
            </a:bodyPr>
            <a:lstStyle/>
            <a:p>
              <a:pPr algn="l"/>
              <a:r>
                <a:rPr lang="en-US" sz="2400" b="1" dirty="0">
                  <a:solidFill>
                    <a:srgbClr val="EEF2F5"/>
                  </a:solidFill>
                  <a:latin typeface="Space Grotesk"/>
                  <a:cs typeface="Space Grotesk"/>
                </a:rPr>
                <a:t>5,000</a:t>
              </a:r>
              <a:r>
                <a:rPr lang="en-US" sz="1200" b="1" dirty="0">
                  <a:solidFill>
                    <a:srgbClr val="B4C2CF"/>
                  </a:solidFill>
                  <a:latin typeface="Inter"/>
                  <a:cs typeface="Inter"/>
                </a:rPr>
                <a:t xml:space="preserve"> drawings</a:t>
              </a:r>
              <a:endParaRPr lang="en-US" sz="1200" b="1" dirty="0">
                <a:solidFill>
                  <a:srgbClr val="B4C2CF"/>
                </a:solidFill>
                <a:latin typeface="Inter"/>
                <a:cs typeface="Inter"/>
              </a:endParaRPr>
            </a:p>
          </p:txBody>
        </p:sp>
        <p:sp>
          <p:nvSpPr>
            <p:cNvPr id="32" name="Divider"/>
            <p:cNvSpPr/>
            <p:nvPr/>
          </p:nvSpPr>
          <p:spPr>
            <a:xfrm>
              <a:off x="6146800" y="4572000"/>
              <a:ext cx="1828800" cy="12700"/>
            </a:xfrm>
            <a:prstGeom prst="rect">
              <a:avLst/>
            </a:prstGeom>
            <a:solidFill>
              <a:srgbClr val="2B3D50"/>
            </a:solidFill>
            <a:ln>
              <a:noFill/>
            </a:ln>
          </p:spPr>
        </p:sp>
        <p:sp>
          <p:nvSpPr>
            <p:cNvPr id="33" name="Saved value"/>
            <p:cNvSpPr txBox="1"/>
            <p:nvPr/>
          </p:nvSpPr>
          <p:spPr>
            <a:xfrm>
              <a:off x="6146800" y="4731385"/>
              <a:ext cx="1905000" cy="495300"/>
            </a:xfrm>
            <a:prstGeom prst="rect">
              <a:avLst/>
            </a:prstGeom>
            <a:noFill/>
            <a:ln>
              <a:noFill/>
            </a:ln>
          </p:spPr>
          <p:txBody>
            <a:bodyPr wrap="none" lIns="0" tIns="0" rIns="0" bIns="0" anchor="t" rtlCol="0">
              <a:noAutofit/>
            </a:bodyPr>
            <a:lstStyle/>
            <a:p>
              <a:pPr algn="l"/>
              <a:r>
                <a:rPr lang="en-US" sz="3000" b="1" dirty="0" spc="-100">
                  <a:solidFill>
                    <a:srgbClr val="B5E655"/>
                  </a:solidFill>
                  <a:latin typeface="Space Grotesk"/>
                  <a:cs typeface="Space Grotesk"/>
                </a:rPr>
                <a:t>€750,000</a:t>
              </a:r>
              <a:endParaRPr lang="en-US" sz="3000" b="1" dirty="0" spc="-100">
                <a:solidFill>
                  <a:srgbClr val="B5E655"/>
                </a:solidFill>
                <a:latin typeface="Space Grotesk"/>
                <a:cs typeface="Space Grotesk"/>
              </a:endParaRPr>
            </a:p>
          </p:txBody>
        </p:sp>
        <p:sp>
          <p:nvSpPr>
            <p:cNvPr id="34" name="Saved"/>
            <p:cNvSpPr txBox="1"/>
            <p:nvPr/>
          </p:nvSpPr>
          <p:spPr>
            <a:xfrm>
              <a:off x="6146800" y="5200650"/>
              <a:ext cx="1828800" cy="190500"/>
            </a:xfrm>
            <a:prstGeom prst="rect">
              <a:avLst/>
            </a:prstGeom>
            <a:noFill/>
            <a:ln>
              <a:noFill/>
            </a:ln>
          </p:spPr>
          <p:txBody>
            <a:bodyPr wrap="square" lIns="0" tIns="0" rIns="0" bIns="0" anchor="t" rtlCol="0">
              <a:noAutofit/>
            </a:bodyPr>
            <a:lstStyle/>
            <a:p>
              <a:pPr algn="l"/>
              <a:r>
                <a:rPr lang="en-US" sz="1200" b="1" dirty="0" spc="200" cap="all">
                  <a:solidFill>
                    <a:srgbClr val="B4C2CF"/>
                  </a:solidFill>
                  <a:latin typeface="Inter"/>
                  <a:cs typeface="Inter"/>
                </a:rPr>
                <a:t>Saved</a:t>
              </a:r>
              <a:endParaRPr lang="en-US" sz="1200" b="1" dirty="0" spc="200" cap="all">
                <a:solidFill>
                  <a:srgbClr val="B4C2CF"/>
                </a:solidFill>
                <a:latin typeface="Inter"/>
                <a:cs typeface="Inter"/>
              </a:endParaRPr>
            </a:p>
          </p:txBody>
        </p:sp>
      </p:grpSp>
      <p:pic>
        <p:nvPicPr>
          <p:cNvPr id="35" name="Video money gesture" descr="Short clip: a money gesture">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9093200" y="2159000"/>
            <a:ext cx="2286000" cy="2667000"/>
          </a:xfrm>
          <a:prstGeom prst="roundRect">
            <a:avLst>
              <a:gd name="adj" fmla="val 6666"/>
            </a:avLst>
          </a:prstGeom>
          <a:ln w="12700">
            <a:solidFill>
              <a:srgbClr val="FF4655"/>
            </a:solidFill>
          </a:ln>
        </p:spPr>
      </p:pic>
      <p:sp>
        <p:nvSpPr>
          <p:cNvPr id="36" name="Footer"/>
          <p:cNvSpPr txBox="1"/>
          <p:nvPr/>
        </p:nvSpPr>
        <p:spPr>
          <a:xfrm>
            <a:off x="812800" y="6267450"/>
            <a:ext cx="6350000" cy="190500"/>
          </a:xfrm>
          <a:prstGeom prst="rect">
            <a:avLst/>
          </a:prstGeom>
          <a:noFill/>
          <a:ln>
            <a:noFill/>
          </a:ln>
        </p:spPr>
        <p:txBody>
          <a:bodyPr wrap="square" lIns="0" tIns="0" rIns="0" bIns="0" anchor="t" rtlCol="0">
            <a:noAutofit/>
          </a:bodyPr>
          <a:lstStyle/>
          <a:p>
            <a:pPr algn="l"/>
            <a:r>
              <a:rPr lang="en-US" sz="1200" b="0" dirty="0">
                <a:solidFill>
                  <a:srgbClr val="8A9CAE"/>
                </a:solidFill>
                <a:latin typeface="Inter"/>
                <a:cs typeface="Inter"/>
              </a:rPr>
              <a:t>Drawing2CAD · The Novice Ninjas</a:t>
            </a:r>
            <a:endParaRPr lang="en-US" sz="1200" b="0" dirty="0">
              <a:solidFill>
                <a:srgbClr val="8A9CAE"/>
              </a:solidFill>
              <a:latin typeface="Inter"/>
              <a:cs typeface="Inter"/>
            </a:endParaRPr>
          </a:p>
        </p:txBody>
      </p:sp>
      <p:sp>
        <p:nvSpPr>
          <p:cNvPr id="37" name="Slide number"/>
          <p:cNvSpPr txBox="1"/>
          <p:nvPr/>
        </p:nvSpPr>
        <p:spPr>
          <a:xfrm>
            <a:off x="10109200" y="6267450"/>
            <a:ext cx="1270000" cy="190500"/>
          </a:xfrm>
          <a:prstGeom prst="rect">
            <a:avLst/>
          </a:prstGeom>
          <a:noFill/>
          <a:ln>
            <a:noFill/>
          </a:ln>
        </p:spPr>
        <p:txBody>
          <a:bodyPr wrap="square" lIns="0" tIns="0" rIns="0" bIns="0" anchor="t" rtlCol="0">
            <a:noAutofit/>
          </a:bodyPr>
          <a:lstStyle/>
          <a:p>
            <a:pPr algn="r"/>
            <a:r>
              <a:rPr lang="en-US" sz="1200" b="0" dirty="0">
                <a:solidFill>
                  <a:srgbClr val="8A9CAE"/>
                </a:solidFill>
                <a:latin typeface="Inter"/>
                <a:cs typeface="Inter"/>
              </a:rPr>
              <a:t>06</a:t>
            </a:r>
            <a:endParaRPr lang="en-US" sz="1200" b="0" dirty="0">
              <a:solidFill>
                <a:srgbClr val="8A9CAE"/>
              </a:solidFill>
              <a:latin typeface="Inter"/>
              <a:cs typeface="Inter"/>
            </a:endParaRPr>
          </a:p>
        </p:txBody>
      </p:sp>
    </p:spTree>
  </p:cSld>
  <p:clrMapOvr>
    <a:masterClrMapping/>
  </p:clrMapOvr>
  <p:transition spd="med" advClick="0" advTm="12433">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additive="base">
                                        <p:cTn id="8" dur="600" fill="hold"/>
                                        <p:tgtEl>
                                          <p:spTgt spid="5"/>
                                        </p:tgtEl>
                                        <p:attrNameLst>
                                          <p:attrName>ppt_x</p:attrName>
                                        </p:attrNameLst>
                                      </p:cBhvr>
                                      <p:tavLst>
                                        <p:tav tm="0">
                                          <p:val>
                                            <p:strVal val="#ppt_x"/>
                                          </p:val>
                                        </p:tav>
                                        <p:tav tm="100000">
                                          <p:val>
                                            <p:strVal val="#ppt_x"/>
                                          </p:val>
                                        </p:tav>
                                      </p:tavLst>
                                    </p:anim>
                                    <p:anim calcmode="lin" valueType="num">
                                      <p:cBhvr additive="base">
                                        <p:cTn id="9" dur="600" fill="hold"/>
                                        <p:tgtEl>
                                          <p:spTgt spid="5"/>
                                        </p:tgtEl>
                                        <p:attrNameLst>
                                          <p:attrName>ppt_y</p:attrName>
                                        </p:attrNameLst>
                                      </p:cBhvr>
                                      <p:tavLst>
                                        <p:tav tm="0">
                                          <p:val>
                                            <p:strVal val="#ppt_y+.1"/>
                                          </p:val>
                                        </p:tav>
                                        <p:tav tm="100000">
                                          <p:val>
                                            <p:strVal val="#ppt_y"/>
                                          </p:val>
                                        </p:tav>
                                      </p:tavLst>
                                    </p:anim>
                                  </p:childTnLst>
                                </p:cTn>
                              </p:par>
                              <p:par>
                                <p:cTn id="10" presetID="1" presetClass="mediacall" presetSubtype="0" fill="hold" nodeType="withEffect">
                                  <p:stCondLst>
                                    <p:cond delay="0"/>
                                  </p:stCondLst>
                                  <p:childTnLst>
                                    <p:cmd type="call" cmd="playFrom(0.0)">
                                      <p:cBhvr>
                                        <p:cTn id="11" dur="1733" fill="hold"/>
                                        <p:tgtEl>
                                          <p:spTgt spid="35"/>
                                        </p:tgtEl>
                                      </p:cBhvr>
                                    </p:cmd>
                                  </p:childTnLst>
                                </p:cTn>
                              </p:par>
                            </p:childTnLst>
                          </p:cTn>
                        </p:par>
                        <p:par>
                          <p:cTn id="12" fill="hold">
                            <p:stCondLst>
                              <p:cond delay="1733"/>
                            </p:stCondLst>
                            <p:childTnLst>
                              <p:par>
                                <p:cTn id="13" presetID="42"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anim calcmode="lin" valueType="num">
                                      <p:cBhvr additive="base">
                                        <p:cTn id="16" dur="600" fill="hold"/>
                                        <p:tgtEl>
                                          <p:spTgt spid="9"/>
                                        </p:tgtEl>
                                        <p:attrNameLst>
                                          <p:attrName>ppt_x</p:attrName>
                                        </p:attrNameLst>
                                      </p:cBhvr>
                                      <p:tavLst>
                                        <p:tav tm="0">
                                          <p:val>
                                            <p:strVal val="#ppt_x"/>
                                          </p:val>
                                        </p:tav>
                                        <p:tav tm="100000">
                                          <p:val>
                                            <p:strVal val="#ppt_x"/>
                                          </p:val>
                                        </p:tav>
                                      </p:tavLst>
                                    </p:anim>
                                    <p:anim calcmode="lin" valueType="num">
                                      <p:cBhvr additive="base">
                                        <p:cTn id="17" dur="600" fill="hold"/>
                                        <p:tgtEl>
                                          <p:spTgt spid="9"/>
                                        </p:tgtEl>
                                        <p:attrNameLst>
                                          <p:attrName>ppt_y</p:attrName>
                                        </p:attrNameLst>
                                      </p:cBhvr>
                                      <p:tavLst>
                                        <p:tav tm="0">
                                          <p:val>
                                            <p:strVal val="#ppt_y+.1"/>
                                          </p:val>
                                        </p:tav>
                                        <p:tav tm="100000">
                                          <p:val>
                                            <p:strVal val="#ppt_y"/>
                                          </p:val>
                                        </p:tav>
                                      </p:tavLst>
                                    </p:anim>
                                  </p:childTnLst>
                                </p:cTn>
                              </p:par>
                            </p:childTnLst>
                          </p:cTn>
                        </p:par>
                        <p:par>
                          <p:cTn id="18" fill="hold">
                            <p:stCondLst>
                              <p:cond delay="2333"/>
                            </p:stCondLst>
                            <p:childTnLst>
                              <p:par>
                                <p:cTn id="19" presetID="42"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600"/>
                                        <p:tgtEl>
                                          <p:spTgt spid="13"/>
                                        </p:tgtEl>
                                      </p:cBhvr>
                                    </p:animEffect>
                                    <p:anim calcmode="lin" valueType="num">
                                      <p:cBhvr additive="base">
                                        <p:cTn id="22" dur="600" fill="hold"/>
                                        <p:tgtEl>
                                          <p:spTgt spid="13"/>
                                        </p:tgtEl>
                                        <p:attrNameLst>
                                          <p:attrName>ppt_x</p:attrName>
                                        </p:attrNameLst>
                                      </p:cBhvr>
                                      <p:tavLst>
                                        <p:tav tm="0">
                                          <p:val>
                                            <p:strVal val="#ppt_x"/>
                                          </p:val>
                                        </p:tav>
                                        <p:tav tm="100000">
                                          <p:val>
                                            <p:strVal val="#ppt_x"/>
                                          </p:val>
                                        </p:tav>
                                      </p:tavLst>
                                    </p:anim>
                                    <p:anim calcmode="lin" valueType="num">
                                      <p:cBhvr additive="base">
                                        <p:cTn id="23" dur="600" fill="hold"/>
                                        <p:tgtEl>
                                          <p:spTgt spid="13"/>
                                        </p:tgtEl>
                                        <p:attrNameLst>
                                          <p:attrName>ppt_y</p:attrName>
                                        </p:attrNameLst>
                                      </p:cBhvr>
                                      <p:tavLst>
                                        <p:tav tm="0">
                                          <p:val>
                                            <p:strVal val="#ppt_y+.1"/>
                                          </p:val>
                                        </p:tav>
                                        <p:tav tm="100000">
                                          <p:val>
                                            <p:strVal val="#ppt_y"/>
                                          </p:val>
                                        </p:tav>
                                      </p:tavLst>
                                    </p:anim>
                                  </p:childTnLst>
                                </p:cTn>
                              </p:par>
                            </p:childTnLst>
                          </p:cTn>
                        </p:par>
                        <p:par>
                          <p:cTn id="24" fill="hold">
                            <p:stCondLst>
                              <p:cond delay="2933"/>
                            </p:stCondLst>
                            <p:childTnLst>
                              <p:par>
                                <p:cTn id="25" presetID="53" presetClass="entr" presetSubtype="16"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ppt_w</p:attrName>
                                        </p:attrNameLst>
                                      </p:cBhvr>
                                      <p:tavLst>
                                        <p:tav tm="0">
                                          <p:val>
                                            <p:fltVal val="0"/>
                                          </p:val>
                                        </p:tav>
                                        <p:tav tm="100000">
                                          <p:val>
                                            <p:strVal val="#ppt_w"/>
                                          </p:val>
                                        </p:tav>
                                      </p:tavLst>
                                    </p:anim>
                                    <p:anim calcmode="lin" valueType="num">
                                      <p:cBhvr additive="base">
                                        <p:cTn id="28" dur="500" fill="hold"/>
                                        <p:tgtEl>
                                          <p:spTgt spid="17"/>
                                        </p:tgtEl>
                                        <p:attrNameLst>
                                          <p:attrName>ppt_h</p:attrName>
                                        </p:attrNameLst>
                                      </p:cBhvr>
                                      <p:tavLst>
                                        <p:tav tm="0">
                                          <p:val>
                                            <p:fltVal val="0"/>
                                          </p:val>
                                        </p:tav>
                                        <p:tav tm="100000">
                                          <p:val>
                                            <p:strVal val="#ppt_h"/>
                                          </p:val>
                                        </p:tav>
                                      </p:tavLst>
                                    </p:anim>
                                    <p:animEffect transition="in" filter="fade">
                                      <p:cBhvr>
                                        <p:cTn id="29" dur="500"/>
                                        <p:tgtEl>
                                          <p:spTgt spid="17"/>
                                        </p:tgtEl>
                                      </p:cBhvr>
                                    </p:animEffect>
                                  </p:childTnLst>
                                </p:cTn>
                              </p:par>
                            </p:childTnLst>
                          </p:cTn>
                        </p:par>
                        <p:par>
                          <p:cTn id="30" fill="hold">
                            <p:stCondLst>
                              <p:cond delay="3433"/>
                            </p:stCondLst>
                            <p:childTnLst>
                              <p:par>
                                <p:cTn id="31" presetID="53" presetClass="entr" presetSubtype="16"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ppt_w</p:attrName>
                                        </p:attrNameLst>
                                      </p:cBhvr>
                                      <p:tavLst>
                                        <p:tav tm="0">
                                          <p:val>
                                            <p:fltVal val="0"/>
                                          </p:val>
                                        </p:tav>
                                        <p:tav tm="100000">
                                          <p:val>
                                            <p:strVal val="#ppt_w"/>
                                          </p:val>
                                        </p:tav>
                                      </p:tavLst>
                                    </p:anim>
                                    <p:anim calcmode="lin" valueType="num">
                                      <p:cBhvr additive="base">
                                        <p:cTn id="34" dur="500" fill="hold"/>
                                        <p:tgtEl>
                                          <p:spTgt spid="23"/>
                                        </p:tgtEl>
                                        <p:attrNameLst>
                                          <p:attrName>ppt_h</p:attrName>
                                        </p:attrNameLst>
                                      </p:cBhvr>
                                      <p:tavLst>
                                        <p:tav tm="0">
                                          <p:val>
                                            <p:fltVal val="0"/>
                                          </p:val>
                                        </p:tav>
                                        <p:tav tm="100000">
                                          <p:val>
                                            <p:strVal val="#ppt_h"/>
                                          </p:val>
                                        </p:tav>
                                      </p:tavLst>
                                    </p:anim>
                                    <p:animEffect transition="in" filter="fade">
                                      <p:cBhvr>
                                        <p:cTn id="35" dur="500"/>
                                        <p:tgtEl>
                                          <p:spTgt spid="23"/>
                                        </p:tgtEl>
                                      </p:cBhvr>
                                    </p:animEffect>
                                  </p:childTnLst>
                                </p:cTn>
                              </p:par>
                            </p:childTnLst>
                          </p:cTn>
                        </p:par>
                        <p:par>
                          <p:cTn id="36" fill="hold">
                            <p:stCondLst>
                              <p:cond delay="3933"/>
                            </p:stCondLst>
                            <p:childTnLst>
                              <p:par>
                                <p:cTn id="37" presetID="53" presetClass="entr" presetSubtype="16"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500" fill="hold"/>
                                        <p:tgtEl>
                                          <p:spTgt spid="29"/>
                                        </p:tgtEl>
                                        <p:attrNameLst>
                                          <p:attrName>ppt_w</p:attrName>
                                        </p:attrNameLst>
                                      </p:cBhvr>
                                      <p:tavLst>
                                        <p:tav tm="0">
                                          <p:val>
                                            <p:fltVal val="0"/>
                                          </p:val>
                                        </p:tav>
                                        <p:tav tm="100000">
                                          <p:val>
                                            <p:strVal val="#ppt_w"/>
                                          </p:val>
                                        </p:tav>
                                      </p:tavLst>
                                    </p:anim>
                                    <p:anim calcmode="lin" valueType="num">
                                      <p:cBhvr additive="base">
                                        <p:cTn id="40" dur="500" fill="hold"/>
                                        <p:tgtEl>
                                          <p:spTgt spid="29"/>
                                        </p:tgtEl>
                                        <p:attrNameLst>
                                          <p:attrName>ppt_h</p:attrName>
                                        </p:attrNameLst>
                                      </p:cBhvr>
                                      <p:tavLst>
                                        <p:tav tm="0">
                                          <p:val>
                                            <p:fltVal val="0"/>
                                          </p:val>
                                        </p:tav>
                                        <p:tav tm="100000">
                                          <p:val>
                                            <p:strVal val="#ppt_h"/>
                                          </p:val>
                                        </p:tav>
                                      </p:tavLst>
                                    </p:anim>
                                    <p:animEffect transition="in" filter="fade">
                                      <p:cBhvr>
                                        <p:cTn id="4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2" repeatCount="indefinite" fill="hold" display="0">
                  <p:stCondLst>
                    <p:cond delay="indefinite"/>
                  </p:stCondLst>
                </p:cTn>
                <p:tgtEl>
                  <p:spTgt spid="35"/>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4655"/>
        </a:solidFill>
        <a:effectLst/>
      </p:bgPr>
    </p:bg>
    <p:spTree>
      <p:nvGrpSpPr>
        <p:cNvPr id="1" name=""/>
        <p:cNvGrpSpPr/>
        <p:nvPr/>
      </p:nvGrpSpPr>
      <p:grpSpPr/>
      <p:sp>
        <p:nvSpPr>
          <p:cNvPr id="2" name="Eyebrow"/>
          <p:cNvSpPr txBox="1"/>
          <p:nvPr/>
        </p:nvSpPr>
        <p:spPr>
          <a:xfrm>
            <a:off x="812800" y="1905000"/>
            <a:ext cx="10566400" cy="228600"/>
          </a:xfrm>
          <a:prstGeom prst="rect">
            <a:avLst/>
          </a:prstGeom>
          <a:noFill/>
          <a:ln>
            <a:noFill/>
          </a:ln>
        </p:spPr>
        <p:txBody>
          <a:bodyPr wrap="square" lIns="0" tIns="0" rIns="0" bIns="0" anchor="t" rtlCol="0">
            <a:noAutofit/>
          </a:bodyPr>
          <a:lstStyle/>
          <a:p>
            <a:pPr algn="ctr"/>
            <a:r>
              <a:rPr lang="en-US" sz="1400" b="1" dirty="0" spc="400" cap="all">
                <a:solidFill>
                  <a:srgbClr val="0F1924"/>
                </a:solidFill>
                <a:latin typeface="Inter"/>
                <a:cs typeface="Inter"/>
              </a:rPr>
              <a:t>05 — Live</a:t>
            </a:r>
            <a:endParaRPr lang="en-US" sz="1400" b="1" dirty="0" spc="400" cap="all">
              <a:solidFill>
                <a:srgbClr val="0F1924"/>
              </a:solidFill>
              <a:latin typeface="Inter"/>
              <a:cs typeface="Inter"/>
            </a:endParaRPr>
          </a:p>
        </p:txBody>
      </p:sp>
      <p:sp>
        <p:nvSpPr>
          <p:cNvPr id="3" name="DEMO"/>
          <p:cNvSpPr txBox="1"/>
          <p:nvPr/>
        </p:nvSpPr>
        <p:spPr>
          <a:xfrm>
            <a:off x="812800" y="2001520"/>
            <a:ext cx="10566400" cy="2603500"/>
          </a:xfrm>
          <a:prstGeom prst="rect">
            <a:avLst/>
          </a:prstGeom>
          <a:noFill/>
          <a:ln>
            <a:noFill/>
          </a:ln>
        </p:spPr>
        <p:txBody>
          <a:bodyPr wrap="square" lIns="0" tIns="0" rIns="0" bIns="0" anchor="t" rtlCol="0">
            <a:noAutofit/>
          </a:bodyPr>
          <a:lstStyle/>
          <a:p>
            <a:pPr algn="ctr"/>
            <a:r>
              <a:rPr lang="en-US" sz="16000" b="1" dirty="0" spc="-500">
                <a:solidFill>
                  <a:srgbClr val="0F1924"/>
                </a:solidFill>
                <a:latin typeface="Space Grotesk"/>
                <a:cs typeface="Space Grotesk"/>
              </a:rPr>
              <a:t>DEMO</a:t>
            </a:r>
            <a:endParaRPr lang="en-US" sz="16000" b="1" dirty="0" spc="-500">
              <a:solidFill>
                <a:srgbClr val="0F1924"/>
              </a:solidFill>
              <a:latin typeface="Space Grotesk"/>
              <a:cs typeface="Space Grotesk"/>
            </a:endParaRPr>
          </a:p>
        </p:txBody>
      </p:sp>
      <p:sp>
        <p:nvSpPr>
          <p:cNvPr id="4" name="Subtitle"/>
          <p:cNvSpPr txBox="1"/>
          <p:nvPr/>
        </p:nvSpPr>
        <p:spPr>
          <a:xfrm>
            <a:off x="812800" y="4572000"/>
            <a:ext cx="10566400" cy="292100"/>
          </a:xfrm>
          <a:prstGeom prst="rect">
            <a:avLst/>
          </a:prstGeom>
          <a:noFill/>
          <a:ln>
            <a:noFill/>
          </a:ln>
        </p:spPr>
        <p:txBody>
          <a:bodyPr wrap="square" lIns="0" tIns="0" rIns="0" bIns="0" anchor="t" rtlCol="0">
            <a:noAutofit/>
          </a:bodyPr>
          <a:lstStyle/>
          <a:p>
            <a:pPr algn="ctr"/>
            <a:r>
              <a:rPr lang="en-US" sz="1800" b="1" dirty="0">
                <a:solidFill>
                  <a:srgbClr val="0F1924"/>
                </a:solidFill>
                <a:latin typeface="Inter"/>
                <a:cs typeface="Inter"/>
              </a:rPr>
              <a:t>From PDF to STEP file, live.</a:t>
            </a:r>
            <a:endParaRPr lang="en-US" sz="1800" b="1" dirty="0">
              <a:solidFill>
                <a:srgbClr val="0F1924"/>
              </a:solidFill>
              <a:latin typeface="Inter"/>
              <a:cs typeface="Inter"/>
            </a:endParaRPr>
          </a:p>
        </p:txBody>
      </p:sp>
    </p:spTree>
  </p:cSld>
  <p:clrMapOvr>
    <a:masterClrMapping/>
  </p:clrMapOvr>
  <p:transition spd="slow" advClick="0" advTm="9600">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ppt_w</p:attrName>
                                        </p:attrNameLst>
                                      </p:cBhvr>
                                      <p:tavLst>
                                        <p:tav tm="0">
                                          <p:val>
                                            <p:fltVal val="0"/>
                                          </p:val>
                                        </p:tav>
                                        <p:tav tm="100000">
                                          <p:val>
                                            <p:strVal val="#ppt_w"/>
                                          </p:val>
                                        </p:tav>
                                      </p:tavLst>
                                    </p:anim>
                                    <p:anim calcmode="lin" valueType="num">
                                      <p:cBhvr additive="base">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additive="base">
                                        <p:cTn id="18" dur="600" fill="hold"/>
                                        <p:tgtEl>
                                          <p:spTgt spid="4"/>
                                        </p:tgtEl>
                                        <p:attrNameLst>
                                          <p:attrName>ppt_x</p:attrName>
                                        </p:attrNameLst>
                                      </p:cBhvr>
                                      <p:tavLst>
                                        <p:tav tm="0">
                                          <p:val>
                                            <p:strVal val="#ppt_x"/>
                                          </p:val>
                                        </p:tav>
                                        <p:tav tm="100000">
                                          <p:val>
                                            <p:strVal val="#ppt_x"/>
                                          </p:val>
                                        </p:tav>
                                      </p:tavLst>
                                    </p:anim>
                                    <p:anim calcmode="lin" valueType="num">
                                      <p:cBhvr additive="base">
                                        <p:cTn id="19" dur="6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bar"/>
          <p:cNvSpPr/>
          <p:nvPr/>
        </p:nvSpPr>
        <p:spPr>
          <a:xfrm>
            <a:off x="812800" y="609600"/>
            <a:ext cx="457200" cy="50800"/>
          </a:xfrm>
          <a:prstGeom prst="roundRect">
            <a:avLst>
              <a:gd name="adj" fmla="val 50000"/>
            </a:avLst>
          </a:prstGeom>
          <a:solidFill>
            <a:srgbClr val="FF4655"/>
          </a:solidFill>
          <a:ln>
            <a:noFill/>
          </a:ln>
        </p:spPr>
      </p:sp>
      <p:sp>
        <p:nvSpPr>
          <p:cNvPr id="3" name="Eyebrow"/>
          <p:cNvSpPr txBox="1"/>
          <p:nvPr/>
        </p:nvSpPr>
        <p:spPr>
          <a:xfrm>
            <a:off x="812800" y="812800"/>
            <a:ext cx="10566400" cy="190500"/>
          </a:xfrm>
          <a:prstGeom prst="rect">
            <a:avLst/>
          </a:prstGeom>
          <a:noFill/>
          <a:ln>
            <a:noFill/>
          </a:ln>
        </p:spPr>
        <p:txBody>
          <a:bodyPr wrap="square" lIns="0" tIns="0" rIns="0" bIns="0" anchor="t" rtlCol="0">
            <a:noAutofit/>
          </a:bodyPr>
          <a:lstStyle/>
          <a:p>
            <a:pPr algn="l"/>
            <a:r>
              <a:rPr lang="en-US" sz="1200" b="1" dirty="0" spc="200" cap="all">
                <a:solidFill>
                  <a:srgbClr val="C42A38"/>
                </a:solidFill>
                <a:latin typeface="Inter"/>
                <a:cs typeface="Inter"/>
              </a:rPr>
              <a:t>06 — Results</a:t>
            </a:r>
            <a:endParaRPr lang="en-US" sz="1200" b="1" dirty="0" spc="200" cap="all">
              <a:solidFill>
                <a:srgbClr val="C42A38"/>
              </a:solidFill>
              <a:latin typeface="Inter"/>
              <a:cs typeface="Inter"/>
            </a:endParaRPr>
          </a:p>
        </p:txBody>
      </p:sp>
      <p:sp>
        <p:nvSpPr>
          <p:cNvPr id="4" name="Title"/>
          <p:cNvSpPr txBox="1"/>
          <p:nvPr/>
        </p:nvSpPr>
        <p:spPr>
          <a:xfrm>
            <a:off x="812800" y="1034288"/>
            <a:ext cx="10566400" cy="730250"/>
          </a:xfrm>
          <a:prstGeom prst="rect">
            <a:avLst/>
          </a:prstGeom>
          <a:noFill/>
          <a:ln>
            <a:noFill/>
          </a:ln>
        </p:spPr>
        <p:txBody>
          <a:bodyPr wrap="square" lIns="0" tIns="0" rIns="0" bIns="0" anchor="t" rtlCol="0">
            <a:noAutofit/>
          </a:bodyPr>
          <a:lstStyle/>
          <a:p>
            <a:pPr algn="l"/>
            <a:r>
              <a:rPr lang="en-US" sz="4400" b="1" dirty="0" spc="-100">
                <a:solidFill>
                  <a:srgbClr val="0F1924"/>
                </a:solidFill>
                <a:latin typeface="Space Grotesk"/>
                <a:cs typeface="Space Grotesk"/>
              </a:rPr>
              <a:t>Evolution</a:t>
            </a:r>
            <a:endParaRPr lang="en-US" sz="4400" b="1" dirty="0" spc="-100">
              <a:solidFill>
                <a:srgbClr val="0F1924"/>
              </a:solidFill>
              <a:latin typeface="Space Grotesk"/>
              <a:cs typeface="Space Grotesk"/>
            </a:endParaRPr>
          </a:p>
        </p:txBody>
      </p:sp>
      <p:grpSp>
        <p:nvGrpSpPr>
          <p:cNvPr id="5" name="V1"/>
          <p:cNvGrpSpPr/>
          <p:nvPr/>
        </p:nvGrpSpPr>
        <p:grpSpPr>
          <a:xfrm>
            <a:off x="812800" y="2222500"/>
            <a:ext cx="3048000" cy="3129280"/>
            <a:chOff x="812800" y="2222500"/>
            <a:chExt cx="3048000" cy="3129280"/>
          </a:xfrm>
        </p:grpSpPr>
        <p:sp>
          <p:nvSpPr>
            <p:cNvPr id="6" name="Card"/>
            <p:cNvSpPr/>
            <p:nvPr/>
          </p:nvSpPr>
          <p:spPr>
            <a:xfrm>
              <a:off x="812800" y="2222500"/>
              <a:ext cx="3048000" cy="2540000"/>
            </a:xfrm>
            <a:prstGeom prst="roundRect">
              <a:avLst>
                <a:gd name="adj" fmla="val 6000"/>
              </a:avLst>
            </a:prstGeom>
            <a:solidFill>
              <a:srgbClr val="FFFFFF"/>
            </a:solidFill>
            <a:ln w="6350">
              <a:solidFill>
                <a:srgbClr val="D5DBD3"/>
              </a:solidFill>
            </a:ln>
            <a:effectLst>
              <a:outerShdw blurRad="203200" dist="50800" dir="5400000" algn="t" rotWithShape="0">
                <a:srgbClr val="0F1924">
                  <a:alpha val="8000"/>
                </a:srgbClr>
              </a:outerShdw>
            </a:effectLst>
          </p:spPr>
        </p:sp>
        <p:pic>
          <p:nvPicPr>
            <p:cNvPr id="7" name="Model render" descr="V1: first generated 3D model, a green mesh bracket with round bosses and an open C-clamp"/>
            <p:cNvPicPr>
              <a:picLocks noChangeAspect="1"/>
            </p:cNvPicPr>
            <p:nvPr/>
          </p:nvPicPr>
          <p:blipFill>
            <a:blip r:embed="rId2"/>
            <a:stretch>
              <a:fillRect/>
            </a:stretch>
          </p:blipFill>
          <p:spPr>
            <a:xfrm>
              <a:off x="819150" y="2442002"/>
              <a:ext cx="3035300" cy="2100997"/>
            </a:xfrm>
            <a:prstGeom prst="rect">
              <a:avLst/>
            </a:prstGeom>
          </p:spPr>
        </p:pic>
        <p:sp>
          <p:nvSpPr>
            <p:cNvPr id="8" name="Pill"/>
            <p:cNvSpPr/>
            <p:nvPr/>
          </p:nvSpPr>
          <p:spPr>
            <a:xfrm>
              <a:off x="965200" y="2374900"/>
              <a:ext cx="1651000" cy="285750"/>
            </a:xfrm>
            <a:prstGeom prst="roundRect">
              <a:avLst>
                <a:gd name="adj" fmla="val 50000"/>
              </a:avLst>
            </a:prstGeom>
            <a:solidFill>
              <a:srgbClr val="0F1924"/>
            </a:solidFill>
            <a:ln>
              <a:noFill/>
            </a:ln>
          </p:spPr>
          <p:txBody>
            <a:bodyPr wrap="none" lIns="127000" tIns="50800" rIns="127000" bIns="50800" anchor="ctr" rtlCol="0">
              <a:noAutofit/>
            </a:bodyPr>
            <a:lstStyle/>
            <a:p>
              <a:pPr algn="l"/>
              <a:r>
                <a:rPr lang="en-US" sz="1200" b="1" dirty="0">
                  <a:solidFill>
                    <a:srgbClr val="EEF2F5"/>
                  </a:solidFill>
                  <a:latin typeface="Inter"/>
                  <a:cs typeface="Inter"/>
                </a:rPr>
                <a:t>V1 · First model</a:t>
              </a:r>
              <a:endParaRPr lang="en-US" sz="1200" b="1" dirty="0">
                <a:solidFill>
                  <a:srgbClr val="EEF2F5"/>
                </a:solidFill>
                <a:latin typeface="Inter"/>
                <a:cs typeface="Inter"/>
              </a:endParaRPr>
            </a:p>
          </p:txBody>
        </p:sp>
        <p:sp>
          <p:nvSpPr>
            <p:cNvPr id="9" name="Caption"/>
            <p:cNvSpPr txBox="1"/>
            <p:nvPr/>
          </p:nvSpPr>
          <p:spPr>
            <a:xfrm>
              <a:off x="812800" y="4914900"/>
              <a:ext cx="3048000" cy="436880"/>
            </a:xfrm>
            <a:prstGeom prst="rect">
              <a:avLst/>
            </a:prstGeom>
            <a:noFill/>
            <a:ln>
              <a:noFill/>
            </a:ln>
          </p:spPr>
          <p:txBody>
            <a:bodyPr wrap="square" lIns="0" tIns="0" rIns="0" bIns="0" anchor="t" rtlCol="0">
              <a:noAutofit/>
            </a:bodyPr>
            <a:lstStyle/>
            <a:p>
              <a:pPr algn="l">
                <a:lnSpc>
                  <a:spcPts val="1620"/>
                </a:lnSpc>
              </a:pPr>
              <a:r>
                <a:rPr lang="en-US" sz="1200" b="0" dirty="0">
                  <a:solidFill>
                    <a:srgbClr val="4A5868"/>
                  </a:solidFill>
                  <a:latin typeface="Inter"/>
                  <a:cs typeface="Inter"/>
                </a:rPr>
                <a:t>Rough mesh geometry, open clamp</a:t>
              </a:r>
              <a:endParaRPr lang="en-US" sz="1200" b="0" dirty="0">
                <a:solidFill>
                  <a:srgbClr val="4A5868"/>
                </a:solidFill>
                <a:latin typeface="Inter"/>
                <a:cs typeface="Inter"/>
              </a:endParaRPr>
            </a:p>
          </p:txBody>
        </p:sp>
      </p:grpSp>
      <p:grpSp>
        <p:nvGrpSpPr>
          <p:cNvPr id="10" name="V2"/>
          <p:cNvGrpSpPr/>
          <p:nvPr/>
        </p:nvGrpSpPr>
        <p:grpSpPr>
          <a:xfrm>
            <a:off x="4572000" y="2222500"/>
            <a:ext cx="3048000" cy="3129280"/>
            <a:chOff x="4572000" y="2222500"/>
            <a:chExt cx="3048000" cy="3129280"/>
          </a:xfrm>
        </p:grpSpPr>
        <p:sp>
          <p:nvSpPr>
            <p:cNvPr id="11" name="Card"/>
            <p:cNvSpPr/>
            <p:nvPr/>
          </p:nvSpPr>
          <p:spPr>
            <a:xfrm>
              <a:off x="4572000" y="2222500"/>
              <a:ext cx="3048000" cy="2540000"/>
            </a:xfrm>
            <a:prstGeom prst="roundRect">
              <a:avLst>
                <a:gd name="adj" fmla="val 6000"/>
              </a:avLst>
            </a:prstGeom>
            <a:solidFill>
              <a:srgbClr val="FFFFFF"/>
            </a:solidFill>
            <a:ln w="6350">
              <a:solidFill>
                <a:srgbClr val="D5DBD3"/>
              </a:solidFill>
            </a:ln>
            <a:effectLst>
              <a:outerShdw blurRad="203200" dist="50800" dir="5400000" algn="t" rotWithShape="0">
                <a:srgbClr val="0F1924">
                  <a:alpha val="8000"/>
                </a:srgbClr>
              </a:outerShdw>
            </a:effectLst>
          </p:spPr>
        </p:sp>
        <p:pic>
          <p:nvPicPr>
            <p:cNvPr id="12" name="Model render" descr="V2: refined mesh model with base plate, three holes, tube boss and split-ring clamp"/>
            <p:cNvPicPr>
              <a:picLocks noChangeAspect="1"/>
            </p:cNvPicPr>
            <p:nvPr/>
          </p:nvPicPr>
          <p:blipFill>
            <a:blip r:embed="rId3"/>
            <a:stretch>
              <a:fillRect/>
            </a:stretch>
          </p:blipFill>
          <p:spPr>
            <a:xfrm>
              <a:off x="4578350" y="2408645"/>
              <a:ext cx="3035300" cy="2167710"/>
            </a:xfrm>
            <a:prstGeom prst="rect">
              <a:avLst/>
            </a:prstGeom>
          </p:spPr>
        </p:pic>
        <p:sp>
          <p:nvSpPr>
            <p:cNvPr id="13" name="Pill"/>
            <p:cNvSpPr/>
            <p:nvPr/>
          </p:nvSpPr>
          <p:spPr>
            <a:xfrm>
              <a:off x="4724400" y="2374900"/>
              <a:ext cx="1524000" cy="285750"/>
            </a:xfrm>
            <a:prstGeom prst="roundRect">
              <a:avLst>
                <a:gd name="adj" fmla="val 50000"/>
              </a:avLst>
            </a:prstGeom>
            <a:solidFill>
              <a:srgbClr val="0F1924"/>
            </a:solidFill>
            <a:ln>
              <a:noFill/>
            </a:ln>
          </p:spPr>
          <p:txBody>
            <a:bodyPr wrap="none" lIns="127000" tIns="50800" rIns="127000" bIns="50800" anchor="ctr" rtlCol="0">
              <a:noAutofit/>
            </a:bodyPr>
            <a:lstStyle/>
            <a:p>
              <a:pPr algn="l"/>
              <a:r>
                <a:rPr lang="en-US" sz="1200" b="1" dirty="0">
                  <a:solidFill>
                    <a:srgbClr val="EEF2F5"/>
                  </a:solidFill>
                  <a:latin typeface="Inter"/>
                  <a:cs typeface="Inter"/>
                </a:rPr>
                <a:t>V2 · Refined</a:t>
              </a:r>
              <a:endParaRPr lang="en-US" sz="1200" b="1" dirty="0">
                <a:solidFill>
                  <a:srgbClr val="EEF2F5"/>
                </a:solidFill>
                <a:latin typeface="Inter"/>
                <a:cs typeface="Inter"/>
              </a:endParaRPr>
            </a:p>
          </p:txBody>
        </p:sp>
        <p:sp>
          <p:nvSpPr>
            <p:cNvPr id="14" name="Caption"/>
            <p:cNvSpPr txBox="1"/>
            <p:nvPr/>
          </p:nvSpPr>
          <p:spPr>
            <a:xfrm>
              <a:off x="4572000" y="4914900"/>
              <a:ext cx="3048000" cy="436880"/>
            </a:xfrm>
            <a:prstGeom prst="rect">
              <a:avLst/>
            </a:prstGeom>
            <a:noFill/>
            <a:ln>
              <a:noFill/>
            </a:ln>
          </p:spPr>
          <p:txBody>
            <a:bodyPr wrap="square" lIns="0" tIns="0" rIns="0" bIns="0" anchor="t" rtlCol="0">
              <a:noAutofit/>
            </a:bodyPr>
            <a:lstStyle/>
            <a:p>
              <a:pPr algn="l">
                <a:lnSpc>
                  <a:spcPts val="1620"/>
                </a:lnSpc>
              </a:pPr>
              <a:r>
                <a:rPr lang="en-US" sz="1200" b="0" dirty="0">
                  <a:solidFill>
                    <a:srgbClr val="4A5868"/>
                  </a:solidFill>
                  <a:latin typeface="Inter"/>
                  <a:cs typeface="Inter"/>
                </a:rPr>
                <a:t>Base plate with holes, tube boss, split-ring clamp</a:t>
              </a:r>
              <a:endParaRPr lang="en-US" sz="1200" b="0" dirty="0">
                <a:solidFill>
                  <a:srgbClr val="4A5868"/>
                </a:solidFill>
                <a:latin typeface="Inter"/>
                <a:cs typeface="Inter"/>
              </a:endParaRPr>
            </a:p>
          </p:txBody>
        </p:sp>
      </p:grpSp>
      <p:grpSp>
        <p:nvGrpSpPr>
          <p:cNvPr id="15" name="V3"/>
          <p:cNvGrpSpPr/>
          <p:nvPr/>
        </p:nvGrpSpPr>
        <p:grpSpPr>
          <a:xfrm>
            <a:off x="8331200" y="2222500"/>
            <a:ext cx="3048000" cy="3129280"/>
            <a:chOff x="8331200" y="2222500"/>
            <a:chExt cx="3048000" cy="3129280"/>
          </a:xfrm>
        </p:grpSpPr>
        <p:sp>
          <p:nvSpPr>
            <p:cNvPr id="16" name="Card"/>
            <p:cNvSpPr/>
            <p:nvPr/>
          </p:nvSpPr>
          <p:spPr>
            <a:xfrm>
              <a:off x="8331200" y="2222500"/>
              <a:ext cx="3048000" cy="2540000"/>
            </a:xfrm>
            <a:prstGeom prst="roundRect">
              <a:avLst>
                <a:gd name="adj" fmla="val 6000"/>
              </a:avLst>
            </a:prstGeom>
            <a:solidFill>
              <a:srgbClr val="FFFFFF"/>
            </a:solidFill>
            <a:ln w="19050">
              <a:solidFill>
                <a:srgbClr val="FF4655"/>
              </a:solidFill>
            </a:ln>
            <a:effectLst>
              <a:outerShdw blurRad="254000" dist="76200" dir="5400000" algn="t" rotWithShape="0">
                <a:srgbClr val="0F1924">
                  <a:alpha val="18000"/>
                </a:srgbClr>
              </a:outerShdw>
            </a:effectLst>
          </p:spPr>
        </p:sp>
        <p:pic>
          <p:nvPicPr>
            <p:cNvPr id="17" name="Model render" descr="V3: current model, a clean solid with smooth faces, slotted tube boss, base plate with three holes and split clamp ring"/>
            <p:cNvPicPr>
              <a:picLocks noChangeAspect="1"/>
            </p:cNvPicPr>
            <p:nvPr/>
          </p:nvPicPr>
          <p:blipFill>
            <a:blip r:embed="rId4"/>
            <a:stretch>
              <a:fillRect/>
            </a:stretch>
          </p:blipFill>
          <p:spPr>
            <a:xfrm>
              <a:off x="8402986" y="2241550"/>
              <a:ext cx="2904428" cy="2501900"/>
            </a:xfrm>
            <a:prstGeom prst="rect">
              <a:avLst/>
            </a:prstGeom>
          </p:spPr>
        </p:pic>
        <p:sp>
          <p:nvSpPr>
            <p:cNvPr id="18" name="Pill"/>
            <p:cNvSpPr/>
            <p:nvPr/>
          </p:nvSpPr>
          <p:spPr>
            <a:xfrm>
              <a:off x="8483600" y="2374900"/>
              <a:ext cx="1587500" cy="285750"/>
            </a:xfrm>
            <a:prstGeom prst="roundRect">
              <a:avLst>
                <a:gd name="adj" fmla="val 50000"/>
              </a:avLst>
            </a:prstGeom>
            <a:solidFill>
              <a:srgbClr val="FF4655"/>
            </a:solidFill>
            <a:ln>
              <a:noFill/>
            </a:ln>
          </p:spPr>
          <p:txBody>
            <a:bodyPr wrap="none" lIns="127000" tIns="50800" rIns="127000" bIns="50800" anchor="ctr" rtlCol="0">
              <a:noAutofit/>
            </a:bodyPr>
            <a:lstStyle/>
            <a:p>
              <a:pPr algn="l"/>
              <a:r>
                <a:rPr lang="en-US" sz="1200" b="1" dirty="0">
                  <a:solidFill>
                    <a:srgbClr val="0F1924"/>
                  </a:solidFill>
                  <a:latin typeface="Inter"/>
                  <a:cs typeface="Inter"/>
                </a:rPr>
                <a:t>V3 · Current</a:t>
              </a:r>
              <a:endParaRPr lang="en-US" sz="1200" b="1" dirty="0">
                <a:solidFill>
                  <a:srgbClr val="0F1924"/>
                </a:solidFill>
                <a:latin typeface="Inter"/>
                <a:cs typeface="Inter"/>
              </a:endParaRPr>
            </a:p>
          </p:txBody>
        </p:sp>
        <p:sp>
          <p:nvSpPr>
            <p:cNvPr id="19" name="Caption"/>
            <p:cNvSpPr txBox="1"/>
            <p:nvPr/>
          </p:nvSpPr>
          <p:spPr>
            <a:xfrm>
              <a:off x="8331200" y="4914900"/>
              <a:ext cx="3048000" cy="436880"/>
            </a:xfrm>
            <a:prstGeom prst="rect">
              <a:avLst/>
            </a:prstGeom>
            <a:noFill/>
            <a:ln>
              <a:noFill/>
            </a:ln>
          </p:spPr>
          <p:txBody>
            <a:bodyPr wrap="square" lIns="0" tIns="0" rIns="0" bIns="0" anchor="t" rtlCol="0">
              <a:noAutofit/>
            </a:bodyPr>
            <a:lstStyle/>
            <a:p>
              <a:pPr algn="l">
                <a:lnSpc>
                  <a:spcPts val="1620"/>
                </a:lnSpc>
              </a:pPr>
              <a:r>
                <a:rPr lang="en-US" sz="1200" b="1" dirty="0">
                  <a:solidFill>
                    <a:srgbClr val="0F1924"/>
                  </a:solidFill>
                  <a:latin typeface="Inter"/>
                  <a:cs typeface="Inter"/>
                </a:rPr>
                <a:t>Clean solid model: slotted boss, split clamp</a:t>
              </a:r>
              <a:endParaRPr lang="en-US" sz="1200" b="1" dirty="0">
                <a:solidFill>
                  <a:srgbClr val="0F1924"/>
                </a:solidFill>
                <a:latin typeface="Inter"/>
                <a:cs typeface="Inter"/>
              </a:endParaRPr>
            </a:p>
          </p:txBody>
        </p:sp>
      </p:grpSp>
      <p:sp>
        <p:nvSpPr>
          <p:cNvPr id="20" name="Arrow 1"/>
          <p:cNvSpPr/>
          <p:nvPr/>
        </p:nvSpPr>
        <p:spPr>
          <a:xfrm>
            <a:off x="3962400" y="3365500"/>
            <a:ext cx="508000" cy="254000"/>
          </a:xfrm>
          <a:prstGeom prst="rightArrow">
            <a:avLst/>
          </a:prstGeom>
          <a:solidFill>
            <a:srgbClr val="FF4655"/>
          </a:solidFill>
          <a:ln>
            <a:noFill/>
          </a:ln>
        </p:spPr>
      </p:sp>
      <p:sp>
        <p:nvSpPr>
          <p:cNvPr id="21" name="Arrow 2"/>
          <p:cNvSpPr/>
          <p:nvPr/>
        </p:nvSpPr>
        <p:spPr>
          <a:xfrm>
            <a:off x="7721600" y="3365500"/>
            <a:ext cx="508000" cy="254000"/>
          </a:xfrm>
          <a:prstGeom prst="rightArrow">
            <a:avLst/>
          </a:prstGeom>
          <a:solidFill>
            <a:srgbClr val="FF4655"/>
          </a:solidFill>
          <a:ln>
            <a:noFill/>
          </a:ln>
        </p:spPr>
      </p:sp>
      <p:sp>
        <p:nvSpPr>
          <p:cNvPr id="22" name="Footer"/>
          <p:cNvSpPr txBox="1"/>
          <p:nvPr/>
        </p:nvSpPr>
        <p:spPr>
          <a:xfrm>
            <a:off x="812800" y="6267450"/>
            <a:ext cx="6350000" cy="190500"/>
          </a:xfrm>
          <a:prstGeom prst="rect">
            <a:avLst/>
          </a:prstGeom>
          <a:noFill/>
          <a:ln>
            <a:noFill/>
          </a:ln>
        </p:spPr>
        <p:txBody>
          <a:bodyPr wrap="square" lIns="0" tIns="0" rIns="0" bIns="0" anchor="t" rtlCol="0">
            <a:noAutofit/>
          </a:bodyPr>
          <a:lstStyle/>
          <a:p>
            <a:pPr algn="l"/>
            <a:r>
              <a:rPr lang="en-US" sz="1200" b="0" dirty="0">
                <a:solidFill>
                  <a:srgbClr val="5A6878"/>
                </a:solidFill>
                <a:latin typeface="Inter"/>
                <a:cs typeface="Inter"/>
              </a:rPr>
              <a:t>Drawing2CAD · The Novice Ninjas</a:t>
            </a:r>
            <a:endParaRPr lang="en-US" sz="1200" b="0" dirty="0">
              <a:solidFill>
                <a:srgbClr val="5A6878"/>
              </a:solidFill>
              <a:latin typeface="Inter"/>
              <a:cs typeface="Inter"/>
            </a:endParaRPr>
          </a:p>
        </p:txBody>
      </p:sp>
      <p:sp>
        <p:nvSpPr>
          <p:cNvPr id="23" name="Slide number"/>
          <p:cNvSpPr txBox="1"/>
          <p:nvPr/>
        </p:nvSpPr>
        <p:spPr>
          <a:xfrm>
            <a:off x="10109200" y="6267450"/>
            <a:ext cx="1270000" cy="190500"/>
          </a:xfrm>
          <a:prstGeom prst="rect">
            <a:avLst/>
          </a:prstGeom>
          <a:noFill/>
          <a:ln>
            <a:noFill/>
          </a:ln>
        </p:spPr>
        <p:txBody>
          <a:bodyPr wrap="square" lIns="0" tIns="0" rIns="0" bIns="0" anchor="t" rtlCol="0">
            <a:noAutofit/>
          </a:bodyPr>
          <a:lstStyle/>
          <a:p>
            <a:pPr algn="r"/>
            <a:r>
              <a:rPr lang="en-US" sz="1200" b="0" dirty="0">
                <a:solidFill>
                  <a:srgbClr val="5A6878"/>
                </a:solidFill>
                <a:latin typeface="Inter"/>
                <a:cs typeface="Inter"/>
              </a:rPr>
              <a:t>08</a:t>
            </a:r>
            <a:endParaRPr lang="en-US" sz="1200" b="0" dirty="0">
              <a:solidFill>
                <a:srgbClr val="5A6878"/>
              </a:solidFill>
              <a:latin typeface="Inter"/>
              <a:cs typeface="Inter"/>
            </a:endParaRPr>
          </a:p>
        </p:txBody>
      </p:sp>
    </p:spTree>
  </p:cSld>
  <p:clrMapOvr>
    <a:masterClrMapping/>
  </p:clrMapOvr>
  <p:transition spd="slow" advClick="0" advTm="10600">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600"/>
                                        <p:tgtEl>
                                          <p:spTgt spid="10"/>
                                        </p:tgtEl>
                                      </p:cBhvr>
                                    </p:animEffect>
                                    <p:anim calcmode="lin" valueType="num">
                                      <p:cBhvr additive="base">
                                        <p:cTn id="16" dur="600" fill="hold"/>
                                        <p:tgtEl>
                                          <p:spTgt spid="10"/>
                                        </p:tgtEl>
                                        <p:attrNameLst>
                                          <p:attrName>ppt_x</p:attrName>
                                        </p:attrNameLst>
                                      </p:cBhvr>
                                      <p:tavLst>
                                        <p:tav tm="0">
                                          <p:val>
                                            <p:strVal val="#ppt_x"/>
                                          </p:val>
                                        </p:tav>
                                        <p:tav tm="100000">
                                          <p:val>
                                            <p:strVal val="#ppt_x"/>
                                          </p:val>
                                        </p:tav>
                                      </p:tavLst>
                                    </p:anim>
                                    <p:anim calcmode="lin" valueType="num">
                                      <p:cBhvr additive="base">
                                        <p:cTn id="17" dur="600" fill="hold"/>
                                        <p:tgtEl>
                                          <p:spTgt spid="10"/>
                                        </p:tgtEl>
                                        <p:attrNameLst>
                                          <p:attrName>ppt_y</p:attrName>
                                        </p:attrNameLst>
                                      </p:cBhvr>
                                      <p:tavLst>
                                        <p:tav tm="0">
                                          <p:val>
                                            <p:strVal val="#ppt_y+.1"/>
                                          </p:val>
                                        </p:tav>
                                        <p:tav tm="100000">
                                          <p:val>
                                            <p:strVal val="#ppt_y"/>
                                          </p:val>
                                        </p:tav>
                                      </p:tavLst>
                                    </p:anim>
                                  </p:childTnLst>
                                </p:cTn>
                              </p:par>
                            </p:childTnLst>
                          </p:cTn>
                        </p:par>
                        <p:par>
                          <p:cTn id="18" fill="hold">
                            <p:stCondLst>
                              <p:cond delay="1600"/>
                            </p:stCondLst>
                            <p:childTnLst>
                              <p:par>
                                <p:cTn id="19" presetID="22" presetClass="entr" presetSubtype="8"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par>
                          <p:cTn id="22" fill="hold">
                            <p:stCondLst>
                              <p:cond delay="2100"/>
                            </p:stCondLst>
                            <p:childTnLst>
                              <p:par>
                                <p:cTn id="23" presetID="5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ppt_w</p:attrName>
                                        </p:attrNameLst>
                                      </p:cBhvr>
                                      <p:tavLst>
                                        <p:tav tm="0">
                                          <p:val>
                                            <p:fltVal val="0"/>
                                          </p:val>
                                        </p:tav>
                                        <p:tav tm="100000">
                                          <p:val>
                                            <p:strVal val="#ppt_w"/>
                                          </p:val>
                                        </p:tav>
                                      </p:tavLst>
                                    </p:anim>
                                    <p:anim calcmode="lin" valueType="num">
                                      <p:cBhvr additive="base">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1E3349"/>
            </a:gs>
            <a:gs pos="55000">
              <a:srgbClr val="0F1924"/>
            </a:gs>
            <a:gs pos="100000">
              <a:srgbClr val="0F1924"/>
            </a:gs>
          </a:gsLst>
          <a:path path="circle">
            <a:fillToRect l="15000" t="80000" r="85000" b="20000"/>
          </a:path>
        </a:gradFill>
        <a:effectLst/>
      </p:bgPr>
    </p:bg>
    <p:spTree>
      <p:nvGrpSpPr>
        <p:cNvPr id="1" name=""/>
        <p:cNvGrpSpPr/>
        <p:nvPr/>
      </p:nvGrpSpPr>
      <p:grpSpPr/>
      <p:grpSp>
        <p:nvGrpSpPr>
          <p:cNvPr id="2" name="Grid"/>
          <p:cNvGrpSpPr/>
          <p:nvPr/>
        </p:nvGrpSpPr>
        <p:grpSpPr>
          <a:xfrm>
            <a:off x="0" y="0"/>
            <a:ext cx="5283200" cy="6858000"/>
            <a:chOff x="0" y="0"/>
            <a:chExt cx="5283200" cy="6858000"/>
          </a:xfrm>
        </p:grpSpPr>
        <p:sp>
          <p:nvSpPr>
            <p:cNvPr id="3" name="Grid line"/>
            <p:cNvSpPr/>
            <p:nvPr/>
          </p:nvSpPr>
          <p:spPr>
            <a:xfrm>
              <a:off x="0" y="0"/>
              <a:ext cx="6350" cy="6858000"/>
            </a:xfrm>
            <a:prstGeom prst="rect">
              <a:avLst/>
            </a:prstGeom>
            <a:solidFill>
              <a:srgbClr val="EEF2F5">
                <a:alpha val="6000"/>
              </a:srgbClr>
            </a:solidFill>
            <a:ln>
              <a:noFill/>
            </a:ln>
          </p:spPr>
        </p:sp>
        <p:sp>
          <p:nvSpPr>
            <p:cNvPr id="4" name="Grid line"/>
            <p:cNvSpPr/>
            <p:nvPr/>
          </p:nvSpPr>
          <p:spPr>
            <a:xfrm>
              <a:off x="406400" y="0"/>
              <a:ext cx="6350" cy="6858000"/>
            </a:xfrm>
            <a:prstGeom prst="rect">
              <a:avLst/>
            </a:prstGeom>
            <a:solidFill>
              <a:srgbClr val="EEF2F5">
                <a:alpha val="6000"/>
              </a:srgbClr>
            </a:solidFill>
            <a:ln>
              <a:noFill/>
            </a:ln>
          </p:spPr>
        </p:sp>
        <p:sp>
          <p:nvSpPr>
            <p:cNvPr id="5" name="Grid line"/>
            <p:cNvSpPr/>
            <p:nvPr/>
          </p:nvSpPr>
          <p:spPr>
            <a:xfrm>
              <a:off x="812800" y="0"/>
              <a:ext cx="6350" cy="6858000"/>
            </a:xfrm>
            <a:prstGeom prst="rect">
              <a:avLst/>
            </a:prstGeom>
            <a:solidFill>
              <a:srgbClr val="EEF2F5">
                <a:alpha val="6000"/>
              </a:srgbClr>
            </a:solidFill>
            <a:ln>
              <a:noFill/>
            </a:ln>
          </p:spPr>
        </p:sp>
        <p:sp>
          <p:nvSpPr>
            <p:cNvPr id="6" name="Grid line"/>
            <p:cNvSpPr/>
            <p:nvPr/>
          </p:nvSpPr>
          <p:spPr>
            <a:xfrm>
              <a:off x="1219200" y="0"/>
              <a:ext cx="6350" cy="6858000"/>
            </a:xfrm>
            <a:prstGeom prst="rect">
              <a:avLst/>
            </a:prstGeom>
            <a:solidFill>
              <a:srgbClr val="EEF2F5">
                <a:alpha val="6000"/>
              </a:srgbClr>
            </a:solidFill>
            <a:ln>
              <a:noFill/>
            </a:ln>
          </p:spPr>
        </p:sp>
        <p:sp>
          <p:nvSpPr>
            <p:cNvPr id="7" name="Grid line"/>
            <p:cNvSpPr/>
            <p:nvPr/>
          </p:nvSpPr>
          <p:spPr>
            <a:xfrm>
              <a:off x="1625600" y="0"/>
              <a:ext cx="6350" cy="6858000"/>
            </a:xfrm>
            <a:prstGeom prst="rect">
              <a:avLst/>
            </a:prstGeom>
            <a:solidFill>
              <a:srgbClr val="EEF2F5">
                <a:alpha val="6000"/>
              </a:srgbClr>
            </a:solidFill>
            <a:ln>
              <a:noFill/>
            </a:ln>
          </p:spPr>
        </p:sp>
        <p:sp>
          <p:nvSpPr>
            <p:cNvPr id="8" name="Grid line"/>
            <p:cNvSpPr/>
            <p:nvPr/>
          </p:nvSpPr>
          <p:spPr>
            <a:xfrm>
              <a:off x="2032000" y="0"/>
              <a:ext cx="6350" cy="6858000"/>
            </a:xfrm>
            <a:prstGeom prst="rect">
              <a:avLst/>
            </a:prstGeom>
            <a:solidFill>
              <a:srgbClr val="EEF2F5">
                <a:alpha val="6000"/>
              </a:srgbClr>
            </a:solidFill>
            <a:ln>
              <a:noFill/>
            </a:ln>
          </p:spPr>
        </p:sp>
        <p:sp>
          <p:nvSpPr>
            <p:cNvPr id="9" name="Grid line"/>
            <p:cNvSpPr/>
            <p:nvPr/>
          </p:nvSpPr>
          <p:spPr>
            <a:xfrm>
              <a:off x="2438400" y="0"/>
              <a:ext cx="6350" cy="6858000"/>
            </a:xfrm>
            <a:prstGeom prst="rect">
              <a:avLst/>
            </a:prstGeom>
            <a:solidFill>
              <a:srgbClr val="EEF2F5">
                <a:alpha val="6000"/>
              </a:srgbClr>
            </a:solidFill>
            <a:ln>
              <a:noFill/>
            </a:ln>
          </p:spPr>
        </p:sp>
        <p:sp>
          <p:nvSpPr>
            <p:cNvPr id="10" name="Grid line"/>
            <p:cNvSpPr/>
            <p:nvPr/>
          </p:nvSpPr>
          <p:spPr>
            <a:xfrm>
              <a:off x="2844800" y="0"/>
              <a:ext cx="6350" cy="6858000"/>
            </a:xfrm>
            <a:prstGeom prst="rect">
              <a:avLst/>
            </a:prstGeom>
            <a:solidFill>
              <a:srgbClr val="EEF2F5">
                <a:alpha val="6000"/>
              </a:srgbClr>
            </a:solidFill>
            <a:ln>
              <a:noFill/>
            </a:ln>
          </p:spPr>
        </p:sp>
        <p:sp>
          <p:nvSpPr>
            <p:cNvPr id="11" name="Grid line"/>
            <p:cNvSpPr/>
            <p:nvPr/>
          </p:nvSpPr>
          <p:spPr>
            <a:xfrm>
              <a:off x="3251200" y="0"/>
              <a:ext cx="6350" cy="6858000"/>
            </a:xfrm>
            <a:prstGeom prst="rect">
              <a:avLst/>
            </a:prstGeom>
            <a:solidFill>
              <a:srgbClr val="EEF2F5">
                <a:alpha val="6000"/>
              </a:srgbClr>
            </a:solidFill>
            <a:ln>
              <a:noFill/>
            </a:ln>
          </p:spPr>
        </p:sp>
        <p:sp>
          <p:nvSpPr>
            <p:cNvPr id="12" name="Grid line"/>
            <p:cNvSpPr/>
            <p:nvPr/>
          </p:nvSpPr>
          <p:spPr>
            <a:xfrm>
              <a:off x="3657600" y="0"/>
              <a:ext cx="6350" cy="6858000"/>
            </a:xfrm>
            <a:prstGeom prst="rect">
              <a:avLst/>
            </a:prstGeom>
            <a:solidFill>
              <a:srgbClr val="EEF2F5">
                <a:alpha val="6000"/>
              </a:srgbClr>
            </a:solidFill>
            <a:ln>
              <a:noFill/>
            </a:ln>
          </p:spPr>
        </p:sp>
        <p:sp>
          <p:nvSpPr>
            <p:cNvPr id="13" name="Grid line"/>
            <p:cNvSpPr/>
            <p:nvPr/>
          </p:nvSpPr>
          <p:spPr>
            <a:xfrm>
              <a:off x="4064000" y="0"/>
              <a:ext cx="6350" cy="6858000"/>
            </a:xfrm>
            <a:prstGeom prst="rect">
              <a:avLst/>
            </a:prstGeom>
            <a:solidFill>
              <a:srgbClr val="EEF2F5">
                <a:alpha val="6000"/>
              </a:srgbClr>
            </a:solidFill>
            <a:ln>
              <a:noFill/>
            </a:ln>
          </p:spPr>
        </p:sp>
        <p:sp>
          <p:nvSpPr>
            <p:cNvPr id="14" name="Grid line"/>
            <p:cNvSpPr/>
            <p:nvPr/>
          </p:nvSpPr>
          <p:spPr>
            <a:xfrm>
              <a:off x="4470400" y="0"/>
              <a:ext cx="6350" cy="6858000"/>
            </a:xfrm>
            <a:prstGeom prst="rect">
              <a:avLst/>
            </a:prstGeom>
            <a:solidFill>
              <a:srgbClr val="EEF2F5">
                <a:alpha val="6000"/>
              </a:srgbClr>
            </a:solidFill>
            <a:ln>
              <a:noFill/>
            </a:ln>
          </p:spPr>
        </p:sp>
        <p:sp>
          <p:nvSpPr>
            <p:cNvPr id="15" name="Grid line"/>
            <p:cNvSpPr/>
            <p:nvPr/>
          </p:nvSpPr>
          <p:spPr>
            <a:xfrm>
              <a:off x="4876800" y="0"/>
              <a:ext cx="6350" cy="6858000"/>
            </a:xfrm>
            <a:prstGeom prst="rect">
              <a:avLst/>
            </a:prstGeom>
            <a:solidFill>
              <a:srgbClr val="EEF2F5">
                <a:alpha val="6000"/>
              </a:srgbClr>
            </a:solidFill>
            <a:ln>
              <a:noFill/>
            </a:ln>
          </p:spPr>
        </p:sp>
        <p:sp>
          <p:nvSpPr>
            <p:cNvPr id="16" name="Grid line"/>
            <p:cNvSpPr/>
            <p:nvPr/>
          </p:nvSpPr>
          <p:spPr>
            <a:xfrm>
              <a:off x="0" y="6851650"/>
              <a:ext cx="5283200" cy="6350"/>
            </a:xfrm>
            <a:prstGeom prst="rect">
              <a:avLst/>
            </a:prstGeom>
            <a:solidFill>
              <a:srgbClr val="EEF2F5">
                <a:alpha val="6000"/>
              </a:srgbClr>
            </a:solidFill>
            <a:ln>
              <a:noFill/>
            </a:ln>
          </p:spPr>
        </p:sp>
        <p:sp>
          <p:nvSpPr>
            <p:cNvPr id="17" name="Grid line"/>
            <p:cNvSpPr/>
            <p:nvPr/>
          </p:nvSpPr>
          <p:spPr>
            <a:xfrm>
              <a:off x="0" y="6445250"/>
              <a:ext cx="5283200" cy="6350"/>
            </a:xfrm>
            <a:prstGeom prst="rect">
              <a:avLst/>
            </a:prstGeom>
            <a:solidFill>
              <a:srgbClr val="EEF2F5">
                <a:alpha val="6000"/>
              </a:srgbClr>
            </a:solidFill>
            <a:ln>
              <a:noFill/>
            </a:ln>
          </p:spPr>
        </p:sp>
        <p:sp>
          <p:nvSpPr>
            <p:cNvPr id="18" name="Grid line"/>
            <p:cNvSpPr/>
            <p:nvPr/>
          </p:nvSpPr>
          <p:spPr>
            <a:xfrm>
              <a:off x="0" y="6038850"/>
              <a:ext cx="5283200" cy="6350"/>
            </a:xfrm>
            <a:prstGeom prst="rect">
              <a:avLst/>
            </a:prstGeom>
            <a:solidFill>
              <a:srgbClr val="EEF2F5">
                <a:alpha val="6000"/>
              </a:srgbClr>
            </a:solidFill>
            <a:ln>
              <a:noFill/>
            </a:ln>
          </p:spPr>
        </p:sp>
        <p:sp>
          <p:nvSpPr>
            <p:cNvPr id="19" name="Grid line"/>
            <p:cNvSpPr/>
            <p:nvPr/>
          </p:nvSpPr>
          <p:spPr>
            <a:xfrm>
              <a:off x="0" y="5632450"/>
              <a:ext cx="5283200" cy="6350"/>
            </a:xfrm>
            <a:prstGeom prst="rect">
              <a:avLst/>
            </a:prstGeom>
            <a:solidFill>
              <a:srgbClr val="EEF2F5">
                <a:alpha val="6000"/>
              </a:srgbClr>
            </a:solidFill>
            <a:ln>
              <a:noFill/>
            </a:ln>
          </p:spPr>
        </p:sp>
        <p:sp>
          <p:nvSpPr>
            <p:cNvPr id="20" name="Grid line"/>
            <p:cNvSpPr/>
            <p:nvPr/>
          </p:nvSpPr>
          <p:spPr>
            <a:xfrm>
              <a:off x="0" y="5226050"/>
              <a:ext cx="5283200" cy="6350"/>
            </a:xfrm>
            <a:prstGeom prst="rect">
              <a:avLst/>
            </a:prstGeom>
            <a:solidFill>
              <a:srgbClr val="EEF2F5">
                <a:alpha val="6000"/>
              </a:srgbClr>
            </a:solidFill>
            <a:ln>
              <a:noFill/>
            </a:ln>
          </p:spPr>
        </p:sp>
        <p:sp>
          <p:nvSpPr>
            <p:cNvPr id="21" name="Grid line"/>
            <p:cNvSpPr/>
            <p:nvPr/>
          </p:nvSpPr>
          <p:spPr>
            <a:xfrm>
              <a:off x="0" y="4819650"/>
              <a:ext cx="5283200" cy="6350"/>
            </a:xfrm>
            <a:prstGeom prst="rect">
              <a:avLst/>
            </a:prstGeom>
            <a:solidFill>
              <a:srgbClr val="EEF2F5">
                <a:alpha val="6000"/>
              </a:srgbClr>
            </a:solidFill>
            <a:ln>
              <a:noFill/>
            </a:ln>
          </p:spPr>
        </p:sp>
        <p:sp>
          <p:nvSpPr>
            <p:cNvPr id="22" name="Grid line"/>
            <p:cNvSpPr/>
            <p:nvPr/>
          </p:nvSpPr>
          <p:spPr>
            <a:xfrm>
              <a:off x="0" y="4413250"/>
              <a:ext cx="5283200" cy="6350"/>
            </a:xfrm>
            <a:prstGeom prst="rect">
              <a:avLst/>
            </a:prstGeom>
            <a:solidFill>
              <a:srgbClr val="EEF2F5">
                <a:alpha val="6000"/>
              </a:srgbClr>
            </a:solidFill>
            <a:ln>
              <a:noFill/>
            </a:ln>
          </p:spPr>
        </p:sp>
        <p:sp>
          <p:nvSpPr>
            <p:cNvPr id="23" name="Grid line"/>
            <p:cNvSpPr/>
            <p:nvPr/>
          </p:nvSpPr>
          <p:spPr>
            <a:xfrm>
              <a:off x="0" y="4006850"/>
              <a:ext cx="5283200" cy="6350"/>
            </a:xfrm>
            <a:prstGeom prst="rect">
              <a:avLst/>
            </a:prstGeom>
            <a:solidFill>
              <a:srgbClr val="EEF2F5">
                <a:alpha val="6000"/>
              </a:srgbClr>
            </a:solidFill>
            <a:ln>
              <a:noFill/>
            </a:ln>
          </p:spPr>
        </p:sp>
        <p:sp>
          <p:nvSpPr>
            <p:cNvPr id="24" name="Grid line"/>
            <p:cNvSpPr/>
            <p:nvPr/>
          </p:nvSpPr>
          <p:spPr>
            <a:xfrm>
              <a:off x="0" y="3600450"/>
              <a:ext cx="5283200" cy="6350"/>
            </a:xfrm>
            <a:prstGeom prst="rect">
              <a:avLst/>
            </a:prstGeom>
            <a:solidFill>
              <a:srgbClr val="EEF2F5">
                <a:alpha val="6000"/>
              </a:srgbClr>
            </a:solidFill>
            <a:ln>
              <a:noFill/>
            </a:ln>
          </p:spPr>
        </p:sp>
        <p:sp>
          <p:nvSpPr>
            <p:cNvPr id="25" name="Grid line"/>
            <p:cNvSpPr/>
            <p:nvPr/>
          </p:nvSpPr>
          <p:spPr>
            <a:xfrm>
              <a:off x="0" y="3194050"/>
              <a:ext cx="5283200" cy="6350"/>
            </a:xfrm>
            <a:prstGeom prst="rect">
              <a:avLst/>
            </a:prstGeom>
            <a:solidFill>
              <a:srgbClr val="EEF2F5">
                <a:alpha val="6000"/>
              </a:srgbClr>
            </a:solidFill>
            <a:ln>
              <a:noFill/>
            </a:ln>
          </p:spPr>
        </p:sp>
        <p:sp>
          <p:nvSpPr>
            <p:cNvPr id="26" name="Grid line"/>
            <p:cNvSpPr/>
            <p:nvPr/>
          </p:nvSpPr>
          <p:spPr>
            <a:xfrm>
              <a:off x="0" y="2787650"/>
              <a:ext cx="5283200" cy="6350"/>
            </a:xfrm>
            <a:prstGeom prst="rect">
              <a:avLst/>
            </a:prstGeom>
            <a:solidFill>
              <a:srgbClr val="EEF2F5">
                <a:alpha val="6000"/>
              </a:srgbClr>
            </a:solidFill>
            <a:ln>
              <a:noFill/>
            </a:ln>
          </p:spPr>
        </p:sp>
        <p:sp>
          <p:nvSpPr>
            <p:cNvPr id="27" name="Grid line"/>
            <p:cNvSpPr/>
            <p:nvPr/>
          </p:nvSpPr>
          <p:spPr>
            <a:xfrm>
              <a:off x="0" y="2381250"/>
              <a:ext cx="5283200" cy="6350"/>
            </a:xfrm>
            <a:prstGeom prst="rect">
              <a:avLst/>
            </a:prstGeom>
            <a:solidFill>
              <a:srgbClr val="EEF2F5">
                <a:alpha val="6000"/>
              </a:srgbClr>
            </a:solidFill>
            <a:ln>
              <a:noFill/>
            </a:ln>
          </p:spPr>
        </p:sp>
        <p:sp>
          <p:nvSpPr>
            <p:cNvPr id="28" name="Grid line"/>
            <p:cNvSpPr/>
            <p:nvPr/>
          </p:nvSpPr>
          <p:spPr>
            <a:xfrm>
              <a:off x="0" y="1974850"/>
              <a:ext cx="5283200" cy="6350"/>
            </a:xfrm>
            <a:prstGeom prst="rect">
              <a:avLst/>
            </a:prstGeom>
            <a:solidFill>
              <a:srgbClr val="EEF2F5">
                <a:alpha val="6000"/>
              </a:srgbClr>
            </a:solidFill>
            <a:ln>
              <a:noFill/>
            </a:ln>
          </p:spPr>
        </p:sp>
        <p:sp>
          <p:nvSpPr>
            <p:cNvPr id="29" name="Grid line"/>
            <p:cNvSpPr/>
            <p:nvPr/>
          </p:nvSpPr>
          <p:spPr>
            <a:xfrm>
              <a:off x="0" y="1568450"/>
              <a:ext cx="5283200" cy="6350"/>
            </a:xfrm>
            <a:prstGeom prst="rect">
              <a:avLst/>
            </a:prstGeom>
            <a:solidFill>
              <a:srgbClr val="EEF2F5">
                <a:alpha val="6000"/>
              </a:srgbClr>
            </a:solidFill>
            <a:ln>
              <a:noFill/>
            </a:ln>
          </p:spPr>
        </p:sp>
        <p:sp>
          <p:nvSpPr>
            <p:cNvPr id="30" name="Grid line"/>
            <p:cNvSpPr/>
            <p:nvPr/>
          </p:nvSpPr>
          <p:spPr>
            <a:xfrm>
              <a:off x="0" y="1162050"/>
              <a:ext cx="5283200" cy="6350"/>
            </a:xfrm>
            <a:prstGeom prst="rect">
              <a:avLst/>
            </a:prstGeom>
            <a:solidFill>
              <a:srgbClr val="EEF2F5">
                <a:alpha val="6000"/>
              </a:srgbClr>
            </a:solidFill>
            <a:ln>
              <a:noFill/>
            </a:ln>
          </p:spPr>
        </p:sp>
        <p:sp>
          <p:nvSpPr>
            <p:cNvPr id="31" name="Grid line"/>
            <p:cNvSpPr/>
            <p:nvPr/>
          </p:nvSpPr>
          <p:spPr>
            <a:xfrm>
              <a:off x="0" y="755650"/>
              <a:ext cx="5283200" cy="6350"/>
            </a:xfrm>
            <a:prstGeom prst="rect">
              <a:avLst/>
            </a:prstGeom>
            <a:solidFill>
              <a:srgbClr val="EEF2F5">
                <a:alpha val="6000"/>
              </a:srgbClr>
            </a:solidFill>
            <a:ln>
              <a:noFill/>
            </a:ln>
          </p:spPr>
        </p:sp>
        <p:sp>
          <p:nvSpPr>
            <p:cNvPr id="32" name="Grid line"/>
            <p:cNvSpPr/>
            <p:nvPr/>
          </p:nvSpPr>
          <p:spPr>
            <a:xfrm>
              <a:off x="0" y="349250"/>
              <a:ext cx="5283200" cy="6350"/>
            </a:xfrm>
            <a:prstGeom prst="rect">
              <a:avLst/>
            </a:prstGeom>
            <a:solidFill>
              <a:srgbClr val="EEF2F5">
                <a:alpha val="6000"/>
              </a:srgbClr>
            </a:solidFill>
            <a:ln>
              <a:noFill/>
            </a:ln>
          </p:spPr>
        </p:sp>
      </p:grpSp>
      <p:sp>
        <p:nvSpPr>
          <p:cNvPr id="33" name="Thank you"/>
          <p:cNvSpPr txBox="1"/>
          <p:nvPr/>
        </p:nvSpPr>
        <p:spPr>
          <a:xfrm>
            <a:off x="812800" y="1727200"/>
            <a:ext cx="10566400" cy="1625600"/>
          </a:xfrm>
          <a:prstGeom prst="rect">
            <a:avLst/>
          </a:prstGeom>
          <a:noFill/>
          <a:ln>
            <a:noFill/>
          </a:ln>
        </p:spPr>
        <p:txBody>
          <a:bodyPr wrap="square" lIns="0" tIns="0" rIns="0" bIns="0" anchor="t" rtlCol="0">
            <a:noAutofit/>
          </a:bodyPr>
          <a:lstStyle/>
          <a:p>
            <a:pPr algn="r"/>
            <a:r>
              <a:rPr lang="en-US" sz="10000" b="1" dirty="0" spc="-300">
                <a:ln w="19050">
                  <a:solidFill>
                    <a:srgbClr val="EEF2F5"/>
                  </a:solidFill>
                </a:ln>
                <a:noFill/>
                <a:latin typeface="Space Grotesk"/>
                <a:cs typeface="Space Grotesk"/>
              </a:rPr>
              <a:t>THANK YOU</a:t>
            </a:r>
            <a:endParaRPr lang="en-US" sz="10000" b="1" dirty="0" spc="-300">
              <a:ln w="19050">
                <a:solidFill>
                  <a:srgbClr val="EEF2F5"/>
                </a:solidFill>
              </a:ln>
              <a:noFill/>
              <a:latin typeface="Space Grotesk"/>
              <a:cs typeface="Space Grotesk"/>
            </a:endParaRPr>
          </a:p>
        </p:txBody>
      </p:sp>
      <p:sp>
        <p:nvSpPr>
          <p:cNvPr id="34" name="Questions"/>
          <p:cNvSpPr txBox="1"/>
          <p:nvPr/>
        </p:nvSpPr>
        <p:spPr>
          <a:xfrm>
            <a:off x="812800" y="3358896"/>
            <a:ext cx="10566400" cy="787400"/>
          </a:xfrm>
          <a:prstGeom prst="rect">
            <a:avLst/>
          </a:prstGeom>
          <a:noFill/>
          <a:ln>
            <a:noFill/>
          </a:ln>
        </p:spPr>
        <p:txBody>
          <a:bodyPr wrap="square" lIns="0" tIns="0" rIns="0" bIns="0" anchor="t" rtlCol="0">
            <a:noAutofit/>
          </a:bodyPr>
          <a:lstStyle/>
          <a:p>
            <a:pPr algn="r"/>
            <a:r>
              <a:rPr lang="en-US" sz="4800" b="1" dirty="0" spc="-100">
                <a:solidFill>
                  <a:srgbClr val="FF4655"/>
                </a:solidFill>
                <a:latin typeface="Space Grotesk"/>
                <a:cs typeface="Space Grotesk"/>
              </a:rPr>
              <a:t>Questions?</a:t>
            </a:r>
            <a:endParaRPr lang="en-US" sz="4800" b="1" dirty="0" spc="-100">
              <a:solidFill>
                <a:srgbClr val="FF4655"/>
              </a:solidFill>
              <a:latin typeface="Space Grotesk"/>
              <a:cs typeface="Space Grotesk"/>
            </a:endParaRPr>
          </a:p>
        </p:txBody>
      </p:sp>
      <p:sp>
        <p:nvSpPr>
          <p:cNvPr id="35" name="Credits"/>
          <p:cNvSpPr txBox="1"/>
          <p:nvPr/>
        </p:nvSpPr>
        <p:spPr>
          <a:xfrm>
            <a:off x="812800" y="4572000"/>
            <a:ext cx="10566400" cy="254000"/>
          </a:xfrm>
          <a:prstGeom prst="rect">
            <a:avLst/>
          </a:prstGeom>
          <a:noFill/>
          <a:ln>
            <a:noFill/>
          </a:ln>
        </p:spPr>
        <p:txBody>
          <a:bodyPr wrap="square" lIns="0" tIns="0" rIns="0" bIns="0" anchor="t" rtlCol="0">
            <a:noAutofit/>
          </a:bodyPr>
          <a:lstStyle/>
          <a:p>
            <a:pPr algn="r"/>
            <a:r>
              <a:rPr lang="en-US" sz="1600" b="0" dirty="0">
                <a:solidFill>
                  <a:srgbClr val="9FB0C0"/>
                </a:solidFill>
                <a:latin typeface="Inter"/>
                <a:cs typeface="Inter"/>
              </a:rPr>
              <a:t>The Novice Ninjas · Drawing2CAD</a:t>
            </a:r>
            <a:endParaRPr lang="en-US" sz="1600" b="0" dirty="0">
              <a:solidFill>
                <a:srgbClr val="9FB0C0"/>
              </a:solidFill>
              <a:latin typeface="Inter"/>
              <a:cs typeface="Inter"/>
            </a:endParaRPr>
          </a:p>
        </p:txBody>
      </p:sp>
    </p:spTree>
  </p:cSld>
  <p:clrMapOvr>
    <a:masterClrMapping/>
  </p:clrMapOvr>
  <p:transition spd="med" advClick="0" advTm="97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600"/>
                                        <p:tgtEl>
                                          <p:spTgt spid="33"/>
                                        </p:tgtEl>
                                      </p:cBhvr>
                                    </p:animEffect>
                                    <p:anim calcmode="lin" valueType="num">
                                      <p:cBhvr additive="base">
                                        <p:cTn id="8" dur="600" fill="hold"/>
                                        <p:tgtEl>
                                          <p:spTgt spid="33"/>
                                        </p:tgtEl>
                                        <p:attrNameLst>
                                          <p:attrName>ppt_x</p:attrName>
                                        </p:attrNameLst>
                                      </p:cBhvr>
                                      <p:tavLst>
                                        <p:tav tm="0">
                                          <p:val>
                                            <p:strVal val="#ppt_x"/>
                                          </p:val>
                                        </p:tav>
                                        <p:tav tm="100000">
                                          <p:val>
                                            <p:strVal val="#ppt_x"/>
                                          </p:val>
                                        </p:tav>
                                      </p:tavLst>
                                    </p:anim>
                                    <p:anim calcmode="lin" valueType="num">
                                      <p:cBhvr additive="base">
                                        <p:cTn id="9" dur="600" fill="hold"/>
                                        <p:tgtEl>
                                          <p:spTgt spid="33"/>
                                        </p:tgtEl>
                                        <p:attrNameLst>
                                          <p:attrName>ppt_y</p:attrName>
                                        </p:attrNameLst>
                                      </p:cBhvr>
                                      <p:tavLst>
                                        <p:tav tm="0">
                                          <p:val>
                                            <p:strVal val="#ppt_y+.1"/>
                                          </p:val>
                                        </p:tav>
                                        <p:tav tm="100000">
                                          <p:val>
                                            <p:strVal val="#ppt_y"/>
                                          </p:val>
                                        </p:tav>
                                      </p:tavLst>
                                    </p:anim>
                                  </p:childTnLst>
                                </p:cTn>
                              </p:par>
                            </p:childTnLst>
                          </p:cTn>
                        </p:par>
                        <p:par>
                          <p:cTn id="10" fill="hold">
                            <p:stCondLst>
                              <p:cond delay="600"/>
                            </p:stCondLst>
                            <p:childTnLst>
                              <p:par>
                                <p:cTn id="11" presetID="42" presetClass="entr" presetSubtype="0" fill="hold" grpId="0"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600"/>
                                        <p:tgtEl>
                                          <p:spTgt spid="34"/>
                                        </p:tgtEl>
                                      </p:cBhvr>
                                    </p:animEffect>
                                    <p:anim calcmode="lin" valueType="num">
                                      <p:cBhvr additive="base">
                                        <p:cTn id="14" dur="600" fill="hold"/>
                                        <p:tgtEl>
                                          <p:spTgt spid="34"/>
                                        </p:tgtEl>
                                        <p:attrNameLst>
                                          <p:attrName>ppt_x</p:attrName>
                                        </p:attrNameLst>
                                      </p:cBhvr>
                                      <p:tavLst>
                                        <p:tav tm="0">
                                          <p:val>
                                            <p:strVal val="#ppt_x"/>
                                          </p:val>
                                        </p:tav>
                                        <p:tav tm="100000">
                                          <p:val>
                                            <p:strVal val="#ppt_x"/>
                                          </p:val>
                                        </p:tav>
                                      </p:tavLst>
                                    </p:anim>
                                    <p:anim calcmode="lin" valueType="num">
                                      <p:cBhvr additive="base">
                                        <p:cTn id="15" dur="600" fill="hold"/>
                                        <p:tgtEl>
                                          <p:spTgt spid="34"/>
                                        </p:tgtEl>
                                        <p:attrNameLst>
                                          <p:attrName>ppt_y</p:attrName>
                                        </p:attrNameLst>
                                      </p:cBhvr>
                                      <p:tavLst>
                                        <p:tav tm="0">
                                          <p:val>
                                            <p:strVal val="#ppt_y+.1"/>
                                          </p:val>
                                        </p:tav>
                                        <p:tav tm="100000">
                                          <p:val>
                                            <p:strVal val="#ppt_y"/>
                                          </p:val>
                                        </p:tav>
                                      </p:tavLst>
                                    </p:anim>
                                  </p:childTnLst>
                                </p:cTn>
                              </p:par>
                            </p:childTnLst>
                          </p:cTn>
                        </p:par>
                        <p:par>
                          <p:cTn id="16" fill="hold">
                            <p:stCondLst>
                              <p:cond delay="1200"/>
                            </p:stCondLst>
                            <p:childTnLst>
                              <p:par>
                                <p:cTn id="17" presetID="10" presetClass="entr" presetSubtype="0" fill="hold" grpId="0"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rawing2CAD">
      <a:majorFont>
        <a:latin typeface="Space Grotesk"/>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Drawing2CAD</dc:title>
  <dc:subject/>
  <dc:creator>The Novice Ninjas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