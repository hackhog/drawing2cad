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We are The Novice Ninjas, and this is Drawing2CAD: we turn 2D technical drawings into 3D CAD models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parts mostly exist as 2D drawings like this one, in countless different formats. Turning them into CAD models is done by hand, drawing by drawing.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goal is Drawing2CAD: accurate output, a fully automated workflow, and it runs on average AI models rather than specialised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uploads a PDF in the UI. The UI hands it to our 3D Creation MCP Server, which is backed by a skill and tooling set. The server returns a STEP file, which the UI hands back to the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the server, three stages: features are extracted from the PDF, the 3D Model Creator builds the model, and the Validator checks it. If the check fails, it loops back to the Model Creator. What comes out is a STEP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drawing takes three hours on average to remodel by hand. At €50 per hour personnel cost, that is €150 per drawing. For 500 drawings, that is €75,000 saved; for 2,000 drawings, €300,000; for 5,000 drawings, €750,000.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demo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our output evolved. V1 had rough mesh geometry and an open clamp. V2 captured the base plate, the holes, the tube boss and the split-ring clamp. V3, our current result, is a clean solid model with smooth faces, the slotted boss and the split clamp.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Slide-background-2-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F192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3950"/>
            <a:ext cx="10566400" cy="584200"/>
          </a:xfrm>
          <a:prstGeom prst="rect">
            <a:avLst/>
          </a:prstGeom>
          <a:noFill/>
          <a:ln/>
        </p:spPr>
        <p:txBody>
          <a:bodyPr wrap="square" lIns="0" tIns="0" rIns="0" bIns="0" rtlCol="0" anchor="t"/>
          <a:lstStyle>
            <a:lvl1pPr algn="l" indent="0" marL="0">
              <a:lnSpc>
                <a:spcPct val="115000"/>
              </a:lnSpc>
              <a:buNone/>
              <a:defRPr lang="en-US" sz="4400" dirty="0">
                <a:solidFill>
                  <a:srgbClr val="EEF2F5"/>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4400" dirty="0"/>
          </a:p>
        </p:txBody>
      </p:sp>
      <p:sp>
        <p:nvSpPr>
          <p:cNvPr id="3" name="Text Placeholder 2"/>
          <p:cNvSpPr/>
          <p:nvPr>
            <p:ph idx="101" type="body"/>
          </p:nvPr>
        </p:nvSpPr>
        <p:spPr>
          <a:xfrm>
            <a:off x="812800" y="2012950"/>
            <a:ext cx="10566400" cy="4032250"/>
          </a:xfrm>
          <a:prstGeom prst="rect">
            <a:avLst/>
          </a:prstGeom>
          <a:noFill/>
          <a:ln/>
        </p:spPr>
        <p:txBody>
          <a:bodyPr wrap="square" lIns="0" tIns="0" rIns="0" bIns="0" rtlCol="0" anchor="t"/>
          <a:lstStyle>
            <a:lvl1pPr algn="l" indent="0" marL="0">
              <a:lnSpc>
                <a:spcPct val="140000"/>
              </a:lnSpc>
              <a:buNone/>
              <a:defRPr lang="en-US" sz="1600" dirty="0">
                <a:solidFill>
                  <a:srgbClr val="EEF2F5"/>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23950"/>
            <a:ext cx="10566400" cy="584200"/>
          </a:xfrm>
          <a:prstGeom prst="rect">
            <a:avLst/>
          </a:prstGeom>
          <a:noFill/>
          <a:ln/>
        </p:spPr>
        <p:txBody>
          <a:bodyPr wrap="square" lIns="0" tIns="0" rIns="0" bIns="0" rtlCol="0" anchor="t"/>
          <a:lstStyle>
            <a:lvl1pPr algn="l" indent="0" marL="0">
              <a:lnSpc>
                <a:spcPct val="115000"/>
              </a:lnSpc>
              <a:buNone/>
              <a:defRPr lang="en-US" sz="4400" dirty="0">
                <a:solidFill>
                  <a:srgbClr val="EEF2F5"/>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4400" dirty="0"/>
          </a:p>
        </p:txBody>
      </p:sp>
      <p:sp>
        <p:nvSpPr>
          <p:cNvPr id="3" name="Text Placeholder 2"/>
          <p:cNvSpPr/>
          <p:nvPr>
            <p:ph idx="101" type="body"/>
          </p:nvPr>
        </p:nvSpPr>
        <p:spPr>
          <a:xfrm>
            <a:off x="812800" y="2012950"/>
            <a:ext cx="10566400" cy="4032250"/>
          </a:xfrm>
          <a:prstGeom prst="rect">
            <a:avLst/>
          </a:prstGeom>
          <a:noFill/>
          <a:ln/>
        </p:spPr>
        <p:txBody>
          <a:bodyPr wrap="square" lIns="0" tIns="0" rIns="0" bIns="0" rtlCol="0" anchor="t"/>
          <a:lstStyle>
            <a:lvl1pPr algn="l" indent="0" marL="0">
              <a:lnSpc>
                <a:spcPct val="140000"/>
              </a:lnSpc>
              <a:buNone/>
              <a:defRPr lang="en-US" sz="1600" dirty="0">
                <a:solidFill>
                  <a:srgbClr val="EEF2F5"/>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background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23950"/>
            <a:ext cx="10566400" cy="584200"/>
          </a:xfrm>
          <a:prstGeom prst="rect">
            <a:avLst/>
          </a:prstGeom>
          <a:noFill/>
          <a:ln/>
        </p:spPr>
        <p:txBody>
          <a:bodyPr wrap="square" lIns="0" tIns="0" rIns="0" bIns="0" rtlCol="0" anchor="t"/>
          <a:lstStyle>
            <a:lvl1pPr algn="l" indent="0" marL="0">
              <a:lnSpc>
                <a:spcPct val="115000"/>
              </a:lnSpc>
              <a:buNone/>
              <a:defRPr lang="en-US" sz="4400" dirty="0">
                <a:solidFill>
                  <a:srgbClr val="FF4655"/>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4400" dirty="0"/>
          </a:p>
        </p:txBody>
      </p:sp>
      <p:sp>
        <p:nvSpPr>
          <p:cNvPr id="3" name="Text Placeholder 2"/>
          <p:cNvSpPr/>
          <p:nvPr>
            <p:ph idx="101" type="body"/>
          </p:nvPr>
        </p:nvSpPr>
        <p:spPr>
          <a:xfrm>
            <a:off x="812800" y="2012950"/>
            <a:ext cx="10566400" cy="4032250"/>
          </a:xfrm>
          <a:prstGeom prst="rect">
            <a:avLst/>
          </a:prstGeom>
          <a:noFill/>
          <a:ln/>
        </p:spPr>
        <p:txBody>
          <a:bodyPr wrap="square" lIns="0" tIns="0" rIns="0" bIns="0" rtlCol="0" anchor="t"/>
          <a:lstStyle>
            <a:lvl1pPr algn="l" indent="0" marL="0">
              <a:lnSpc>
                <a:spcPct val="140000"/>
              </a:lnSpc>
              <a:buNone/>
              <a:defRPr lang="en-US" sz="1600" dirty="0">
                <a:solidFill>
                  <a:srgbClr val="FF4655"/>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F192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3950"/>
            <a:ext cx="10566400" cy="584200"/>
          </a:xfrm>
          <a:prstGeom prst="rect">
            <a:avLst/>
          </a:prstGeom>
          <a:noFill/>
          <a:ln/>
        </p:spPr>
        <p:txBody>
          <a:bodyPr wrap="square" lIns="0" tIns="0" rIns="0" bIns="0" rtlCol="0" anchor="t"/>
          <a:lstStyle>
            <a:lvl1pPr algn="l" indent="0" marL="0">
              <a:lnSpc>
                <a:spcPct val="115000"/>
              </a:lnSpc>
              <a:buNone/>
              <a:defRPr lang="en-US" sz="4400" dirty="0">
                <a:solidFill>
                  <a:srgbClr val="EEF2F5"/>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4400" dirty="0"/>
          </a:p>
        </p:txBody>
      </p:sp>
      <p:sp>
        <p:nvSpPr>
          <p:cNvPr id="3" name="Text Placeholder 2"/>
          <p:cNvSpPr/>
          <p:nvPr>
            <p:ph idx="101" type="body"/>
          </p:nvPr>
        </p:nvSpPr>
        <p:spPr>
          <a:xfrm>
            <a:off x="812800" y="2012950"/>
            <a:ext cx="10566400" cy="4032250"/>
          </a:xfrm>
          <a:prstGeom prst="rect">
            <a:avLst/>
          </a:prstGeom>
          <a:noFill/>
          <a:ln/>
        </p:spPr>
        <p:txBody>
          <a:bodyPr wrap="square" lIns="0" tIns="0" rIns="0" bIns="0" rtlCol="0" anchor="t"/>
          <a:lstStyle>
            <a:lvl1pPr algn="l" indent="0" marL="0">
              <a:lnSpc>
                <a:spcPct val="140000"/>
              </a:lnSpc>
              <a:buNone/>
              <a:defRPr lang="en-US" sz="1600" dirty="0">
                <a:solidFill>
                  <a:srgbClr val="EEF2F5"/>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2.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908800" y="0"/>
            <a:ext cx="5283200" cy="6858000"/>
          </a:xfrm>
          <a:prstGeom prst="rect">
            <a:avLst/>
          </a:prstGeom>
          <a:gradFill rotWithShape="1">
            <a:gsLst>
              <a:gs pos="0">
                <a:srgbClr val="EEF2F5">
                  <a:alpha val="7000"/>
                </a:srgbClr>
              </a:gs>
              <a:gs pos="1563">
                <a:srgbClr val="EEF2F5">
                  <a:alpha val="7000"/>
                </a:srgbClr>
              </a:gs>
              <a:gs pos="1563">
                <a:srgbClr val="EEF2F5">
                  <a:alpha val="0"/>
                </a:srgbClr>
              </a:gs>
              <a:gs pos="100000">
                <a:srgbClr val="0F1924">
                  <a:alpha val="0"/>
                </a:srgbClr>
              </a:gs>
            </a:gsLst>
            <a:lin ang="0" scaled="0"/>
          </a:gradFill>
          <a:ln/>
        </p:spPr>
      </p:sp>
      <p:sp>
        <p:nvSpPr>
          <p:cNvPr id="3" name="Shape 1"/>
          <p:cNvSpPr/>
          <p:nvPr/>
        </p:nvSpPr>
        <p:spPr>
          <a:xfrm>
            <a:off x="7188895" y="0"/>
            <a:ext cx="5283200" cy="6858000"/>
          </a:xfrm>
          <a:prstGeom prst="rect">
            <a:avLst/>
          </a:prstGeom>
          <a:gradFill rotWithShape="1">
            <a:gsLst>
              <a:gs pos="0">
                <a:srgbClr val="EEF2F5">
                  <a:alpha val="7000"/>
                </a:srgbClr>
              </a:gs>
              <a:gs pos="1563">
                <a:srgbClr val="EEF2F5">
                  <a:alpha val="7000"/>
                </a:srgbClr>
              </a:gs>
              <a:gs pos="1563">
                <a:srgbClr val="EEF2F5">
                  <a:alpha val="0"/>
                </a:srgbClr>
              </a:gs>
              <a:gs pos="100000">
                <a:srgbClr val="0F1924">
                  <a:alpha val="0"/>
                </a:srgbClr>
              </a:gs>
            </a:gsLst>
            <a:lin ang="16200000" scaled="0"/>
          </a:gradFill>
          <a:ln/>
        </p:spPr>
      </p:sp>
      <p:sp>
        <p:nvSpPr>
          <p:cNvPr id="4" name="Shape 2"/>
          <p:cNvSpPr/>
          <p:nvPr/>
        </p:nvSpPr>
        <p:spPr>
          <a:xfrm>
            <a:off x="812800" y="1905000"/>
            <a:ext cx="1270000" cy="76200"/>
          </a:xfrm>
          <a:prstGeom prst="roundRect">
            <a:avLst>
              <a:gd name="adj" fmla="val 50000"/>
            </a:avLst>
          </a:prstGeom>
          <a:solidFill>
            <a:srgbClr val="FF4655"/>
          </a:solidFill>
          <a:ln/>
        </p:spPr>
      </p:sp>
      <p:sp>
        <p:nvSpPr>
          <p:cNvPr id="5" name="Text 3"/>
          <p:cNvSpPr/>
          <p:nvPr/>
        </p:nvSpPr>
        <p:spPr>
          <a:xfrm>
            <a:off x="812800" y="2159000"/>
            <a:ext cx="7848600" cy="273050"/>
          </a:xfrm>
          <a:prstGeom prst="rect">
            <a:avLst/>
          </a:prstGeom>
          <a:noFill/>
          <a:ln/>
        </p:spPr>
        <p:txBody>
          <a:bodyPr wrap="square" lIns="0" tIns="0" rIns="0" bIns="0" rtlCol="0" anchor="t">
            <a:normAutofit/>
          </a:bodyPr>
          <a:lstStyle/>
          <a:p>
            <a:pPr algn="l" indent="0" marL="0">
              <a:lnSpc>
                <a:spcPts val="1960"/>
              </a:lnSpc>
              <a:buNone/>
            </a:pPr>
            <a:r>
              <a:rPr lang="en-US" sz="1400" b="1" spc="300" kern="0" dirty="0">
                <a:solidFill>
                  <a:srgbClr val="FF4655"/>
                </a:solidFill>
                <a:latin typeface="Inter" pitchFamily="34" charset="0"/>
                <a:ea typeface="Inter" pitchFamily="34" charset="-122"/>
                <a:cs typeface="Inter" pitchFamily="34" charset="-120"/>
              </a:rPr>
              <a:t>BLACK FOREST HACKATHON</a:t>
            </a:r>
            <a:endParaRPr lang="en-US" sz="1400" dirty="0"/>
          </a:p>
        </p:txBody>
      </p:sp>
      <p:sp>
        <p:nvSpPr>
          <p:cNvPr id="6" name="Text 4"/>
          <p:cNvSpPr/>
          <p:nvPr/>
        </p:nvSpPr>
        <p:spPr>
          <a:xfrm>
            <a:off x="812800" y="2540000"/>
            <a:ext cx="5491465" cy="1295400"/>
          </a:xfrm>
          <a:prstGeom prst="rect">
            <a:avLst/>
          </a:prstGeom>
          <a:noFill/>
          <a:ln/>
        </p:spPr>
        <p:txBody>
          <a:bodyPr wrap="square" lIns="0" tIns="0" rIns="0" bIns="0" rtlCol="0" anchor="t">
            <a:normAutofit/>
          </a:bodyPr>
          <a:lstStyle/>
          <a:p>
            <a:pPr algn="l" indent="0" marL="0">
              <a:lnSpc>
                <a:spcPts val="10000"/>
              </a:lnSpc>
              <a:buNone/>
            </a:pPr>
            <a:r>
              <a:rPr lang="en-US" sz="10000" b="1" spc="-300" kern="0" dirty="0">
                <a:solidFill>
                  <a:srgbClr val="000000">
                    <a:alpha val="0"/>
                  </a:srgbClr>
                </a:solidFill>
                <a:latin typeface="Space Grotesk" pitchFamily="34" charset="0"/>
                <a:ea typeface="Space Grotesk" pitchFamily="34" charset="-122"/>
                <a:cs typeface="Space Grotesk" pitchFamily="34" charset="-120"/>
              </a:rPr>
              <a:t>DRAWING</a:t>
            </a:r>
            <a:endParaRPr lang="en-US" sz="10000" dirty="0"/>
          </a:p>
        </p:txBody>
      </p:sp>
      <p:sp>
        <p:nvSpPr>
          <p:cNvPr id="7" name="Text 5"/>
          <p:cNvSpPr/>
          <p:nvPr/>
        </p:nvSpPr>
        <p:spPr>
          <a:xfrm>
            <a:off x="6296720" y="2540000"/>
            <a:ext cx="859631" cy="1295400"/>
          </a:xfrm>
          <a:prstGeom prst="rect">
            <a:avLst/>
          </a:prstGeom>
          <a:noFill/>
          <a:ln/>
        </p:spPr>
        <p:txBody>
          <a:bodyPr wrap="square" lIns="0" tIns="0" rIns="0" bIns="0" rtlCol="0" anchor="t">
            <a:normAutofit/>
          </a:bodyPr>
          <a:lstStyle/>
          <a:p>
            <a:pPr algn="l" indent="0" marL="0">
              <a:lnSpc>
                <a:spcPts val="10000"/>
              </a:lnSpc>
              <a:buNone/>
            </a:pPr>
            <a:r>
              <a:rPr lang="en-US" sz="10000" b="1" spc="-300" kern="0" dirty="0">
                <a:solidFill>
                  <a:srgbClr val="000000">
                    <a:alpha val="0"/>
                  </a:srgbClr>
                </a:solidFill>
                <a:latin typeface="Space Grotesk" pitchFamily="34" charset="0"/>
                <a:ea typeface="Space Grotesk" pitchFamily="34" charset="-122"/>
                <a:cs typeface="Space Grotesk" pitchFamily="34" charset="-120"/>
              </a:rPr>
              <a:t>2</a:t>
            </a:r>
            <a:endParaRPr lang="en-US" sz="10000" dirty="0"/>
          </a:p>
        </p:txBody>
      </p:sp>
      <p:sp>
        <p:nvSpPr>
          <p:cNvPr id="8" name="Text 6"/>
          <p:cNvSpPr/>
          <p:nvPr/>
        </p:nvSpPr>
        <p:spPr>
          <a:xfrm>
            <a:off x="7165479" y="2540000"/>
            <a:ext cx="2859048" cy="1295400"/>
          </a:xfrm>
          <a:prstGeom prst="rect">
            <a:avLst/>
          </a:prstGeom>
          <a:noFill/>
          <a:ln/>
        </p:spPr>
        <p:txBody>
          <a:bodyPr wrap="square" lIns="0" tIns="0" rIns="0" bIns="0" rtlCol="0" anchor="t">
            <a:normAutofit/>
          </a:bodyPr>
          <a:lstStyle/>
          <a:p>
            <a:pPr algn="l" indent="0" marL="0">
              <a:lnSpc>
                <a:spcPts val="10000"/>
              </a:lnSpc>
              <a:buNone/>
            </a:pPr>
            <a:r>
              <a:rPr lang="en-US" sz="10000" b="1" spc="-200" kern="0" dirty="0">
                <a:solidFill>
                  <a:srgbClr val="000000">
                    <a:alpha val="0"/>
                  </a:srgbClr>
                </a:solidFill>
                <a:latin typeface="Space Grotesk" pitchFamily="34" charset="0"/>
                <a:ea typeface="Space Grotesk" pitchFamily="34" charset="-122"/>
                <a:cs typeface="Space Grotesk" pitchFamily="34" charset="-120"/>
              </a:rPr>
              <a:t>CAD</a:t>
            </a:r>
            <a:endParaRPr lang="en-US" sz="10000" dirty="0"/>
          </a:p>
        </p:txBody>
      </p:sp>
      <p:sp>
        <p:nvSpPr>
          <p:cNvPr id="9" name="Text 7"/>
          <p:cNvSpPr/>
          <p:nvPr/>
        </p:nvSpPr>
        <p:spPr>
          <a:xfrm>
            <a:off x="812800" y="2540000"/>
            <a:ext cx="5491465" cy="1295400"/>
          </a:xfrm>
          <a:prstGeom prst="rect">
            <a:avLst/>
          </a:prstGeom>
          <a:noFill/>
          <a:ln/>
        </p:spPr>
        <p:txBody>
          <a:bodyPr wrap="square" lIns="0" tIns="0" rIns="0" bIns="0" rtlCol="0" anchor="t">
            <a:normAutofit/>
          </a:bodyPr>
          <a:lstStyle/>
          <a:p>
            <a:pPr algn="l" indent="0" marL="0">
              <a:lnSpc>
                <a:spcPts val="10000"/>
              </a:lnSpc>
              <a:buNone/>
            </a:pPr>
            <a:r>
              <a:rPr lang="en-US" sz="10000" b="1" spc="-300" kern="0" dirty="0">
                <a:solidFill>
                  <a:srgbClr val="000000">
                    <a:alpha val="0"/>
                  </a:srgbClr>
                </a:solidFill>
                <a:latin typeface="Space Grotesk" pitchFamily="34" charset="0"/>
                <a:ea typeface="Space Grotesk" pitchFamily="34" charset="-122"/>
                <a:cs typeface="Space Grotesk" pitchFamily="34" charset="-120"/>
              </a:rPr>
              <a:t>DRAWING</a:t>
            </a:r>
            <a:endParaRPr lang="en-US" sz="10000" dirty="0"/>
          </a:p>
        </p:txBody>
      </p:sp>
      <p:sp>
        <p:nvSpPr>
          <p:cNvPr id="10" name="Text 8"/>
          <p:cNvSpPr/>
          <p:nvPr/>
        </p:nvSpPr>
        <p:spPr>
          <a:xfrm>
            <a:off x="6296720" y="2540000"/>
            <a:ext cx="859631" cy="1295400"/>
          </a:xfrm>
          <a:prstGeom prst="rect">
            <a:avLst/>
          </a:prstGeom>
          <a:noFill/>
          <a:ln/>
        </p:spPr>
        <p:txBody>
          <a:bodyPr wrap="square" lIns="0" tIns="0" rIns="0" bIns="0" rtlCol="0" anchor="t">
            <a:normAutofit/>
          </a:bodyPr>
          <a:lstStyle/>
          <a:p>
            <a:pPr algn="l" indent="0" marL="0">
              <a:lnSpc>
                <a:spcPts val="10000"/>
              </a:lnSpc>
              <a:buNone/>
            </a:pPr>
            <a:r>
              <a:rPr lang="en-US" sz="10000" b="1" spc="-300" kern="0" dirty="0">
                <a:solidFill>
                  <a:srgbClr val="FF4655"/>
                </a:solidFill>
                <a:latin typeface="Space Grotesk" pitchFamily="34" charset="0"/>
                <a:ea typeface="Space Grotesk" pitchFamily="34" charset="-122"/>
                <a:cs typeface="Space Grotesk" pitchFamily="34" charset="-120"/>
              </a:rPr>
              <a:t>2</a:t>
            </a:r>
            <a:endParaRPr lang="en-US" sz="10000" dirty="0"/>
          </a:p>
        </p:txBody>
      </p:sp>
      <p:sp>
        <p:nvSpPr>
          <p:cNvPr id="11" name="Text 9"/>
          <p:cNvSpPr/>
          <p:nvPr/>
        </p:nvSpPr>
        <p:spPr>
          <a:xfrm>
            <a:off x="7165479" y="2540000"/>
            <a:ext cx="2859048" cy="1295400"/>
          </a:xfrm>
          <a:prstGeom prst="rect">
            <a:avLst/>
          </a:prstGeom>
          <a:noFill/>
          <a:ln/>
        </p:spPr>
        <p:txBody>
          <a:bodyPr wrap="square" lIns="0" tIns="0" rIns="0" bIns="0" rtlCol="0" anchor="t">
            <a:normAutofit/>
          </a:bodyPr>
          <a:lstStyle/>
          <a:p>
            <a:pPr algn="l" indent="0" marL="0">
              <a:lnSpc>
                <a:spcPts val="10000"/>
              </a:lnSpc>
              <a:buNone/>
            </a:pPr>
            <a:r>
              <a:rPr lang="en-US" sz="10000" b="1" spc="-200" kern="0" dirty="0">
                <a:solidFill>
                  <a:srgbClr val="000000">
                    <a:alpha val="0"/>
                  </a:srgbClr>
                </a:solidFill>
                <a:latin typeface="Space Grotesk" pitchFamily="34" charset="0"/>
                <a:ea typeface="Space Grotesk" pitchFamily="34" charset="-122"/>
                <a:cs typeface="Space Grotesk" pitchFamily="34" charset="-120"/>
              </a:rPr>
              <a:t>CAD</a:t>
            </a:r>
            <a:endParaRPr lang="en-US" sz="10000" dirty="0"/>
          </a:p>
        </p:txBody>
      </p:sp>
      <p:sp>
        <p:nvSpPr>
          <p:cNvPr id="12" name="Text 10"/>
          <p:cNvSpPr/>
          <p:nvPr/>
        </p:nvSpPr>
        <p:spPr>
          <a:xfrm>
            <a:off x="812800" y="2540000"/>
            <a:ext cx="5491465" cy="1295400"/>
          </a:xfrm>
          <a:prstGeom prst="rect">
            <a:avLst/>
          </a:prstGeom>
          <a:noFill/>
          <a:ln/>
        </p:spPr>
        <p:txBody>
          <a:bodyPr wrap="square" lIns="0" tIns="0" rIns="0" bIns="0" rtlCol="0" anchor="t">
            <a:normAutofit/>
          </a:bodyPr>
          <a:lstStyle/>
          <a:p>
            <a:pPr algn="l" indent="0" marL="0">
              <a:lnSpc>
                <a:spcPts val="10000"/>
              </a:lnSpc>
              <a:buNone/>
            </a:pPr>
            <a:r>
              <a:rPr lang="en-US" sz="10000" b="1" spc="-300" kern="0" dirty="0">
                <a:solidFill>
                  <a:srgbClr val="000000">
                    <a:alpha val="0"/>
                  </a:srgbClr>
                </a:solidFill>
                <a:latin typeface="Space Grotesk" pitchFamily="34" charset="0"/>
                <a:ea typeface="Space Grotesk" pitchFamily="34" charset="-122"/>
                <a:cs typeface="Space Grotesk" pitchFamily="34" charset="-120"/>
              </a:rPr>
              <a:t>DRAWING</a:t>
            </a:r>
            <a:endParaRPr lang="en-US" sz="10000" dirty="0"/>
          </a:p>
        </p:txBody>
      </p:sp>
      <p:sp>
        <p:nvSpPr>
          <p:cNvPr id="13" name="Text 11"/>
          <p:cNvSpPr/>
          <p:nvPr/>
        </p:nvSpPr>
        <p:spPr>
          <a:xfrm>
            <a:off x="6296720" y="2540000"/>
            <a:ext cx="859631" cy="1295400"/>
          </a:xfrm>
          <a:prstGeom prst="rect">
            <a:avLst/>
          </a:prstGeom>
          <a:noFill/>
          <a:ln/>
        </p:spPr>
        <p:txBody>
          <a:bodyPr wrap="square" lIns="0" tIns="0" rIns="0" bIns="0" rtlCol="0" anchor="t">
            <a:normAutofit/>
          </a:bodyPr>
          <a:lstStyle/>
          <a:p>
            <a:pPr algn="l" indent="0" marL="0">
              <a:lnSpc>
                <a:spcPts val="10000"/>
              </a:lnSpc>
              <a:buNone/>
            </a:pPr>
            <a:r>
              <a:rPr lang="en-US" sz="10000" b="1" spc="-300" kern="0" dirty="0">
                <a:solidFill>
                  <a:srgbClr val="000000">
                    <a:alpha val="0"/>
                  </a:srgbClr>
                </a:solidFill>
                <a:latin typeface="Space Grotesk" pitchFamily="34" charset="0"/>
                <a:ea typeface="Space Grotesk" pitchFamily="34" charset="-122"/>
                <a:cs typeface="Space Grotesk" pitchFamily="34" charset="-120"/>
              </a:rPr>
              <a:t>2</a:t>
            </a:r>
            <a:endParaRPr lang="en-US" sz="10000" dirty="0"/>
          </a:p>
        </p:txBody>
      </p:sp>
      <p:sp>
        <p:nvSpPr>
          <p:cNvPr id="14" name="Text 12"/>
          <p:cNvSpPr/>
          <p:nvPr/>
        </p:nvSpPr>
        <p:spPr>
          <a:xfrm>
            <a:off x="7368679" y="2540000"/>
            <a:ext cx="2859048" cy="1295400"/>
          </a:xfrm>
          <a:prstGeom prst="rect">
            <a:avLst/>
          </a:prstGeom>
          <a:noFill/>
          <a:ln/>
        </p:spPr>
        <p:txBody>
          <a:bodyPr wrap="square" lIns="0" tIns="0" rIns="0" bIns="0" rtlCol="0" anchor="t">
            <a:normAutofit/>
          </a:bodyPr>
          <a:lstStyle/>
          <a:p>
            <a:pPr algn="l" indent="0" marL="0">
              <a:lnSpc>
                <a:spcPts val="10000"/>
              </a:lnSpc>
              <a:buNone/>
            </a:pPr>
            <a:r>
              <a:rPr lang="en-US" sz="10000" b="1" spc="-200" kern="0" dirty="0">
                <a:solidFill>
                  <a:srgbClr val="FF4655"/>
                </a:solidFill>
                <a:latin typeface="Space Grotesk" pitchFamily="34" charset="0"/>
                <a:ea typeface="Space Grotesk" pitchFamily="34" charset="-122"/>
                <a:cs typeface="Space Grotesk" pitchFamily="34" charset="-120"/>
              </a:rPr>
              <a:t>CAD</a:t>
            </a:r>
            <a:endParaRPr lang="en-US" sz="10000" dirty="0"/>
          </a:p>
        </p:txBody>
      </p:sp>
      <p:sp>
        <p:nvSpPr>
          <p:cNvPr id="15" name="Text 13"/>
          <p:cNvSpPr/>
          <p:nvPr/>
        </p:nvSpPr>
        <p:spPr>
          <a:xfrm>
            <a:off x="812800" y="2540000"/>
            <a:ext cx="5491465" cy="1295400"/>
          </a:xfrm>
          <a:prstGeom prst="rect">
            <a:avLst/>
          </a:prstGeom>
          <a:noFill/>
          <a:ln/>
        </p:spPr>
        <p:txBody>
          <a:bodyPr wrap="square" lIns="0" tIns="0" rIns="0" bIns="0" rtlCol="0" anchor="t">
            <a:normAutofit/>
          </a:bodyPr>
          <a:lstStyle/>
          <a:p>
            <a:pPr algn="l" indent="0" marL="0">
              <a:lnSpc>
                <a:spcPts val="10000"/>
              </a:lnSpc>
              <a:buNone/>
            </a:pPr>
            <a:r>
              <a:rPr lang="en-US" sz="10000" b="1" spc="-300" kern="0" dirty="0">
                <a:solidFill>
                  <a:srgbClr val="000000">
                    <a:alpha val="0"/>
                  </a:srgbClr>
                </a:solidFill>
                <a:latin typeface="Space Grotesk" pitchFamily="34" charset="0"/>
                <a:ea typeface="Space Grotesk" pitchFamily="34" charset="-122"/>
                <a:cs typeface="Space Grotesk" pitchFamily="34" charset="-120"/>
              </a:rPr>
              <a:t>DRAWING</a:t>
            </a:r>
            <a:endParaRPr lang="en-US" sz="10000" dirty="0"/>
          </a:p>
        </p:txBody>
      </p:sp>
      <p:sp>
        <p:nvSpPr>
          <p:cNvPr id="16" name="Text 14"/>
          <p:cNvSpPr/>
          <p:nvPr/>
        </p:nvSpPr>
        <p:spPr>
          <a:xfrm>
            <a:off x="6296720" y="2540000"/>
            <a:ext cx="859631" cy="1295400"/>
          </a:xfrm>
          <a:prstGeom prst="rect">
            <a:avLst/>
          </a:prstGeom>
          <a:noFill/>
          <a:ln/>
        </p:spPr>
        <p:txBody>
          <a:bodyPr wrap="square" lIns="0" tIns="0" rIns="0" bIns="0" rtlCol="0" anchor="t">
            <a:normAutofit/>
          </a:bodyPr>
          <a:lstStyle/>
          <a:p>
            <a:pPr algn="l" indent="0" marL="0">
              <a:lnSpc>
                <a:spcPts val="10000"/>
              </a:lnSpc>
              <a:buNone/>
            </a:pPr>
            <a:r>
              <a:rPr lang="en-US" sz="10000" b="1" spc="-300" kern="0" dirty="0">
                <a:solidFill>
                  <a:srgbClr val="000000">
                    <a:alpha val="0"/>
                  </a:srgbClr>
                </a:solidFill>
                <a:latin typeface="Space Grotesk" pitchFamily="34" charset="0"/>
                <a:ea typeface="Space Grotesk" pitchFamily="34" charset="-122"/>
                <a:cs typeface="Space Grotesk" pitchFamily="34" charset="-120"/>
              </a:rPr>
              <a:t>2</a:t>
            </a:r>
            <a:endParaRPr lang="en-US" sz="10000" dirty="0"/>
          </a:p>
        </p:txBody>
      </p:sp>
      <p:sp>
        <p:nvSpPr>
          <p:cNvPr id="17" name="Text 15"/>
          <p:cNvSpPr/>
          <p:nvPr/>
        </p:nvSpPr>
        <p:spPr>
          <a:xfrm>
            <a:off x="7368679" y="2414860"/>
            <a:ext cx="2859048" cy="1545815"/>
          </a:xfrm>
          <a:prstGeom prst="rect">
            <a:avLst/>
          </a:prstGeom>
          <a:noFill/>
          <a:ln/>
        </p:spPr>
        <p:txBody>
          <a:bodyPr wrap="square" lIns="0" tIns="0" rIns="0" bIns="0" rtlCol="0" anchor="t">
            <a:normAutofit/>
          </a:bodyPr>
          <a:lstStyle/>
          <a:p>
            <a:pPr algn="l" indent="0" marL="0">
              <a:lnSpc>
                <a:spcPts val="10000"/>
              </a:lnSpc>
              <a:buNone/>
            </a:pPr>
            <a:r>
              <a:rPr lang="en-US" sz="10000" b="1" spc="-200" kern="0" dirty="0">
                <a:solidFill>
                  <a:srgbClr val="FF4655"/>
                </a:solidFill>
                <a:latin typeface="Space Grotesk" pitchFamily="34" charset="0"/>
                <a:ea typeface="Space Grotesk" pitchFamily="34" charset="-122"/>
                <a:cs typeface="Space Grotesk" pitchFamily="34" charset="-120"/>
              </a:rPr>
              <a:t>CAD</a:t>
            </a:r>
            <a:endParaRPr lang="en-US" sz="10000" dirty="0"/>
          </a:p>
        </p:txBody>
      </p:sp>
      <p:sp>
        <p:nvSpPr>
          <p:cNvPr id="18" name="Text 16"/>
          <p:cNvSpPr/>
          <p:nvPr/>
        </p:nvSpPr>
        <p:spPr>
          <a:xfrm>
            <a:off x="812800" y="4191000"/>
            <a:ext cx="7848600" cy="41275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EEF2F5"/>
                </a:solidFill>
                <a:latin typeface="Space Grotesk" pitchFamily="34" charset="0"/>
                <a:ea typeface="Space Grotesk" pitchFamily="34" charset="-122"/>
                <a:cs typeface="Space Grotesk" pitchFamily="34" charset="-120"/>
              </a:rPr>
              <a:t>The Novice Ninjas</a:t>
            </a:r>
            <a:endParaRPr lang="en-US" sz="2800" dirty="0"/>
          </a:p>
        </p:txBody>
      </p:sp>
      <p:sp>
        <p:nvSpPr>
          <p:cNvPr id="19" name="Text 17"/>
          <p:cNvSpPr/>
          <p:nvPr/>
        </p:nvSpPr>
        <p:spPr>
          <a:xfrm>
            <a:off x="812800" y="4775200"/>
            <a:ext cx="7194550"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FB0C0"/>
                </a:solidFill>
                <a:latin typeface="Inter" pitchFamily="34" charset="0"/>
                <a:ea typeface="Inter" pitchFamily="34" charset="-122"/>
                <a:cs typeface="Inter" pitchFamily="34" charset="-120"/>
              </a:rPr>
              <a:t>From 2D technical drawings to 3D STEP models, automatically.</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924"/>
        </a:solidFill>
      </p:bgPr>
    </p:bg>
    <p:spTree>
      <p:nvGrpSpPr>
        <p:cNvPr id="1" name=""/>
        <p:cNvGrpSpPr/>
        <p:nvPr/>
      </p:nvGrpSpPr>
      <p:grpSpPr>
        <a:xfrm>
          <a:off x="0" y="0"/>
          <a:ext cx="0" cy="0"/>
          <a:chOff x="0" y="0"/>
          <a:chExt cx="0" cy="0"/>
        </a:xfrm>
      </p:grpSpPr>
      <p:sp>
        <p:nvSpPr>
          <p:cNvPr id="2" name="Shape 0"/>
          <p:cNvSpPr/>
          <p:nvPr/>
        </p:nvSpPr>
        <p:spPr>
          <a:xfrm>
            <a:off x="812800" y="609600"/>
            <a:ext cx="457200" cy="50800"/>
          </a:xfrm>
          <a:prstGeom prst="roundRect">
            <a:avLst>
              <a:gd name="adj" fmla="val 50000"/>
            </a:avLst>
          </a:prstGeom>
          <a:solidFill>
            <a:srgbClr val="FF4655"/>
          </a:solidFill>
          <a:ln/>
        </p:spPr>
      </p:sp>
      <p:sp>
        <p:nvSpPr>
          <p:cNvPr id="3" name="Text 1"/>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4655"/>
                </a:solidFill>
                <a:latin typeface="Inter" pitchFamily="34" charset="0"/>
                <a:ea typeface="Inter" pitchFamily="34" charset="-122"/>
                <a:cs typeface="Inter" pitchFamily="34" charset="-120"/>
              </a:rPr>
              <a:t>01 — PROBLEM</a:t>
            </a:r>
            <a:endParaRPr lang="en-US" sz="1200" dirty="0"/>
          </a:p>
        </p:txBody>
      </p:sp>
      <p:sp>
        <p:nvSpPr>
          <p:cNvPr id="4" name="Text 2"/>
          <p:cNvSpPr/>
          <p:nvPr>
            <p:ph type="title"/>
          </p:nvPr>
        </p:nvSpPr>
        <p:spPr>
          <a:xfrm>
            <a:off x="812800" y="1123950"/>
            <a:ext cx="10883392" cy="609600"/>
          </a:xfrm>
          <a:prstGeom prst="rect">
            <a:avLst/>
          </a:prstGeom>
          <a:noFill/>
          <a:ln/>
        </p:spPr>
        <p:txBody>
          <a:bodyPr wrap="square" lIns="0" tIns="0" rIns="0" bIns="0" rtlCol="0" anchor="t">
            <a:normAutofit/>
          </a:bodyPr>
          <a:lstStyle/>
          <a:p>
            <a:pPr algn="l" indent="0" marL="0">
              <a:lnSpc>
                <a:spcPts val="4620"/>
              </a:lnSpc>
              <a:buNone/>
            </a:pPr>
            <a:r>
              <a:rPr lang="en-US" sz="4400" b="1" i="0" spc="-100" kern="0" dirty="0">
                <a:solidFill>
                  <a:srgbClr val="EEF2F5"/>
                </a:solidFill>
                <a:latin typeface="Space Grotesk" pitchFamily="34" charset="0"/>
                <a:ea typeface="Space Grotesk" pitchFamily="34" charset="-122"/>
                <a:cs typeface="Space Grotesk" pitchFamily="34" charset="-120"/>
              </a:rPr>
              <a:t>The problem</a:t>
            </a:r>
            <a:endParaRPr lang="en-US" sz="4400" dirty="0"/>
          </a:p>
        </p:txBody>
      </p:sp>
      <p:sp>
        <p:nvSpPr>
          <p:cNvPr id="5" name="Shape 3"/>
          <p:cNvSpPr/>
          <p:nvPr/>
        </p:nvSpPr>
        <p:spPr>
          <a:xfrm>
            <a:off x="815975" y="2162175"/>
            <a:ext cx="4756150" cy="3422650"/>
          </a:xfrm>
          <a:prstGeom prst="roundRect">
            <a:avLst>
              <a:gd name="adj" fmla="val 4360"/>
            </a:avLst>
          </a:prstGeom>
          <a:solidFill>
            <a:srgbClr val="172433"/>
          </a:solidFill>
          <a:ln w="6350">
            <a:solidFill>
              <a:srgbClr val="2B3D50"/>
            </a:solidFill>
            <a:prstDash val="solid"/>
          </a:ln>
        </p:spPr>
      </p:sp>
      <p:pic>
        <p:nvPicPr>
          <p:cNvPr id="6" name="Image 0" descr="2D component drawing “Befestigung”: front and top views with dimensions and the title block">    </p:cNvPr>
          <p:cNvPicPr>
            <a:picLocks noChangeAspect="1"/>
          </p:cNvPicPr>
          <p:nvPr/>
        </p:nvPicPr>
        <p:blipFill>
          <a:blip r:embed="rId1"/>
          <a:srcRect l="26" r="26" t="0" b="0"/>
          <a:stretch/>
        </p:blipFill>
        <p:spPr>
          <a:xfrm>
            <a:off x="819150" y="2165350"/>
            <a:ext cx="4749800" cy="3416300"/>
          </a:xfrm>
          <a:prstGeom prst="roundRect">
            <a:avLst>
              <a:gd name="adj" fmla="val 4275"/>
            </a:avLst>
          </a:prstGeom>
        </p:spPr>
      </p:pic>
      <p:sp>
        <p:nvSpPr>
          <p:cNvPr id="7" name="Shape 4"/>
          <p:cNvSpPr/>
          <p:nvPr/>
        </p:nvSpPr>
        <p:spPr>
          <a:xfrm>
            <a:off x="5781675" y="2162175"/>
            <a:ext cx="5594350" cy="1606550"/>
          </a:xfrm>
          <a:prstGeom prst="roundRect">
            <a:avLst>
              <a:gd name="adj" fmla="val 9289"/>
            </a:avLst>
          </a:prstGeom>
          <a:solidFill>
            <a:srgbClr val="172433"/>
          </a:solidFill>
          <a:ln w="6350">
            <a:solidFill>
              <a:srgbClr val="2B3D50"/>
            </a:solidFill>
            <a:prstDash val="solid"/>
          </a:ln>
        </p:spPr>
      </p:sp>
      <p:pic>
        <p:nvPicPr>
          <p:cNvPr id="8" name="Image 1" descr="Warning">    </p:cNvPr>
          <p:cNvPicPr>
            <a:picLocks noChangeAspect="1"/>
          </p:cNvPicPr>
          <p:nvPr/>
        </p:nvPicPr>
        <p:blipFill>
          <a:blip r:embed="rId2"/>
          <a:srcRect l="0" r="0" t="0" b="0"/>
          <a:stretch/>
        </p:blipFill>
        <p:spPr>
          <a:xfrm>
            <a:off x="6038850" y="2762250"/>
            <a:ext cx="406400" cy="406400"/>
          </a:xfrm>
          <a:prstGeom prst="rect">
            <a:avLst/>
          </a:prstGeom>
        </p:spPr>
      </p:pic>
      <p:sp>
        <p:nvSpPr>
          <p:cNvPr id="9" name="Text 5"/>
          <p:cNvSpPr/>
          <p:nvPr/>
        </p:nvSpPr>
        <p:spPr>
          <a:xfrm>
            <a:off x="6648450" y="2663825"/>
            <a:ext cx="4604512" cy="33020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EEF2F5"/>
                </a:solidFill>
                <a:latin typeface="Space Grotesk" pitchFamily="34" charset="0"/>
                <a:ea typeface="Space Grotesk" pitchFamily="34" charset="-122"/>
                <a:cs typeface="Space Grotesk" pitchFamily="34" charset="-120"/>
              </a:rPr>
              <a:t>2D drawings only</a:t>
            </a:r>
            <a:endParaRPr lang="en-US" sz="2200" dirty="0"/>
          </a:p>
        </p:txBody>
      </p:sp>
      <p:sp>
        <p:nvSpPr>
          <p:cNvPr id="10" name="Text 6"/>
          <p:cNvSpPr/>
          <p:nvPr/>
        </p:nvSpPr>
        <p:spPr>
          <a:xfrm>
            <a:off x="6648450" y="3019425"/>
            <a:ext cx="4604512" cy="27305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4C2CF"/>
                </a:solidFill>
                <a:latin typeface="Inter" pitchFamily="34" charset="0"/>
                <a:ea typeface="Inter" pitchFamily="34" charset="-122"/>
                <a:cs typeface="Inter" pitchFamily="34" charset="-120"/>
              </a:rPr>
              <a:t>…in countless different formats.</a:t>
            </a:r>
            <a:endParaRPr lang="en-US" sz="1400" dirty="0"/>
          </a:p>
        </p:txBody>
      </p:sp>
      <p:sp>
        <p:nvSpPr>
          <p:cNvPr id="11" name="Shape 7"/>
          <p:cNvSpPr/>
          <p:nvPr/>
        </p:nvSpPr>
        <p:spPr>
          <a:xfrm>
            <a:off x="5781675" y="3978275"/>
            <a:ext cx="5594350" cy="1606550"/>
          </a:xfrm>
          <a:prstGeom prst="roundRect">
            <a:avLst>
              <a:gd name="adj" fmla="val 9289"/>
            </a:avLst>
          </a:prstGeom>
          <a:solidFill>
            <a:srgbClr val="172433"/>
          </a:solidFill>
          <a:ln w="6350">
            <a:solidFill>
              <a:srgbClr val="2B3D50"/>
            </a:solidFill>
            <a:prstDash val="solid"/>
          </a:ln>
        </p:spPr>
      </p:sp>
      <p:pic>
        <p:nvPicPr>
          <p:cNvPr id="12" name="Image 2" descr="Wrench">    </p:cNvPr>
          <p:cNvPicPr>
            <a:picLocks noChangeAspect="1"/>
          </p:cNvPicPr>
          <p:nvPr/>
        </p:nvPicPr>
        <p:blipFill>
          <a:blip r:embed="rId3"/>
          <a:srcRect l="0" r="0" t="0" b="0"/>
          <a:stretch/>
        </p:blipFill>
        <p:spPr>
          <a:xfrm>
            <a:off x="6038850" y="4578350"/>
            <a:ext cx="406400" cy="406400"/>
          </a:xfrm>
          <a:prstGeom prst="rect">
            <a:avLst/>
          </a:prstGeom>
        </p:spPr>
      </p:pic>
      <p:sp>
        <p:nvSpPr>
          <p:cNvPr id="13" name="Text 8"/>
          <p:cNvSpPr/>
          <p:nvPr/>
        </p:nvSpPr>
        <p:spPr>
          <a:xfrm>
            <a:off x="6648450" y="4356100"/>
            <a:ext cx="4604512" cy="33020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EEF2F5"/>
                </a:solidFill>
                <a:latin typeface="Space Grotesk" pitchFamily="34" charset="0"/>
                <a:ea typeface="Space Grotesk" pitchFamily="34" charset="-122"/>
                <a:cs typeface="Space Grotesk" pitchFamily="34" charset="-120"/>
              </a:rPr>
              <a:t>Converted to CAD by hand</a:t>
            </a:r>
            <a:endParaRPr lang="en-US" sz="2200" dirty="0"/>
          </a:p>
        </p:txBody>
      </p:sp>
      <p:sp>
        <p:nvSpPr>
          <p:cNvPr id="14" name="Text 9"/>
          <p:cNvSpPr/>
          <p:nvPr/>
        </p:nvSpPr>
        <p:spPr>
          <a:xfrm>
            <a:off x="6648450" y="4711700"/>
            <a:ext cx="4604512" cy="5207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4C2CF"/>
                </a:solidFill>
                <a:latin typeface="Inter" pitchFamily="34" charset="0"/>
                <a:ea typeface="Inter" pitchFamily="34" charset="-122"/>
                <a:cs typeface="Inter" pitchFamily="34" charset="-120"/>
              </a:rPr>
              <a:t>Every part is remodelled manually: slow, costly and error-prone.</a:t>
            </a:r>
            <a:endParaRPr lang="en-US" sz="1400" dirty="0"/>
          </a:p>
        </p:txBody>
      </p:sp>
      <p:sp>
        <p:nvSpPr>
          <p:cNvPr id="15" name="Text 10"/>
          <p:cNvSpPr/>
          <p:nvPr/>
        </p:nvSpPr>
        <p:spPr>
          <a:xfrm>
            <a:off x="812800" y="6242050"/>
            <a:ext cx="65405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CAE"/>
                </a:solidFill>
                <a:latin typeface="Inter" pitchFamily="34" charset="0"/>
                <a:ea typeface="Inter" pitchFamily="34" charset="-122"/>
                <a:cs typeface="Inter" pitchFamily="34" charset="-120"/>
              </a:rPr>
              <a:t>Drawing2CAD · The Novice Ninjas</a:t>
            </a:r>
            <a:endParaRPr lang="en-US" sz="1200" dirty="0"/>
          </a:p>
        </p:txBody>
      </p:sp>
      <p:sp>
        <p:nvSpPr>
          <p:cNvPr id="16" name="Text 11"/>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CAE"/>
                </a:solidFill>
                <a:latin typeface="Inter" pitchFamily="34" charset="0"/>
                <a:ea typeface="Inter" pitchFamily="34" charset="-122"/>
                <a:cs typeface="Inter"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924"/>
        </a:solidFill>
      </p:bgPr>
    </p:bg>
    <p:spTree>
      <p:nvGrpSpPr>
        <p:cNvPr id="1" name=""/>
        <p:cNvGrpSpPr/>
        <p:nvPr/>
      </p:nvGrpSpPr>
      <p:grpSpPr>
        <a:xfrm>
          <a:off x="0" y="0"/>
          <a:ext cx="0" cy="0"/>
          <a:chOff x="0" y="0"/>
          <a:chExt cx="0" cy="0"/>
        </a:xfrm>
      </p:grpSpPr>
      <p:sp>
        <p:nvSpPr>
          <p:cNvPr id="2" name="Shape 0"/>
          <p:cNvSpPr/>
          <p:nvPr/>
        </p:nvSpPr>
        <p:spPr>
          <a:xfrm>
            <a:off x="812800" y="609600"/>
            <a:ext cx="457200" cy="50800"/>
          </a:xfrm>
          <a:prstGeom prst="roundRect">
            <a:avLst>
              <a:gd name="adj" fmla="val 50000"/>
            </a:avLst>
          </a:prstGeom>
          <a:solidFill>
            <a:srgbClr val="FF4655"/>
          </a:solidFill>
          <a:ln/>
        </p:spPr>
      </p:sp>
      <p:sp>
        <p:nvSpPr>
          <p:cNvPr id="3" name="Text 1"/>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4655"/>
                </a:solidFill>
                <a:latin typeface="Inter" pitchFamily="34" charset="0"/>
                <a:ea typeface="Inter" pitchFamily="34" charset="-122"/>
                <a:cs typeface="Inter" pitchFamily="34" charset="-120"/>
              </a:rPr>
              <a:t>02 — GOAL</a:t>
            </a:r>
            <a:endParaRPr lang="en-US" sz="1200" dirty="0"/>
          </a:p>
        </p:txBody>
      </p:sp>
      <p:sp>
        <p:nvSpPr>
          <p:cNvPr id="4" name="Text 2"/>
          <p:cNvSpPr/>
          <p:nvPr>
            <p:ph type="title"/>
          </p:nvPr>
        </p:nvSpPr>
        <p:spPr>
          <a:xfrm>
            <a:off x="812800" y="1123950"/>
            <a:ext cx="10883392" cy="609600"/>
          </a:xfrm>
          <a:prstGeom prst="rect">
            <a:avLst/>
          </a:prstGeom>
          <a:noFill/>
          <a:ln/>
        </p:spPr>
        <p:txBody>
          <a:bodyPr wrap="square" lIns="0" tIns="0" rIns="0" bIns="0" rtlCol="0" anchor="t">
            <a:normAutofit/>
          </a:bodyPr>
          <a:lstStyle/>
          <a:p>
            <a:pPr algn="l" indent="0" marL="0">
              <a:lnSpc>
                <a:spcPts val="4620"/>
              </a:lnSpc>
              <a:buNone/>
            </a:pPr>
            <a:r>
              <a:rPr lang="en-US" sz="4400" b="1" i="0" spc="-100" kern="0" dirty="0">
                <a:solidFill>
                  <a:srgbClr val="EEF2F5"/>
                </a:solidFill>
                <a:latin typeface="Space Grotesk" pitchFamily="34" charset="0"/>
                <a:ea typeface="Space Grotesk" pitchFamily="34" charset="-122"/>
                <a:cs typeface="Space Grotesk" pitchFamily="34" charset="-120"/>
              </a:rPr>
              <a:t>The goal: Drawing2CAD</a:t>
            </a:r>
            <a:endParaRPr lang="en-US" sz="4400" dirty="0"/>
          </a:p>
        </p:txBody>
      </p:sp>
      <p:sp>
        <p:nvSpPr>
          <p:cNvPr id="5" name="Shape 3"/>
          <p:cNvSpPr/>
          <p:nvPr/>
        </p:nvSpPr>
        <p:spPr>
          <a:xfrm>
            <a:off x="815975" y="2352675"/>
            <a:ext cx="3244850" cy="2978150"/>
          </a:xfrm>
          <a:prstGeom prst="roundRect">
            <a:avLst>
              <a:gd name="adj" fmla="val 5011"/>
            </a:avLst>
          </a:prstGeom>
          <a:solidFill>
            <a:srgbClr val="172433"/>
          </a:solidFill>
          <a:ln w="6350">
            <a:solidFill>
              <a:srgbClr val="2B3D50"/>
            </a:solidFill>
            <a:prstDash val="solid"/>
          </a:ln>
        </p:spPr>
      </p:sp>
      <p:pic>
        <p:nvPicPr>
          <p:cNvPr id="6" name="Image 0" descr="Verified">    </p:cNvPr>
          <p:cNvPicPr>
            <a:picLocks noChangeAspect="1"/>
          </p:cNvPicPr>
          <p:nvPr/>
        </p:nvPicPr>
        <p:blipFill>
          <a:blip r:embed="rId1"/>
          <a:srcRect l="0" r="0" t="0" b="0"/>
          <a:stretch/>
        </p:blipFill>
        <p:spPr>
          <a:xfrm>
            <a:off x="1123950" y="2660650"/>
            <a:ext cx="406400" cy="406400"/>
          </a:xfrm>
          <a:prstGeom prst="rect">
            <a:avLst/>
          </a:prstGeom>
        </p:spPr>
      </p:pic>
      <p:sp>
        <p:nvSpPr>
          <p:cNvPr id="7" name="Text 4"/>
          <p:cNvSpPr/>
          <p:nvPr/>
        </p:nvSpPr>
        <p:spPr>
          <a:xfrm>
            <a:off x="1123950" y="3219450"/>
            <a:ext cx="2707767" cy="33020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EEF2F5"/>
                </a:solidFill>
                <a:latin typeface="Space Grotesk" pitchFamily="34" charset="0"/>
                <a:ea typeface="Space Grotesk" pitchFamily="34" charset="-122"/>
                <a:cs typeface="Space Grotesk" pitchFamily="34" charset="-120"/>
              </a:rPr>
              <a:t>Accurate output</a:t>
            </a:r>
            <a:endParaRPr lang="en-US" sz="2200" dirty="0"/>
          </a:p>
        </p:txBody>
      </p:sp>
      <p:sp>
        <p:nvSpPr>
          <p:cNvPr id="8" name="Text 5"/>
          <p:cNvSpPr/>
          <p:nvPr/>
        </p:nvSpPr>
        <p:spPr>
          <a:xfrm>
            <a:off x="1123950" y="3676650"/>
            <a:ext cx="2707767" cy="5207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4C2CF"/>
                </a:solidFill>
                <a:latin typeface="Inter" pitchFamily="34" charset="0"/>
                <a:ea typeface="Inter" pitchFamily="34" charset="-122"/>
                <a:cs typeface="Inter" pitchFamily="34" charset="-120"/>
              </a:rPr>
              <a:t>Dimension-true 3D models, exported as STEP.</a:t>
            </a:r>
            <a:endParaRPr lang="en-US" sz="1400" dirty="0"/>
          </a:p>
        </p:txBody>
      </p:sp>
      <p:sp>
        <p:nvSpPr>
          <p:cNvPr id="9" name="Shape 6"/>
          <p:cNvSpPr/>
          <p:nvPr/>
        </p:nvSpPr>
        <p:spPr>
          <a:xfrm>
            <a:off x="4473575" y="2352675"/>
            <a:ext cx="3244850" cy="2978150"/>
          </a:xfrm>
          <a:prstGeom prst="roundRect">
            <a:avLst>
              <a:gd name="adj" fmla="val 5011"/>
            </a:avLst>
          </a:prstGeom>
          <a:solidFill>
            <a:srgbClr val="172433"/>
          </a:solidFill>
          <a:ln w="6350">
            <a:solidFill>
              <a:srgbClr val="2B3D50"/>
            </a:solidFill>
            <a:prstDash val="solid"/>
          </a:ln>
        </p:spPr>
      </p:sp>
      <p:pic>
        <p:nvPicPr>
          <p:cNvPr id="10" name="Image 1" descr="Lightning">    </p:cNvPr>
          <p:cNvPicPr>
            <a:picLocks noChangeAspect="1"/>
          </p:cNvPicPr>
          <p:nvPr/>
        </p:nvPicPr>
        <p:blipFill>
          <a:blip r:embed="rId2"/>
          <a:srcRect l="0" r="0" t="0" b="0"/>
          <a:stretch/>
        </p:blipFill>
        <p:spPr>
          <a:xfrm>
            <a:off x="4781550" y="2660650"/>
            <a:ext cx="406400" cy="406400"/>
          </a:xfrm>
          <a:prstGeom prst="rect">
            <a:avLst/>
          </a:prstGeom>
        </p:spPr>
      </p:pic>
      <p:sp>
        <p:nvSpPr>
          <p:cNvPr id="11" name="Text 7"/>
          <p:cNvSpPr/>
          <p:nvPr/>
        </p:nvSpPr>
        <p:spPr>
          <a:xfrm>
            <a:off x="4781550" y="3219450"/>
            <a:ext cx="2707767" cy="63500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EEF2F5"/>
                </a:solidFill>
                <a:latin typeface="Space Grotesk" pitchFamily="34" charset="0"/>
                <a:ea typeface="Space Grotesk" pitchFamily="34" charset="-122"/>
                <a:cs typeface="Space Grotesk" pitchFamily="34" charset="-120"/>
              </a:rPr>
              <a:t>Automated workflow</a:t>
            </a:r>
            <a:endParaRPr lang="en-US" sz="2200" dirty="0"/>
          </a:p>
        </p:txBody>
      </p:sp>
      <p:sp>
        <p:nvSpPr>
          <p:cNvPr id="12" name="Text 8"/>
          <p:cNvSpPr/>
          <p:nvPr/>
        </p:nvSpPr>
        <p:spPr>
          <a:xfrm>
            <a:off x="4781550" y="3981450"/>
            <a:ext cx="2707767" cy="5207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4C2CF"/>
                </a:solidFill>
                <a:latin typeface="Inter" pitchFamily="34" charset="0"/>
                <a:ea typeface="Inter" pitchFamily="34" charset="-122"/>
                <a:cs typeface="Inter" pitchFamily="34" charset="-120"/>
              </a:rPr>
              <a:t>PDF in, STEP file out. No manual remodelling.</a:t>
            </a:r>
            <a:endParaRPr lang="en-US" sz="1400" dirty="0"/>
          </a:p>
        </p:txBody>
      </p:sp>
      <p:sp>
        <p:nvSpPr>
          <p:cNvPr id="13" name="Shape 9"/>
          <p:cNvSpPr/>
          <p:nvPr/>
        </p:nvSpPr>
        <p:spPr>
          <a:xfrm>
            <a:off x="8131175" y="2352675"/>
            <a:ext cx="3244850" cy="2978150"/>
          </a:xfrm>
          <a:prstGeom prst="roundRect">
            <a:avLst>
              <a:gd name="adj" fmla="val 5011"/>
            </a:avLst>
          </a:prstGeom>
          <a:solidFill>
            <a:srgbClr val="172433"/>
          </a:solidFill>
          <a:ln w="6350">
            <a:solidFill>
              <a:srgbClr val="2B3D50"/>
            </a:solidFill>
            <a:prstDash val="solid"/>
          </a:ln>
        </p:spPr>
      </p:sp>
      <p:pic>
        <p:nvPicPr>
          <p:cNvPr id="14" name="Image 2" descr="Lightbulb">    </p:cNvPr>
          <p:cNvPicPr>
            <a:picLocks noChangeAspect="1"/>
          </p:cNvPicPr>
          <p:nvPr/>
        </p:nvPicPr>
        <p:blipFill>
          <a:blip r:embed="rId3"/>
          <a:srcRect l="0" r="0" t="0" b="0"/>
          <a:stretch/>
        </p:blipFill>
        <p:spPr>
          <a:xfrm>
            <a:off x="8439150" y="2660650"/>
            <a:ext cx="406400" cy="406400"/>
          </a:xfrm>
          <a:prstGeom prst="rect">
            <a:avLst/>
          </a:prstGeom>
        </p:spPr>
      </p:pic>
      <p:sp>
        <p:nvSpPr>
          <p:cNvPr id="15" name="Text 10"/>
          <p:cNvSpPr/>
          <p:nvPr/>
        </p:nvSpPr>
        <p:spPr>
          <a:xfrm>
            <a:off x="8439150" y="3219450"/>
            <a:ext cx="2707767" cy="63500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EEF2F5"/>
                </a:solidFill>
                <a:latin typeface="Space Grotesk" pitchFamily="34" charset="0"/>
                <a:ea typeface="Space Grotesk" pitchFamily="34" charset="-122"/>
                <a:cs typeface="Space Grotesk" pitchFamily="34" charset="-120"/>
              </a:rPr>
              <a:t>Using average, </a:t>
            </a:r>
            <a:endParaRPr lang="en-US" sz="2200" dirty="0"/>
          </a:p>
          <a:p>
            <a:pPr algn="l" indent="0" marL="0">
              <a:lnSpc>
                <a:spcPts val="2420"/>
              </a:lnSpc>
              <a:buNone/>
            </a:pPr>
            <a:r>
              <a:rPr lang="en-US" sz="2200" b="1" u="sng" dirty="0">
                <a:solidFill>
                  <a:srgbClr val="EEF2F5"/>
                </a:solidFill>
                <a:latin typeface="Space Grotesk" pitchFamily="34" charset="0"/>
                <a:ea typeface="Space Grotesk" pitchFamily="34" charset="-122"/>
                <a:cs typeface="Space Grotesk" pitchFamily="34" charset="-120"/>
              </a:rPr>
              <a:t>low-cost</a:t>
            </a:r>
            <a:r>
              <a:rPr lang="en-US" sz="2200" b="1" dirty="0">
                <a:solidFill>
                  <a:srgbClr val="EEF2F5"/>
                </a:solidFill>
                <a:latin typeface="Space Grotesk" pitchFamily="34" charset="0"/>
                <a:ea typeface="Space Grotesk" pitchFamily="34" charset="-122"/>
                <a:cs typeface="Space Grotesk" pitchFamily="34" charset="-120"/>
              </a:rPr>
              <a:t> AI models</a:t>
            </a:r>
            <a:endParaRPr lang="en-US" sz="2200" dirty="0"/>
          </a:p>
        </p:txBody>
      </p:sp>
      <p:sp>
        <p:nvSpPr>
          <p:cNvPr id="16" name="Text 11"/>
          <p:cNvSpPr/>
          <p:nvPr/>
        </p:nvSpPr>
        <p:spPr>
          <a:xfrm>
            <a:off x="8439150" y="3981450"/>
            <a:ext cx="2707767" cy="5207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4C2CF"/>
                </a:solidFill>
                <a:latin typeface="Inter" pitchFamily="34" charset="0"/>
                <a:ea typeface="Inter" pitchFamily="34" charset="-122"/>
                <a:cs typeface="Inter" pitchFamily="34" charset="-120"/>
              </a:rPr>
              <a:t>Works with everyday, off-the-shelf models.</a:t>
            </a:r>
            <a:endParaRPr lang="en-US" sz="1400" dirty="0"/>
          </a:p>
        </p:txBody>
      </p:sp>
      <p:sp>
        <p:nvSpPr>
          <p:cNvPr id="17" name="Text 12"/>
          <p:cNvSpPr/>
          <p:nvPr/>
        </p:nvSpPr>
        <p:spPr>
          <a:xfrm>
            <a:off x="812800" y="6242050"/>
            <a:ext cx="65405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CAE"/>
                </a:solidFill>
                <a:latin typeface="Inter" pitchFamily="34" charset="0"/>
                <a:ea typeface="Inter" pitchFamily="34" charset="-122"/>
                <a:cs typeface="Inter" pitchFamily="34" charset="-120"/>
              </a:rPr>
              <a:t>Drawing2CAD · The Novice Ninjas</a:t>
            </a:r>
            <a:endParaRPr lang="en-US" sz="1200" dirty="0"/>
          </a:p>
        </p:txBody>
      </p:sp>
      <p:sp>
        <p:nvSpPr>
          <p:cNvPr id="18" name="Text 13"/>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CAE"/>
                </a:solidFill>
                <a:latin typeface="Inter" pitchFamily="34" charset="0"/>
                <a:ea typeface="Inter" pitchFamily="34" charset="-122"/>
                <a:cs typeface="Inter"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924"/>
        </a:solidFill>
      </p:bgPr>
    </p:bg>
    <p:spTree>
      <p:nvGrpSpPr>
        <p:cNvPr id="1" name=""/>
        <p:cNvGrpSpPr/>
        <p:nvPr/>
      </p:nvGrpSpPr>
      <p:grpSpPr>
        <a:xfrm>
          <a:off x="0" y="0"/>
          <a:ext cx="0" cy="0"/>
          <a:chOff x="0" y="0"/>
          <a:chExt cx="0" cy="0"/>
        </a:xfrm>
      </p:grpSpPr>
      <p:sp>
        <p:nvSpPr>
          <p:cNvPr id="2" name="Shape 0"/>
          <p:cNvSpPr/>
          <p:nvPr/>
        </p:nvSpPr>
        <p:spPr>
          <a:xfrm>
            <a:off x="812800" y="609600"/>
            <a:ext cx="457200" cy="50800"/>
          </a:xfrm>
          <a:prstGeom prst="roundRect">
            <a:avLst>
              <a:gd name="adj" fmla="val 50000"/>
            </a:avLst>
          </a:prstGeom>
          <a:solidFill>
            <a:srgbClr val="FF4655"/>
          </a:solidFill>
          <a:ln/>
        </p:spPr>
      </p:sp>
      <p:sp>
        <p:nvSpPr>
          <p:cNvPr id="3" name="Text 1"/>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4655"/>
                </a:solidFill>
                <a:latin typeface="Inter" pitchFamily="34" charset="0"/>
                <a:ea typeface="Inter" pitchFamily="34" charset="-122"/>
                <a:cs typeface="Inter" pitchFamily="34" charset="-120"/>
              </a:rPr>
              <a:t>03 — ARCHITECTURE</a:t>
            </a:r>
            <a:endParaRPr lang="en-US" sz="1200" dirty="0"/>
          </a:p>
        </p:txBody>
      </p:sp>
      <p:sp>
        <p:nvSpPr>
          <p:cNvPr id="4" name="Text 2"/>
          <p:cNvSpPr/>
          <p:nvPr>
            <p:ph type="title"/>
          </p:nvPr>
        </p:nvSpPr>
        <p:spPr>
          <a:xfrm>
            <a:off x="812800" y="1123950"/>
            <a:ext cx="10883392" cy="609600"/>
          </a:xfrm>
          <a:prstGeom prst="rect">
            <a:avLst/>
          </a:prstGeom>
          <a:noFill/>
          <a:ln/>
        </p:spPr>
        <p:txBody>
          <a:bodyPr wrap="square" lIns="0" tIns="0" rIns="0" bIns="0" rtlCol="0" anchor="t">
            <a:normAutofit/>
          </a:bodyPr>
          <a:lstStyle/>
          <a:p>
            <a:pPr algn="l" indent="0" marL="0">
              <a:lnSpc>
                <a:spcPts val="4620"/>
              </a:lnSpc>
              <a:buNone/>
            </a:pPr>
            <a:r>
              <a:rPr lang="en-US" sz="4400" b="1" i="0" spc="-100" kern="0" dirty="0">
                <a:solidFill>
                  <a:srgbClr val="EEF2F5"/>
                </a:solidFill>
                <a:latin typeface="Space Grotesk" pitchFamily="34" charset="0"/>
                <a:ea typeface="Space Grotesk" pitchFamily="34" charset="-122"/>
                <a:cs typeface="Space Grotesk" pitchFamily="34" charset="-120"/>
              </a:rPr>
              <a:t>The idea</a:t>
            </a:r>
            <a:endParaRPr lang="en-US" sz="4400" dirty="0"/>
          </a:p>
        </p:txBody>
      </p:sp>
      <p:sp>
        <p:nvSpPr>
          <p:cNvPr id="5" name="Shape 3"/>
          <p:cNvSpPr/>
          <p:nvPr/>
        </p:nvSpPr>
        <p:spPr>
          <a:xfrm>
            <a:off x="815975" y="2797175"/>
            <a:ext cx="1771650" cy="1390650"/>
          </a:xfrm>
          <a:prstGeom prst="roundRect">
            <a:avLst>
              <a:gd name="adj" fmla="val 8904"/>
            </a:avLst>
          </a:prstGeom>
          <a:solidFill>
            <a:srgbClr val="172433"/>
          </a:solidFill>
          <a:ln w="6350">
            <a:solidFill>
              <a:srgbClr val="2B3D50"/>
            </a:solidFill>
            <a:prstDash val="solid"/>
          </a:ln>
        </p:spPr>
      </p:sp>
      <p:pic>
        <p:nvPicPr>
          <p:cNvPr id="6" name="Image 0" descr="Users">    </p:cNvPr>
          <p:cNvPicPr>
            <a:picLocks noChangeAspect="1"/>
          </p:cNvPicPr>
          <p:nvPr/>
        </p:nvPicPr>
        <p:blipFill>
          <a:blip r:embed="rId1"/>
          <a:srcRect l="0" r="0" t="0" b="0"/>
          <a:stretch/>
        </p:blipFill>
        <p:spPr>
          <a:xfrm>
            <a:off x="1498600" y="3086100"/>
            <a:ext cx="406400" cy="406400"/>
          </a:xfrm>
          <a:prstGeom prst="rect">
            <a:avLst/>
          </a:prstGeom>
        </p:spPr>
      </p:pic>
      <p:sp>
        <p:nvSpPr>
          <p:cNvPr id="7" name="Text 4"/>
          <p:cNvSpPr/>
          <p:nvPr/>
        </p:nvSpPr>
        <p:spPr>
          <a:xfrm>
            <a:off x="1338183" y="3594100"/>
            <a:ext cx="727234" cy="330200"/>
          </a:xfrm>
          <a:prstGeom prst="rect">
            <a:avLst/>
          </a:prstGeom>
          <a:noFill/>
          <a:ln/>
        </p:spPr>
        <p:txBody>
          <a:bodyPr wrap="square" lIns="0" tIns="0" rIns="0" bIns="0" rtlCol="0" anchor="t">
            <a:normAutofit/>
          </a:bodyPr>
          <a:lstStyle/>
          <a:p>
            <a:pPr algn="ctr" indent="0" marL="0">
              <a:lnSpc>
                <a:spcPts val="2420"/>
              </a:lnSpc>
              <a:buNone/>
            </a:pPr>
            <a:r>
              <a:rPr lang="en-US" sz="2200" b="1" dirty="0">
                <a:solidFill>
                  <a:srgbClr val="EEF2F5"/>
                </a:solidFill>
                <a:latin typeface="Space Grotesk" pitchFamily="34" charset="0"/>
                <a:ea typeface="Space Grotesk" pitchFamily="34" charset="-122"/>
                <a:cs typeface="Space Grotesk" pitchFamily="34" charset="-120"/>
              </a:rPr>
              <a:t>User</a:t>
            </a:r>
            <a:endParaRPr lang="en-US" sz="2200" dirty="0"/>
          </a:p>
        </p:txBody>
      </p:sp>
      <p:pic>
        <p:nvPicPr>
          <p:cNvPr id="8" name="Image 1" descr="connector">    </p:cNvPr>
          <p:cNvPicPr>
            <a:picLocks noChangeAspect="1"/>
          </p:cNvPicPr>
          <p:nvPr/>
        </p:nvPicPr>
        <p:blipFill>
          <a:blip r:embed="rId2"/>
          <a:srcRect l="0" r="0" t="0" b="0"/>
          <a:stretch/>
        </p:blipFill>
        <p:spPr>
          <a:xfrm>
            <a:off x="2540000" y="3187700"/>
            <a:ext cx="1574800" cy="101600"/>
          </a:xfrm>
          <a:prstGeom prst="rect">
            <a:avLst/>
          </a:prstGeom>
        </p:spPr>
      </p:pic>
      <p:sp>
        <p:nvSpPr>
          <p:cNvPr id="9" name="Text 5"/>
          <p:cNvSpPr/>
          <p:nvPr/>
        </p:nvSpPr>
        <p:spPr>
          <a:xfrm>
            <a:off x="2667000" y="2895600"/>
            <a:ext cx="132080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F4655"/>
                </a:solidFill>
                <a:latin typeface="Inter" pitchFamily="34" charset="0"/>
                <a:ea typeface="Inter" pitchFamily="34" charset="-122"/>
                <a:cs typeface="Inter" pitchFamily="34" charset="-120"/>
              </a:rPr>
              <a:t>PDF</a:t>
            </a:r>
            <a:endParaRPr lang="en-US" sz="1200" dirty="0"/>
          </a:p>
        </p:txBody>
      </p:sp>
      <p:sp>
        <p:nvSpPr>
          <p:cNvPr id="10" name="Shape 6"/>
          <p:cNvSpPr/>
          <p:nvPr/>
        </p:nvSpPr>
        <p:spPr>
          <a:xfrm>
            <a:off x="4067175" y="2797175"/>
            <a:ext cx="2025650" cy="1390650"/>
          </a:xfrm>
          <a:prstGeom prst="roundRect">
            <a:avLst>
              <a:gd name="adj" fmla="val 8904"/>
            </a:avLst>
          </a:prstGeom>
          <a:solidFill>
            <a:srgbClr val="172433"/>
          </a:solidFill>
          <a:ln w="6350">
            <a:solidFill>
              <a:srgbClr val="2B3D50"/>
            </a:solidFill>
            <a:prstDash val="solid"/>
          </a:ln>
        </p:spPr>
      </p:sp>
      <p:pic>
        <p:nvPicPr>
          <p:cNvPr id="11" name="Image 2" descr="Globe">    </p:cNvPr>
          <p:cNvPicPr>
            <a:picLocks noChangeAspect="1"/>
          </p:cNvPicPr>
          <p:nvPr/>
        </p:nvPicPr>
        <p:blipFill>
          <a:blip r:embed="rId3"/>
          <a:srcRect l="0" r="0" t="0" b="0"/>
          <a:stretch/>
        </p:blipFill>
        <p:spPr>
          <a:xfrm>
            <a:off x="4876800" y="3086100"/>
            <a:ext cx="406400" cy="406400"/>
          </a:xfrm>
          <a:prstGeom prst="rect">
            <a:avLst/>
          </a:prstGeom>
        </p:spPr>
      </p:pic>
      <p:sp>
        <p:nvSpPr>
          <p:cNvPr id="12" name="Text 7"/>
          <p:cNvSpPr/>
          <p:nvPr/>
        </p:nvSpPr>
        <p:spPr>
          <a:xfrm>
            <a:off x="4923076" y="3594100"/>
            <a:ext cx="313849" cy="330200"/>
          </a:xfrm>
          <a:prstGeom prst="rect">
            <a:avLst/>
          </a:prstGeom>
          <a:noFill/>
          <a:ln/>
        </p:spPr>
        <p:txBody>
          <a:bodyPr wrap="square" lIns="0" tIns="0" rIns="0" bIns="0" rtlCol="0" anchor="t">
            <a:normAutofit/>
          </a:bodyPr>
          <a:lstStyle/>
          <a:p>
            <a:pPr algn="ctr" indent="0" marL="0">
              <a:lnSpc>
                <a:spcPts val="2420"/>
              </a:lnSpc>
              <a:buNone/>
            </a:pPr>
            <a:r>
              <a:rPr lang="en-US" sz="2200" b="1" dirty="0">
                <a:solidFill>
                  <a:srgbClr val="EEF2F5"/>
                </a:solidFill>
                <a:latin typeface="Space Grotesk" pitchFamily="34" charset="0"/>
                <a:ea typeface="Space Grotesk" pitchFamily="34" charset="-122"/>
                <a:cs typeface="Space Grotesk" pitchFamily="34" charset="-120"/>
              </a:rPr>
              <a:t>UI</a:t>
            </a:r>
            <a:endParaRPr lang="en-US" sz="2200" dirty="0"/>
          </a:p>
        </p:txBody>
      </p:sp>
      <p:pic>
        <p:nvPicPr>
          <p:cNvPr id="13" name="Image 3" descr="connector">    </p:cNvPr>
          <p:cNvPicPr>
            <a:picLocks noChangeAspect="1"/>
          </p:cNvPicPr>
          <p:nvPr/>
        </p:nvPicPr>
        <p:blipFill>
          <a:blip r:embed="rId4"/>
          <a:srcRect l="0" r="0" t="0" b="0"/>
          <a:stretch/>
        </p:blipFill>
        <p:spPr>
          <a:xfrm>
            <a:off x="6045200" y="3187700"/>
            <a:ext cx="1574800" cy="101600"/>
          </a:xfrm>
          <a:prstGeom prst="rect">
            <a:avLst/>
          </a:prstGeom>
        </p:spPr>
      </p:pic>
      <p:sp>
        <p:nvSpPr>
          <p:cNvPr id="14" name="Text 8"/>
          <p:cNvSpPr/>
          <p:nvPr/>
        </p:nvSpPr>
        <p:spPr>
          <a:xfrm>
            <a:off x="6172200" y="2895600"/>
            <a:ext cx="132080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F4655"/>
                </a:solidFill>
                <a:latin typeface="Inter" pitchFamily="34" charset="0"/>
                <a:ea typeface="Inter" pitchFamily="34" charset="-122"/>
                <a:cs typeface="Inter" pitchFamily="34" charset="-120"/>
              </a:rPr>
              <a:t>PDF</a:t>
            </a:r>
            <a:endParaRPr lang="en-US" sz="1200" dirty="0"/>
          </a:p>
        </p:txBody>
      </p:sp>
      <p:sp>
        <p:nvSpPr>
          <p:cNvPr id="15" name="Shape 9"/>
          <p:cNvSpPr/>
          <p:nvPr/>
        </p:nvSpPr>
        <p:spPr>
          <a:xfrm>
            <a:off x="7575550" y="2546350"/>
            <a:ext cx="3797300" cy="1892300"/>
          </a:xfrm>
          <a:prstGeom prst="roundRect">
            <a:avLst>
              <a:gd name="adj" fmla="val 9060"/>
            </a:avLst>
          </a:prstGeom>
          <a:solidFill>
            <a:srgbClr val="1B2A3B"/>
          </a:solidFill>
          <a:ln w="12700">
            <a:solidFill>
              <a:srgbClr val="FF4655"/>
            </a:solidFill>
            <a:prstDash val="solid"/>
          </a:ln>
        </p:spPr>
      </p:sp>
      <p:pic>
        <p:nvPicPr>
          <p:cNvPr id="16" name="Image 4" descr="Tool">    </p:cNvPr>
          <p:cNvPicPr>
            <a:picLocks noChangeAspect="1"/>
          </p:cNvPicPr>
          <p:nvPr/>
        </p:nvPicPr>
        <p:blipFill>
          <a:blip r:embed="rId5"/>
          <a:srcRect l="0" r="0" t="0" b="0"/>
          <a:stretch/>
        </p:blipFill>
        <p:spPr>
          <a:xfrm>
            <a:off x="9245600" y="3060700"/>
            <a:ext cx="457200" cy="457200"/>
          </a:xfrm>
          <a:prstGeom prst="rect">
            <a:avLst/>
          </a:prstGeom>
        </p:spPr>
      </p:pic>
      <p:sp>
        <p:nvSpPr>
          <p:cNvPr id="17" name="Text 10"/>
          <p:cNvSpPr/>
          <p:nvPr/>
        </p:nvSpPr>
        <p:spPr>
          <a:xfrm>
            <a:off x="7620000" y="3619500"/>
            <a:ext cx="3708400" cy="330200"/>
          </a:xfrm>
          <a:prstGeom prst="rect">
            <a:avLst/>
          </a:prstGeom>
          <a:noFill/>
          <a:ln/>
        </p:spPr>
        <p:txBody>
          <a:bodyPr wrap="square" lIns="0" tIns="0" rIns="0" bIns="0" rtlCol="0" anchor="t">
            <a:normAutofit/>
          </a:bodyPr>
          <a:lstStyle/>
          <a:p>
            <a:pPr algn="ctr" indent="0" marL="0">
              <a:lnSpc>
                <a:spcPts val="2420"/>
              </a:lnSpc>
              <a:buNone/>
            </a:pPr>
            <a:r>
              <a:rPr lang="en-US" sz="2200" b="1" dirty="0">
                <a:solidFill>
                  <a:srgbClr val="EEF2F5"/>
                </a:solidFill>
                <a:latin typeface="Space Grotesk" pitchFamily="34" charset="0"/>
                <a:ea typeface="Space Grotesk" pitchFamily="34" charset="-122"/>
                <a:cs typeface="Space Grotesk" pitchFamily="34" charset="-120"/>
              </a:rPr>
              <a:t>3D Creation MCP Server</a:t>
            </a:r>
            <a:endParaRPr lang="en-US" sz="2200" dirty="0"/>
          </a:p>
        </p:txBody>
      </p:sp>
      <p:pic>
        <p:nvPicPr>
          <p:cNvPr id="18" name="Image 5" descr="connector">    </p:cNvPr>
          <p:cNvPicPr>
            <a:picLocks noChangeAspect="1"/>
          </p:cNvPicPr>
          <p:nvPr/>
        </p:nvPicPr>
        <p:blipFill>
          <a:blip r:embed="rId6"/>
          <a:srcRect l="0" r="0" t="0" b="0"/>
          <a:stretch/>
        </p:blipFill>
        <p:spPr>
          <a:xfrm>
            <a:off x="9423400" y="4394200"/>
            <a:ext cx="101600" cy="584200"/>
          </a:xfrm>
          <a:prstGeom prst="rect">
            <a:avLst/>
          </a:prstGeom>
        </p:spPr>
      </p:pic>
      <p:sp>
        <p:nvSpPr>
          <p:cNvPr id="19" name="Shape 11"/>
          <p:cNvSpPr/>
          <p:nvPr/>
        </p:nvSpPr>
        <p:spPr>
          <a:xfrm>
            <a:off x="7572375" y="4930775"/>
            <a:ext cx="3803650" cy="704850"/>
          </a:xfrm>
          <a:prstGeom prst="roundRect">
            <a:avLst>
              <a:gd name="adj" fmla="val 17568"/>
            </a:avLst>
          </a:prstGeom>
          <a:solidFill>
            <a:srgbClr val="172433"/>
          </a:solidFill>
          <a:ln w="6350">
            <a:solidFill>
              <a:srgbClr val="6F8396"/>
            </a:solidFill>
            <a:prstDash val="dash"/>
          </a:ln>
        </p:spPr>
      </p:sp>
      <p:pic>
        <p:nvPicPr>
          <p:cNvPr id="20" name="Image 6" descr="Book">    </p:cNvPr>
          <p:cNvPicPr>
            <a:picLocks noChangeAspect="1"/>
          </p:cNvPicPr>
          <p:nvPr/>
        </p:nvPicPr>
        <p:blipFill>
          <a:blip r:embed="rId7"/>
          <a:srcRect l="0" r="0" t="0" b="0"/>
          <a:stretch/>
        </p:blipFill>
        <p:spPr>
          <a:xfrm>
            <a:off x="8415635" y="5130800"/>
            <a:ext cx="304800" cy="304800"/>
          </a:xfrm>
          <a:prstGeom prst="rect">
            <a:avLst/>
          </a:prstGeom>
        </p:spPr>
      </p:pic>
      <p:sp>
        <p:nvSpPr>
          <p:cNvPr id="21" name="Text 12"/>
          <p:cNvSpPr/>
          <p:nvPr/>
        </p:nvSpPr>
        <p:spPr>
          <a:xfrm>
            <a:off x="8847435" y="5143500"/>
            <a:ext cx="2022277" cy="3048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EF2F5"/>
                </a:solidFill>
                <a:latin typeface="Space Grotesk" pitchFamily="34" charset="0"/>
                <a:ea typeface="Space Grotesk" pitchFamily="34" charset="-122"/>
                <a:cs typeface="Space Grotesk" pitchFamily="34" charset="-120"/>
              </a:rPr>
              <a:t>Skill &amp; tooling set</a:t>
            </a:r>
            <a:endParaRPr lang="en-US" sz="1600" dirty="0"/>
          </a:p>
        </p:txBody>
      </p:sp>
      <p:pic>
        <p:nvPicPr>
          <p:cNvPr id="22" name="Image 7" descr="connector">    </p:cNvPr>
          <p:cNvPicPr>
            <a:picLocks noChangeAspect="1"/>
          </p:cNvPicPr>
          <p:nvPr/>
        </p:nvPicPr>
        <p:blipFill>
          <a:blip r:embed="rId8"/>
          <a:srcRect l="0" r="0" t="0" b="0"/>
          <a:stretch/>
        </p:blipFill>
        <p:spPr>
          <a:xfrm>
            <a:off x="6045200" y="3695700"/>
            <a:ext cx="1574800" cy="101600"/>
          </a:xfrm>
          <a:prstGeom prst="rect">
            <a:avLst/>
          </a:prstGeom>
        </p:spPr>
      </p:pic>
      <p:sp>
        <p:nvSpPr>
          <p:cNvPr id="23" name="Text 13"/>
          <p:cNvSpPr/>
          <p:nvPr/>
        </p:nvSpPr>
        <p:spPr>
          <a:xfrm>
            <a:off x="6172200" y="3835400"/>
            <a:ext cx="132080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3DDC84"/>
                </a:solidFill>
                <a:latin typeface="Inter" pitchFamily="34" charset="0"/>
                <a:ea typeface="Inter" pitchFamily="34" charset="-122"/>
                <a:cs typeface="Inter" pitchFamily="34" charset="-120"/>
              </a:rPr>
              <a:t>STEP file</a:t>
            </a:r>
            <a:endParaRPr lang="en-US" sz="1200" dirty="0"/>
          </a:p>
        </p:txBody>
      </p:sp>
      <p:pic>
        <p:nvPicPr>
          <p:cNvPr id="24" name="Image 8" descr="connector">    </p:cNvPr>
          <p:cNvPicPr>
            <a:picLocks noChangeAspect="1"/>
          </p:cNvPicPr>
          <p:nvPr/>
        </p:nvPicPr>
        <p:blipFill>
          <a:blip r:embed="rId9"/>
          <a:srcRect l="0" r="0" t="0" b="0"/>
          <a:stretch/>
        </p:blipFill>
        <p:spPr>
          <a:xfrm>
            <a:off x="2540000" y="3695700"/>
            <a:ext cx="1574800" cy="101600"/>
          </a:xfrm>
          <a:prstGeom prst="rect">
            <a:avLst/>
          </a:prstGeom>
        </p:spPr>
      </p:pic>
      <p:sp>
        <p:nvSpPr>
          <p:cNvPr id="25" name="Text 14"/>
          <p:cNvSpPr/>
          <p:nvPr/>
        </p:nvSpPr>
        <p:spPr>
          <a:xfrm>
            <a:off x="2667000" y="3835400"/>
            <a:ext cx="132080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3DDC84"/>
                </a:solidFill>
                <a:latin typeface="Inter" pitchFamily="34" charset="0"/>
                <a:ea typeface="Inter" pitchFamily="34" charset="-122"/>
                <a:cs typeface="Inter" pitchFamily="34" charset="-120"/>
              </a:rPr>
              <a:t>STEP file</a:t>
            </a:r>
            <a:endParaRPr lang="en-US" sz="1200" dirty="0"/>
          </a:p>
        </p:txBody>
      </p:sp>
      <p:sp>
        <p:nvSpPr>
          <p:cNvPr id="26" name="Text 15"/>
          <p:cNvSpPr/>
          <p:nvPr/>
        </p:nvSpPr>
        <p:spPr>
          <a:xfrm>
            <a:off x="812800" y="6242050"/>
            <a:ext cx="65405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CAE"/>
                </a:solidFill>
                <a:latin typeface="Inter" pitchFamily="34" charset="0"/>
                <a:ea typeface="Inter" pitchFamily="34" charset="-122"/>
                <a:cs typeface="Inter" pitchFamily="34" charset="-120"/>
              </a:rPr>
              <a:t>Drawing2CAD · The Novice Ninjas</a:t>
            </a:r>
            <a:endParaRPr lang="en-US" sz="1200" dirty="0"/>
          </a:p>
        </p:txBody>
      </p:sp>
      <p:sp>
        <p:nvSpPr>
          <p:cNvPr id="27" name="Text 16"/>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CAE"/>
                </a:solidFill>
                <a:latin typeface="Inter" pitchFamily="34" charset="0"/>
                <a:ea typeface="Inter" pitchFamily="34" charset="-122"/>
                <a:cs typeface="Inter"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924"/>
        </a:solidFill>
      </p:bgPr>
    </p:bg>
    <p:spTree>
      <p:nvGrpSpPr>
        <p:cNvPr id="1" name=""/>
        <p:cNvGrpSpPr/>
        <p:nvPr/>
      </p:nvGrpSpPr>
      <p:grpSpPr>
        <a:xfrm>
          <a:off x="0" y="0"/>
          <a:ext cx="0" cy="0"/>
          <a:chOff x="0" y="0"/>
          <a:chExt cx="0" cy="0"/>
        </a:xfrm>
      </p:grpSpPr>
      <p:sp>
        <p:nvSpPr>
          <p:cNvPr id="2" name="Shape 0"/>
          <p:cNvSpPr/>
          <p:nvPr/>
        </p:nvSpPr>
        <p:spPr>
          <a:xfrm>
            <a:off x="812800" y="609600"/>
            <a:ext cx="457200" cy="50800"/>
          </a:xfrm>
          <a:prstGeom prst="roundRect">
            <a:avLst>
              <a:gd name="adj" fmla="val 50000"/>
            </a:avLst>
          </a:prstGeom>
          <a:solidFill>
            <a:srgbClr val="FF4655"/>
          </a:solidFill>
          <a:ln/>
        </p:spPr>
      </p:sp>
      <p:sp>
        <p:nvSpPr>
          <p:cNvPr id="3" name="Text 1"/>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4655"/>
                </a:solidFill>
                <a:latin typeface="Inter" pitchFamily="34" charset="0"/>
                <a:ea typeface="Inter" pitchFamily="34" charset="-122"/>
                <a:cs typeface="Inter" pitchFamily="34" charset="-120"/>
              </a:rPr>
              <a:t>03 — ARCHITECTURE</a:t>
            </a:r>
            <a:endParaRPr lang="en-US" sz="1200" dirty="0"/>
          </a:p>
        </p:txBody>
      </p:sp>
      <p:sp>
        <p:nvSpPr>
          <p:cNvPr id="4" name="Text 2"/>
          <p:cNvSpPr/>
          <p:nvPr>
            <p:ph type="title"/>
          </p:nvPr>
        </p:nvSpPr>
        <p:spPr>
          <a:xfrm>
            <a:off x="812800" y="1123950"/>
            <a:ext cx="10883392" cy="609600"/>
          </a:xfrm>
          <a:prstGeom prst="rect">
            <a:avLst/>
          </a:prstGeom>
          <a:noFill/>
          <a:ln/>
        </p:spPr>
        <p:txBody>
          <a:bodyPr wrap="square" lIns="0" tIns="0" rIns="0" bIns="0" rtlCol="0" anchor="t">
            <a:normAutofit/>
          </a:bodyPr>
          <a:lstStyle/>
          <a:p>
            <a:pPr algn="l" indent="0" marL="0">
              <a:lnSpc>
                <a:spcPts val="4620"/>
              </a:lnSpc>
              <a:buNone/>
            </a:pPr>
            <a:r>
              <a:rPr lang="en-US" sz="4400" b="1" i="0" spc="-100" kern="0" dirty="0">
                <a:solidFill>
                  <a:srgbClr val="EEF2F5"/>
                </a:solidFill>
                <a:latin typeface="Space Grotesk" pitchFamily="34" charset="0"/>
                <a:ea typeface="Space Grotesk" pitchFamily="34" charset="-122"/>
                <a:cs typeface="Space Grotesk" pitchFamily="34" charset="-120"/>
              </a:rPr>
              <a:t>Inside the MCP server</a:t>
            </a:r>
            <a:endParaRPr lang="en-US" sz="4400" dirty="0"/>
          </a:p>
        </p:txBody>
      </p:sp>
      <p:sp>
        <p:nvSpPr>
          <p:cNvPr id="5" name="Shape 3"/>
          <p:cNvSpPr/>
          <p:nvPr/>
        </p:nvSpPr>
        <p:spPr>
          <a:xfrm>
            <a:off x="2038350" y="2292350"/>
            <a:ext cx="8115300" cy="3162300"/>
          </a:xfrm>
          <a:prstGeom prst="roundRect">
            <a:avLst>
              <a:gd name="adj" fmla="val 5422"/>
            </a:avLst>
          </a:prstGeom>
          <a:solidFill>
            <a:srgbClr val="1B2A3B"/>
          </a:solidFill>
          <a:ln w="12700">
            <a:solidFill>
              <a:srgbClr val="FF4655"/>
            </a:solidFill>
            <a:prstDash val="solid"/>
          </a:ln>
        </p:spPr>
      </p:sp>
      <p:sp>
        <p:nvSpPr>
          <p:cNvPr id="6" name="Text 4"/>
          <p:cNvSpPr/>
          <p:nvPr/>
        </p:nvSpPr>
        <p:spPr>
          <a:xfrm>
            <a:off x="2336800" y="2489200"/>
            <a:ext cx="5232400"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4655"/>
                </a:solidFill>
                <a:latin typeface="Inter" pitchFamily="34" charset="0"/>
                <a:ea typeface="Inter" pitchFamily="34" charset="-122"/>
                <a:cs typeface="Inter" pitchFamily="34" charset="-120"/>
              </a:rPr>
              <a:t>3D CREATION MCP SERVER</a:t>
            </a:r>
            <a:endParaRPr lang="en-US" sz="1200" dirty="0"/>
          </a:p>
        </p:txBody>
      </p:sp>
      <p:pic>
        <p:nvPicPr>
          <p:cNvPr id="7" name="Image 0" descr="connector">    </p:cNvPr>
          <p:cNvPicPr>
            <a:picLocks noChangeAspect="1"/>
          </p:cNvPicPr>
          <p:nvPr/>
        </p:nvPicPr>
        <p:blipFill>
          <a:blip r:embed="rId1"/>
          <a:srcRect l="0" r="0" t="0" b="0"/>
          <a:stretch/>
        </p:blipFill>
        <p:spPr>
          <a:xfrm>
            <a:off x="965200" y="3505200"/>
            <a:ext cx="1524000" cy="101600"/>
          </a:xfrm>
          <a:prstGeom prst="rect">
            <a:avLst/>
          </a:prstGeom>
        </p:spPr>
      </p:pic>
      <p:sp>
        <p:nvSpPr>
          <p:cNvPr id="8" name="Text 5"/>
          <p:cNvSpPr/>
          <p:nvPr/>
        </p:nvSpPr>
        <p:spPr>
          <a:xfrm>
            <a:off x="787400" y="3175000"/>
            <a:ext cx="127000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F4655"/>
                </a:solidFill>
                <a:latin typeface="Inter" pitchFamily="34" charset="0"/>
                <a:ea typeface="Inter" pitchFamily="34" charset="-122"/>
                <a:cs typeface="Inter" pitchFamily="34" charset="-120"/>
              </a:rPr>
              <a:t>PDF</a:t>
            </a:r>
            <a:endParaRPr lang="en-US" sz="1200" dirty="0"/>
          </a:p>
        </p:txBody>
      </p:sp>
      <p:sp>
        <p:nvSpPr>
          <p:cNvPr id="9" name="Shape 6"/>
          <p:cNvSpPr/>
          <p:nvPr/>
        </p:nvSpPr>
        <p:spPr>
          <a:xfrm>
            <a:off x="2441575" y="2924175"/>
            <a:ext cx="2025650" cy="1263650"/>
          </a:xfrm>
          <a:prstGeom prst="roundRect">
            <a:avLst>
              <a:gd name="adj" fmla="val 9799"/>
            </a:avLst>
          </a:prstGeom>
          <a:solidFill>
            <a:srgbClr val="0F1924"/>
          </a:solidFill>
          <a:ln w="6350">
            <a:solidFill>
              <a:srgbClr val="2B3D50"/>
            </a:solidFill>
            <a:prstDash val="solid"/>
          </a:ln>
        </p:spPr>
      </p:sp>
      <p:sp>
        <p:nvSpPr>
          <p:cNvPr id="10" name="Text 7"/>
          <p:cNvSpPr/>
          <p:nvPr/>
        </p:nvSpPr>
        <p:spPr>
          <a:xfrm>
            <a:off x="2647950" y="3178175"/>
            <a:ext cx="1663700"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4655"/>
                </a:solidFill>
                <a:latin typeface="Space Grotesk" pitchFamily="34" charset="0"/>
                <a:ea typeface="Space Grotesk" pitchFamily="34" charset="-122"/>
                <a:cs typeface="Space Grotesk" pitchFamily="34" charset="-120"/>
              </a:rPr>
              <a:t>01</a:t>
            </a:r>
            <a:endParaRPr lang="en-US" sz="1200" dirty="0"/>
          </a:p>
        </p:txBody>
      </p:sp>
      <p:sp>
        <p:nvSpPr>
          <p:cNvPr id="11" name="Text 8"/>
          <p:cNvSpPr/>
          <p:nvPr/>
        </p:nvSpPr>
        <p:spPr>
          <a:xfrm>
            <a:off x="2647950" y="3438525"/>
            <a:ext cx="1663700" cy="52070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EEF2F5"/>
                </a:solidFill>
                <a:latin typeface="Space Grotesk" pitchFamily="34" charset="0"/>
                <a:ea typeface="Space Grotesk" pitchFamily="34" charset="-122"/>
                <a:cs typeface="Space Grotesk" pitchFamily="34" charset="-120"/>
              </a:rPr>
              <a:t>Features extraction</a:t>
            </a:r>
            <a:endParaRPr lang="en-US" sz="1800" dirty="0"/>
          </a:p>
        </p:txBody>
      </p:sp>
      <p:pic>
        <p:nvPicPr>
          <p:cNvPr id="12" name="Image 1" descr="connector">    </p:cNvPr>
          <p:cNvPicPr>
            <a:picLocks noChangeAspect="1"/>
          </p:cNvPicPr>
          <p:nvPr/>
        </p:nvPicPr>
        <p:blipFill>
          <a:blip r:embed="rId2"/>
          <a:srcRect l="0" r="0" t="0" b="0"/>
          <a:stretch/>
        </p:blipFill>
        <p:spPr>
          <a:xfrm>
            <a:off x="4419600" y="3505200"/>
            <a:ext cx="711200" cy="101600"/>
          </a:xfrm>
          <a:prstGeom prst="rect">
            <a:avLst/>
          </a:prstGeom>
        </p:spPr>
      </p:pic>
      <p:sp>
        <p:nvSpPr>
          <p:cNvPr id="13" name="Shape 9"/>
          <p:cNvSpPr/>
          <p:nvPr/>
        </p:nvSpPr>
        <p:spPr>
          <a:xfrm>
            <a:off x="5083175" y="2924175"/>
            <a:ext cx="2025650" cy="1263650"/>
          </a:xfrm>
          <a:prstGeom prst="roundRect">
            <a:avLst>
              <a:gd name="adj" fmla="val 9799"/>
            </a:avLst>
          </a:prstGeom>
          <a:solidFill>
            <a:srgbClr val="0F1924"/>
          </a:solidFill>
          <a:ln w="6350">
            <a:solidFill>
              <a:srgbClr val="2B3D50"/>
            </a:solidFill>
            <a:prstDash val="solid"/>
          </a:ln>
        </p:spPr>
      </p:sp>
      <p:sp>
        <p:nvSpPr>
          <p:cNvPr id="14" name="Text 10"/>
          <p:cNvSpPr/>
          <p:nvPr/>
        </p:nvSpPr>
        <p:spPr>
          <a:xfrm>
            <a:off x="5289550" y="3178175"/>
            <a:ext cx="1663700"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4655"/>
                </a:solidFill>
                <a:latin typeface="Space Grotesk" pitchFamily="34" charset="0"/>
                <a:ea typeface="Space Grotesk" pitchFamily="34" charset="-122"/>
                <a:cs typeface="Space Grotesk" pitchFamily="34" charset="-120"/>
              </a:rPr>
              <a:t>02</a:t>
            </a:r>
            <a:endParaRPr lang="en-US" sz="1200" dirty="0"/>
          </a:p>
        </p:txBody>
      </p:sp>
      <p:sp>
        <p:nvSpPr>
          <p:cNvPr id="15" name="Text 11"/>
          <p:cNvSpPr/>
          <p:nvPr/>
        </p:nvSpPr>
        <p:spPr>
          <a:xfrm>
            <a:off x="5289550" y="3438525"/>
            <a:ext cx="1663700" cy="52070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EEF2F5"/>
                </a:solidFill>
                <a:latin typeface="Space Grotesk" pitchFamily="34" charset="0"/>
                <a:ea typeface="Space Grotesk" pitchFamily="34" charset="-122"/>
                <a:cs typeface="Space Grotesk" pitchFamily="34" charset="-120"/>
              </a:rPr>
              <a:t>3D Model </a:t>
            </a:r>
            <a:endParaRPr lang="en-US" sz="1800" dirty="0"/>
          </a:p>
          <a:p>
            <a:pPr algn="l" indent="0" marL="0">
              <a:lnSpc>
                <a:spcPts val="1980"/>
              </a:lnSpc>
              <a:buNone/>
            </a:pPr>
            <a:r>
              <a:rPr lang="en-US" sz="1800" b="1" dirty="0">
                <a:solidFill>
                  <a:srgbClr val="EEF2F5"/>
                </a:solidFill>
                <a:latin typeface="Space Grotesk" pitchFamily="34" charset="0"/>
                <a:ea typeface="Space Grotesk" pitchFamily="34" charset="-122"/>
                <a:cs typeface="Space Grotesk" pitchFamily="34" charset="-120"/>
              </a:rPr>
              <a:t>Creator</a:t>
            </a:r>
            <a:endParaRPr lang="en-US" sz="1800" dirty="0"/>
          </a:p>
        </p:txBody>
      </p:sp>
      <p:pic>
        <p:nvPicPr>
          <p:cNvPr id="16" name="Image 2" descr="connector">    </p:cNvPr>
          <p:cNvPicPr>
            <a:picLocks noChangeAspect="1"/>
          </p:cNvPicPr>
          <p:nvPr/>
        </p:nvPicPr>
        <p:blipFill>
          <a:blip r:embed="rId3"/>
          <a:srcRect l="0" r="0" t="0" b="0"/>
          <a:stretch/>
        </p:blipFill>
        <p:spPr>
          <a:xfrm>
            <a:off x="7061200" y="3505200"/>
            <a:ext cx="711200" cy="101600"/>
          </a:xfrm>
          <a:prstGeom prst="rect">
            <a:avLst/>
          </a:prstGeom>
        </p:spPr>
      </p:pic>
      <p:sp>
        <p:nvSpPr>
          <p:cNvPr id="17" name="Shape 12"/>
          <p:cNvSpPr/>
          <p:nvPr/>
        </p:nvSpPr>
        <p:spPr>
          <a:xfrm>
            <a:off x="7724775" y="2924175"/>
            <a:ext cx="2025650" cy="1263650"/>
          </a:xfrm>
          <a:prstGeom prst="roundRect">
            <a:avLst>
              <a:gd name="adj" fmla="val 9799"/>
            </a:avLst>
          </a:prstGeom>
          <a:solidFill>
            <a:srgbClr val="0F1924"/>
          </a:solidFill>
          <a:ln w="6350">
            <a:solidFill>
              <a:srgbClr val="2B3D50"/>
            </a:solidFill>
            <a:prstDash val="solid"/>
          </a:ln>
        </p:spPr>
      </p:sp>
      <p:sp>
        <p:nvSpPr>
          <p:cNvPr id="18" name="Text 13"/>
          <p:cNvSpPr/>
          <p:nvPr/>
        </p:nvSpPr>
        <p:spPr>
          <a:xfrm>
            <a:off x="7931150" y="3302000"/>
            <a:ext cx="1663700"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4655"/>
                </a:solidFill>
                <a:latin typeface="Space Grotesk" pitchFamily="34" charset="0"/>
                <a:ea typeface="Space Grotesk" pitchFamily="34" charset="-122"/>
                <a:cs typeface="Space Grotesk" pitchFamily="34" charset="-120"/>
              </a:rPr>
              <a:t>03</a:t>
            </a:r>
            <a:endParaRPr lang="en-US" sz="1200" dirty="0"/>
          </a:p>
        </p:txBody>
      </p:sp>
      <p:sp>
        <p:nvSpPr>
          <p:cNvPr id="19" name="Text 14"/>
          <p:cNvSpPr/>
          <p:nvPr/>
        </p:nvSpPr>
        <p:spPr>
          <a:xfrm>
            <a:off x="7931150" y="3562350"/>
            <a:ext cx="1663700" cy="27305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EEF2F5"/>
                </a:solidFill>
                <a:latin typeface="Space Grotesk" pitchFamily="34" charset="0"/>
                <a:ea typeface="Space Grotesk" pitchFamily="34" charset="-122"/>
                <a:cs typeface="Space Grotesk" pitchFamily="34" charset="-120"/>
              </a:rPr>
              <a:t>Validator</a:t>
            </a:r>
            <a:endParaRPr lang="en-US" sz="1800" dirty="0"/>
          </a:p>
        </p:txBody>
      </p:sp>
      <p:pic>
        <p:nvPicPr>
          <p:cNvPr id="20" name="Image 3" descr="connector">    </p:cNvPr>
          <p:cNvPicPr>
            <a:picLocks noChangeAspect="1"/>
          </p:cNvPicPr>
          <p:nvPr/>
        </p:nvPicPr>
        <p:blipFill>
          <a:blip r:embed="rId4"/>
          <a:srcRect l="0" r="0" t="0" b="0"/>
          <a:stretch/>
        </p:blipFill>
        <p:spPr>
          <a:xfrm>
            <a:off x="8686800" y="4140200"/>
            <a:ext cx="101600" cy="609600"/>
          </a:xfrm>
          <a:prstGeom prst="rect">
            <a:avLst/>
          </a:prstGeom>
        </p:spPr>
      </p:pic>
      <p:pic>
        <p:nvPicPr>
          <p:cNvPr id="21" name="Image 4" descr="connector">    </p:cNvPr>
          <p:cNvPicPr>
            <a:picLocks noChangeAspect="1"/>
          </p:cNvPicPr>
          <p:nvPr/>
        </p:nvPicPr>
        <p:blipFill>
          <a:blip r:embed="rId5"/>
          <a:srcRect l="0" r="0" t="0" b="0"/>
          <a:stretch/>
        </p:blipFill>
        <p:spPr>
          <a:xfrm>
            <a:off x="6045200" y="4648200"/>
            <a:ext cx="2743200" cy="101600"/>
          </a:xfrm>
          <a:prstGeom prst="rect">
            <a:avLst/>
          </a:prstGeom>
        </p:spPr>
      </p:pic>
      <p:pic>
        <p:nvPicPr>
          <p:cNvPr id="22" name="Image 5" descr="connector">    </p:cNvPr>
          <p:cNvPicPr>
            <a:picLocks noChangeAspect="1"/>
          </p:cNvPicPr>
          <p:nvPr/>
        </p:nvPicPr>
        <p:blipFill>
          <a:blip r:embed="rId6"/>
          <a:srcRect l="0" r="0" t="0" b="0"/>
          <a:stretch/>
        </p:blipFill>
        <p:spPr>
          <a:xfrm>
            <a:off x="6045200" y="4140200"/>
            <a:ext cx="101600" cy="609600"/>
          </a:xfrm>
          <a:prstGeom prst="rect">
            <a:avLst/>
          </a:prstGeom>
        </p:spPr>
      </p:pic>
      <p:sp>
        <p:nvSpPr>
          <p:cNvPr id="23" name="Text 15"/>
          <p:cNvSpPr/>
          <p:nvPr/>
        </p:nvSpPr>
        <p:spPr>
          <a:xfrm>
            <a:off x="6108700" y="4800600"/>
            <a:ext cx="2616200" cy="23495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FB0C0"/>
                </a:solidFill>
                <a:latin typeface="Inter" pitchFamily="34" charset="0"/>
                <a:ea typeface="Inter" pitchFamily="34" charset="-122"/>
                <a:cs typeface="Inter" pitchFamily="34" charset="-120"/>
              </a:rPr>
              <a:t>feedback loop</a:t>
            </a:r>
            <a:endParaRPr lang="en-US" sz="1200" dirty="0"/>
          </a:p>
        </p:txBody>
      </p:sp>
      <p:pic>
        <p:nvPicPr>
          <p:cNvPr id="24" name="Image 6" descr="connector">    </p:cNvPr>
          <p:cNvPicPr>
            <a:picLocks noChangeAspect="1"/>
          </p:cNvPicPr>
          <p:nvPr/>
        </p:nvPicPr>
        <p:blipFill>
          <a:blip r:embed="rId7"/>
          <a:srcRect l="0" r="0" t="0" b="0"/>
          <a:stretch/>
        </p:blipFill>
        <p:spPr>
          <a:xfrm>
            <a:off x="9702800" y="3505200"/>
            <a:ext cx="1625600" cy="101600"/>
          </a:xfrm>
          <a:prstGeom prst="rect">
            <a:avLst/>
          </a:prstGeom>
        </p:spPr>
      </p:pic>
      <p:sp>
        <p:nvSpPr>
          <p:cNvPr id="25" name="Text 16"/>
          <p:cNvSpPr/>
          <p:nvPr/>
        </p:nvSpPr>
        <p:spPr>
          <a:xfrm>
            <a:off x="10134600" y="3175000"/>
            <a:ext cx="127000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3DDC84"/>
                </a:solidFill>
                <a:latin typeface="Inter" pitchFamily="34" charset="0"/>
                <a:ea typeface="Inter" pitchFamily="34" charset="-122"/>
                <a:cs typeface="Inter" pitchFamily="34" charset="-120"/>
              </a:rPr>
              <a:t>STEP file</a:t>
            </a:r>
            <a:endParaRPr lang="en-US" sz="1200" dirty="0"/>
          </a:p>
        </p:txBody>
      </p:sp>
      <p:sp>
        <p:nvSpPr>
          <p:cNvPr id="26" name="Text 17"/>
          <p:cNvSpPr/>
          <p:nvPr/>
        </p:nvSpPr>
        <p:spPr>
          <a:xfrm>
            <a:off x="812800" y="6242050"/>
            <a:ext cx="65405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CAE"/>
                </a:solidFill>
                <a:latin typeface="Inter" pitchFamily="34" charset="0"/>
                <a:ea typeface="Inter" pitchFamily="34" charset="-122"/>
                <a:cs typeface="Inter" pitchFamily="34" charset="-120"/>
              </a:rPr>
              <a:t>Drawing2CAD · The Novice Ninjas</a:t>
            </a:r>
            <a:endParaRPr lang="en-US" sz="1200" dirty="0"/>
          </a:p>
        </p:txBody>
      </p:sp>
      <p:sp>
        <p:nvSpPr>
          <p:cNvPr id="27" name="Text 18"/>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CAE"/>
                </a:solidFill>
                <a:latin typeface="Inter" pitchFamily="34" charset="0"/>
                <a:ea typeface="Inter" pitchFamily="34" charset="-122"/>
                <a:cs typeface="Inter"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924"/>
        </a:solidFill>
      </p:bgPr>
    </p:bg>
    <p:spTree>
      <p:nvGrpSpPr>
        <p:cNvPr id="1" name=""/>
        <p:cNvGrpSpPr/>
        <p:nvPr/>
      </p:nvGrpSpPr>
      <p:grpSpPr>
        <a:xfrm>
          <a:off x="0" y="0"/>
          <a:ext cx="0" cy="0"/>
          <a:chOff x="0" y="0"/>
          <a:chExt cx="0" cy="0"/>
        </a:xfrm>
      </p:grpSpPr>
      <p:sp>
        <p:nvSpPr>
          <p:cNvPr id="2" name="Shape 0"/>
          <p:cNvSpPr/>
          <p:nvPr/>
        </p:nvSpPr>
        <p:spPr>
          <a:xfrm>
            <a:off x="812800" y="609600"/>
            <a:ext cx="457200" cy="50800"/>
          </a:xfrm>
          <a:prstGeom prst="roundRect">
            <a:avLst>
              <a:gd name="adj" fmla="val 50000"/>
            </a:avLst>
          </a:prstGeom>
          <a:solidFill>
            <a:srgbClr val="FF4655"/>
          </a:solidFill>
          <a:ln/>
        </p:spPr>
      </p:sp>
      <p:sp>
        <p:nvSpPr>
          <p:cNvPr id="3" name="Text 1"/>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4655"/>
                </a:solidFill>
                <a:latin typeface="Inter" pitchFamily="34" charset="0"/>
                <a:ea typeface="Inter" pitchFamily="34" charset="-122"/>
                <a:cs typeface="Inter" pitchFamily="34" charset="-120"/>
              </a:rPr>
              <a:t>04 — BUSINESS VALUE</a:t>
            </a:r>
            <a:endParaRPr lang="en-US" sz="1200" dirty="0"/>
          </a:p>
        </p:txBody>
      </p:sp>
      <p:sp>
        <p:nvSpPr>
          <p:cNvPr id="4" name="Text 2"/>
          <p:cNvSpPr/>
          <p:nvPr>
            <p:ph type="title"/>
          </p:nvPr>
        </p:nvSpPr>
        <p:spPr>
          <a:xfrm>
            <a:off x="812800" y="1123950"/>
            <a:ext cx="10883392" cy="609600"/>
          </a:xfrm>
          <a:prstGeom prst="rect">
            <a:avLst/>
          </a:prstGeom>
          <a:noFill/>
          <a:ln/>
        </p:spPr>
        <p:txBody>
          <a:bodyPr wrap="square" lIns="0" tIns="0" rIns="0" bIns="0" rtlCol="0" anchor="t">
            <a:normAutofit/>
          </a:bodyPr>
          <a:lstStyle/>
          <a:p>
            <a:pPr algn="l" indent="0" marL="0">
              <a:lnSpc>
                <a:spcPts val="4620"/>
              </a:lnSpc>
              <a:buNone/>
            </a:pPr>
            <a:r>
              <a:rPr lang="en-US" sz="4400" b="1" i="0" spc="-100" kern="0" dirty="0">
                <a:solidFill>
                  <a:srgbClr val="EEF2F5"/>
                </a:solidFill>
                <a:latin typeface="Space Grotesk" pitchFamily="34" charset="0"/>
                <a:ea typeface="Space Grotesk" pitchFamily="34" charset="-122"/>
                <a:cs typeface="Space Grotesk" pitchFamily="34" charset="-120"/>
              </a:rPr>
              <a:t>How much is the fish?</a:t>
            </a:r>
            <a:endParaRPr lang="en-US" sz="4400" dirty="0"/>
          </a:p>
        </p:txBody>
      </p:sp>
      <p:sp>
        <p:nvSpPr>
          <p:cNvPr id="5" name="Shape 3"/>
          <p:cNvSpPr/>
          <p:nvPr/>
        </p:nvSpPr>
        <p:spPr>
          <a:xfrm>
            <a:off x="815975" y="2162175"/>
            <a:ext cx="2330450" cy="1517650"/>
          </a:xfrm>
          <a:prstGeom prst="roundRect">
            <a:avLst>
              <a:gd name="adj" fmla="val 8159"/>
            </a:avLst>
          </a:prstGeom>
          <a:solidFill>
            <a:srgbClr val="172433"/>
          </a:solidFill>
          <a:ln w="6350">
            <a:solidFill>
              <a:srgbClr val="2B3D50"/>
            </a:solidFill>
            <a:prstDash val="solid"/>
          </a:ln>
        </p:spPr>
      </p:sp>
      <p:sp>
        <p:nvSpPr>
          <p:cNvPr id="6" name="Text 4"/>
          <p:cNvSpPr/>
          <p:nvPr/>
        </p:nvSpPr>
        <p:spPr>
          <a:xfrm>
            <a:off x="1073150" y="2419350"/>
            <a:ext cx="1870583"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EEF2F5"/>
                </a:solidFill>
                <a:latin typeface="Space Grotesk" pitchFamily="34" charset="0"/>
                <a:ea typeface="Space Grotesk" pitchFamily="34" charset="-122"/>
                <a:cs typeface="Space Grotesk" pitchFamily="34" charset="-120"/>
              </a:rPr>
              <a:t>3 h</a:t>
            </a:r>
            <a:endParaRPr lang="en-US" sz="4400" dirty="0"/>
          </a:p>
        </p:txBody>
      </p:sp>
      <p:sp>
        <p:nvSpPr>
          <p:cNvPr id="7" name="Text 5"/>
          <p:cNvSpPr/>
          <p:nvPr/>
        </p:nvSpPr>
        <p:spPr>
          <a:xfrm>
            <a:off x="1073150" y="3054350"/>
            <a:ext cx="1870583" cy="25400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B4C2CF"/>
                </a:solidFill>
                <a:latin typeface="Inter" pitchFamily="34" charset="0"/>
                <a:ea typeface="Inter" pitchFamily="34" charset="-122"/>
                <a:cs typeface="Inter" pitchFamily="34" charset="-120"/>
              </a:rPr>
              <a:t>average per drawing</a:t>
            </a:r>
            <a:endParaRPr lang="en-US" sz="1400" dirty="0"/>
          </a:p>
        </p:txBody>
      </p:sp>
      <p:sp>
        <p:nvSpPr>
          <p:cNvPr id="8" name="Shape 6"/>
          <p:cNvSpPr/>
          <p:nvPr/>
        </p:nvSpPr>
        <p:spPr>
          <a:xfrm>
            <a:off x="3355975" y="2162175"/>
            <a:ext cx="2330450" cy="1517650"/>
          </a:xfrm>
          <a:prstGeom prst="roundRect">
            <a:avLst>
              <a:gd name="adj" fmla="val 8159"/>
            </a:avLst>
          </a:prstGeom>
          <a:solidFill>
            <a:srgbClr val="172433"/>
          </a:solidFill>
          <a:ln w="6350">
            <a:solidFill>
              <a:srgbClr val="2B3D50"/>
            </a:solidFill>
            <a:prstDash val="solid"/>
          </a:ln>
        </p:spPr>
      </p:sp>
      <p:sp>
        <p:nvSpPr>
          <p:cNvPr id="9" name="Text 7"/>
          <p:cNvSpPr/>
          <p:nvPr/>
        </p:nvSpPr>
        <p:spPr>
          <a:xfrm>
            <a:off x="3613150" y="2419350"/>
            <a:ext cx="1870583" cy="535285"/>
          </a:xfrm>
          <a:prstGeom prst="rect">
            <a:avLst/>
          </a:prstGeom>
          <a:noFill/>
          <a:ln/>
        </p:spPr>
        <p:txBody>
          <a:bodyPr wrap="square" lIns="0" tIns="0" rIns="0" bIns="0" rtlCol="0" anchor="t">
            <a:normAutofit/>
          </a:bodyPr>
          <a:lstStyle/>
          <a:p>
            <a:pPr algn="l" indent="0" marL="0">
              <a:lnSpc>
                <a:spcPts val="4043"/>
              </a:lnSpc>
              <a:buNone/>
            </a:pPr>
            <a:r>
              <a:rPr lang="en-US" sz="4043" b="1" dirty="0">
                <a:solidFill>
                  <a:srgbClr val="EEF2F5"/>
                </a:solidFill>
                <a:latin typeface="Space Grotesk" pitchFamily="34" charset="0"/>
                <a:ea typeface="Space Grotesk" pitchFamily="34" charset="-122"/>
                <a:cs typeface="Space Grotesk" pitchFamily="34" charset="-120"/>
              </a:rPr>
              <a:t>€50</a:t>
            </a:r>
            <a:endParaRPr lang="en-US" sz="4043" dirty="0"/>
          </a:p>
        </p:txBody>
      </p:sp>
      <p:sp>
        <p:nvSpPr>
          <p:cNvPr id="10" name="Text 8"/>
          <p:cNvSpPr/>
          <p:nvPr/>
        </p:nvSpPr>
        <p:spPr>
          <a:xfrm>
            <a:off x="3613150" y="3005435"/>
            <a:ext cx="1870583" cy="442615"/>
          </a:xfrm>
          <a:prstGeom prst="rect">
            <a:avLst/>
          </a:prstGeom>
          <a:noFill/>
          <a:ln/>
        </p:spPr>
        <p:txBody>
          <a:bodyPr wrap="square" lIns="0" tIns="0" rIns="0" bIns="0" rtlCol="0" anchor="t">
            <a:normAutofit/>
          </a:bodyPr>
          <a:lstStyle/>
          <a:p>
            <a:pPr algn="l" indent="0" marL="0">
              <a:lnSpc>
                <a:spcPts val="1695"/>
              </a:lnSpc>
              <a:buNone/>
            </a:pPr>
            <a:r>
              <a:rPr lang="en-US" sz="1304" dirty="0">
                <a:solidFill>
                  <a:srgbClr val="B4C2CF"/>
                </a:solidFill>
                <a:latin typeface="Inter" pitchFamily="34" charset="0"/>
                <a:ea typeface="Inter" pitchFamily="34" charset="-122"/>
                <a:cs typeface="Inter" pitchFamily="34" charset="-120"/>
              </a:rPr>
              <a:t>personnel cost per hour</a:t>
            </a:r>
            <a:endParaRPr lang="en-US" sz="1304" dirty="0"/>
          </a:p>
        </p:txBody>
      </p:sp>
      <p:sp>
        <p:nvSpPr>
          <p:cNvPr id="11" name="Shape 9"/>
          <p:cNvSpPr/>
          <p:nvPr/>
        </p:nvSpPr>
        <p:spPr>
          <a:xfrm>
            <a:off x="5899150" y="2165350"/>
            <a:ext cx="2324100" cy="1511300"/>
          </a:xfrm>
          <a:prstGeom prst="roundRect">
            <a:avLst>
              <a:gd name="adj" fmla="val 7983"/>
            </a:avLst>
          </a:prstGeom>
          <a:solidFill>
            <a:srgbClr val="172433"/>
          </a:solidFill>
          <a:ln w="12700">
            <a:solidFill>
              <a:srgbClr val="FF4655"/>
            </a:solidFill>
            <a:prstDash val="solid"/>
          </a:ln>
        </p:spPr>
      </p:sp>
      <p:sp>
        <p:nvSpPr>
          <p:cNvPr id="12" name="Text 10"/>
          <p:cNvSpPr/>
          <p:nvPr/>
        </p:nvSpPr>
        <p:spPr>
          <a:xfrm>
            <a:off x="6159500" y="2425700"/>
            <a:ext cx="1857502" cy="528340"/>
          </a:xfrm>
          <a:prstGeom prst="rect">
            <a:avLst/>
          </a:prstGeom>
          <a:noFill/>
          <a:ln/>
        </p:spPr>
        <p:txBody>
          <a:bodyPr wrap="square" lIns="0" tIns="0" rIns="0" bIns="0" rtlCol="0" anchor="t">
            <a:normAutofit/>
          </a:bodyPr>
          <a:lstStyle/>
          <a:p>
            <a:pPr algn="l" indent="0" marL="0">
              <a:lnSpc>
                <a:spcPts val="3988"/>
              </a:lnSpc>
              <a:buNone/>
            </a:pPr>
            <a:r>
              <a:rPr lang="en-US" sz="3988" b="1" dirty="0">
                <a:solidFill>
                  <a:srgbClr val="FF4655"/>
                </a:solidFill>
                <a:latin typeface="Space Grotesk" pitchFamily="34" charset="0"/>
                <a:ea typeface="Space Grotesk" pitchFamily="34" charset="-122"/>
                <a:cs typeface="Space Grotesk" pitchFamily="34" charset="-120"/>
              </a:rPr>
              <a:t>€150</a:t>
            </a:r>
            <a:endParaRPr lang="en-US" sz="3988" dirty="0"/>
          </a:p>
        </p:txBody>
      </p:sp>
      <p:sp>
        <p:nvSpPr>
          <p:cNvPr id="13" name="Text 11"/>
          <p:cNvSpPr/>
          <p:nvPr/>
        </p:nvSpPr>
        <p:spPr>
          <a:xfrm>
            <a:off x="6159500" y="3004840"/>
            <a:ext cx="1857502" cy="436860"/>
          </a:xfrm>
          <a:prstGeom prst="rect">
            <a:avLst/>
          </a:prstGeom>
          <a:noFill/>
          <a:ln/>
        </p:spPr>
        <p:txBody>
          <a:bodyPr wrap="square" lIns="0" tIns="0" rIns="0" bIns="0" rtlCol="0" anchor="t">
            <a:normAutofit/>
          </a:bodyPr>
          <a:lstStyle/>
          <a:p>
            <a:pPr algn="l" indent="0" marL="0">
              <a:lnSpc>
                <a:spcPts val="1649"/>
              </a:lnSpc>
              <a:buNone/>
            </a:pPr>
            <a:r>
              <a:rPr lang="en-US" sz="1269" dirty="0">
                <a:solidFill>
                  <a:srgbClr val="B4C2CF"/>
                </a:solidFill>
                <a:latin typeface="Inter" pitchFamily="34" charset="0"/>
                <a:ea typeface="Inter" pitchFamily="34" charset="-122"/>
                <a:cs typeface="Inter" pitchFamily="34" charset="-120"/>
              </a:rPr>
              <a:t>manual cost per drawing</a:t>
            </a:r>
            <a:endParaRPr lang="en-US" sz="1269" dirty="0"/>
          </a:p>
        </p:txBody>
      </p:sp>
      <p:sp>
        <p:nvSpPr>
          <p:cNvPr id="14" name="Shape 12"/>
          <p:cNvSpPr/>
          <p:nvPr/>
        </p:nvSpPr>
        <p:spPr>
          <a:xfrm>
            <a:off x="815975" y="3876675"/>
            <a:ext cx="2330450" cy="1708150"/>
          </a:xfrm>
          <a:prstGeom prst="roundRect">
            <a:avLst>
              <a:gd name="adj" fmla="val 7249"/>
            </a:avLst>
          </a:prstGeom>
          <a:solidFill>
            <a:srgbClr val="172433"/>
          </a:solidFill>
          <a:ln w="6350">
            <a:solidFill>
              <a:srgbClr val="2B3D50"/>
            </a:solidFill>
            <a:prstDash val="solid"/>
          </a:ln>
        </p:spPr>
      </p:sp>
      <p:sp>
        <p:nvSpPr>
          <p:cNvPr id="15" name="Text 13"/>
          <p:cNvSpPr/>
          <p:nvPr/>
        </p:nvSpPr>
        <p:spPr>
          <a:xfrm>
            <a:off x="1073150" y="4083050"/>
            <a:ext cx="654149"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EEF2F5"/>
                </a:solidFill>
                <a:latin typeface="Space Grotesk" pitchFamily="34" charset="0"/>
                <a:ea typeface="Space Grotesk" pitchFamily="34" charset="-122"/>
                <a:cs typeface="Space Grotesk" pitchFamily="34" charset="-120"/>
              </a:rPr>
              <a:t>500</a:t>
            </a:r>
            <a:endParaRPr lang="en-US" sz="2400" dirty="0"/>
          </a:p>
        </p:txBody>
      </p:sp>
      <p:sp>
        <p:nvSpPr>
          <p:cNvPr id="16" name="Text 14"/>
          <p:cNvSpPr/>
          <p:nvPr/>
        </p:nvSpPr>
        <p:spPr>
          <a:xfrm>
            <a:off x="1727299" y="4178300"/>
            <a:ext cx="818317"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C2CF"/>
                </a:solidFill>
                <a:latin typeface="Inter" pitchFamily="34" charset="0"/>
                <a:ea typeface="Inter" pitchFamily="34" charset="-122"/>
                <a:cs typeface="Inter" pitchFamily="34" charset="-120"/>
              </a:rPr>
              <a:t>drawings</a:t>
            </a:r>
            <a:endParaRPr lang="en-US" sz="1200" dirty="0"/>
          </a:p>
        </p:txBody>
      </p:sp>
      <p:sp>
        <p:nvSpPr>
          <p:cNvPr id="17" name="Shape 15"/>
          <p:cNvSpPr/>
          <p:nvPr/>
        </p:nvSpPr>
        <p:spPr>
          <a:xfrm>
            <a:off x="1073150" y="4559300"/>
            <a:ext cx="1816100" cy="12700"/>
          </a:xfrm>
          <a:prstGeom prst="rect">
            <a:avLst/>
          </a:prstGeom>
          <a:solidFill>
            <a:srgbClr val="2B3D50"/>
          </a:solidFill>
          <a:ln/>
        </p:spPr>
      </p:sp>
      <p:sp>
        <p:nvSpPr>
          <p:cNvPr id="18" name="Text 16"/>
          <p:cNvSpPr/>
          <p:nvPr/>
        </p:nvSpPr>
        <p:spPr>
          <a:xfrm>
            <a:off x="1073150" y="4743450"/>
            <a:ext cx="1870583" cy="425450"/>
          </a:xfrm>
          <a:prstGeom prst="rect">
            <a:avLst/>
          </a:prstGeom>
          <a:noFill/>
          <a:ln/>
        </p:spPr>
        <p:txBody>
          <a:bodyPr wrap="none" lIns="0" tIns="0" rIns="0" bIns="0" rtlCol="0" anchor="t">
            <a:normAutofit/>
          </a:bodyPr>
          <a:lstStyle/>
          <a:p>
            <a:pPr algn="l" indent="0" marL="0">
              <a:lnSpc>
                <a:spcPts val="3150"/>
              </a:lnSpc>
              <a:buNone/>
            </a:pPr>
            <a:r>
              <a:rPr lang="en-US" sz="3000" b="1" spc="-100" kern="0" dirty="0">
                <a:solidFill>
                  <a:srgbClr val="B5E655"/>
                </a:solidFill>
                <a:latin typeface="Space Grotesk" pitchFamily="34" charset="0"/>
                <a:ea typeface="Space Grotesk" pitchFamily="34" charset="-122"/>
                <a:cs typeface="Space Grotesk" pitchFamily="34" charset="-120"/>
              </a:rPr>
              <a:t>€75,000</a:t>
            </a:r>
            <a:endParaRPr lang="en-US" sz="3000" dirty="0"/>
          </a:p>
        </p:txBody>
      </p:sp>
      <p:sp>
        <p:nvSpPr>
          <p:cNvPr id="19" name="Text 17"/>
          <p:cNvSpPr/>
          <p:nvPr/>
        </p:nvSpPr>
        <p:spPr>
          <a:xfrm>
            <a:off x="1073150" y="5168900"/>
            <a:ext cx="1870583"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4C2CF"/>
                </a:solidFill>
                <a:latin typeface="Inter" pitchFamily="34" charset="0"/>
                <a:ea typeface="Inter" pitchFamily="34" charset="-122"/>
                <a:cs typeface="Inter" pitchFamily="34" charset="-120"/>
              </a:rPr>
              <a:t>SAVED</a:t>
            </a:r>
            <a:endParaRPr lang="en-US" sz="1200" dirty="0"/>
          </a:p>
        </p:txBody>
      </p:sp>
      <p:sp>
        <p:nvSpPr>
          <p:cNvPr id="20" name="Shape 18"/>
          <p:cNvSpPr/>
          <p:nvPr/>
        </p:nvSpPr>
        <p:spPr>
          <a:xfrm>
            <a:off x="3355975" y="3876675"/>
            <a:ext cx="2330450" cy="1708150"/>
          </a:xfrm>
          <a:prstGeom prst="roundRect">
            <a:avLst>
              <a:gd name="adj" fmla="val 7249"/>
            </a:avLst>
          </a:prstGeom>
          <a:solidFill>
            <a:srgbClr val="172433"/>
          </a:solidFill>
          <a:ln w="6350">
            <a:solidFill>
              <a:srgbClr val="2B3D50"/>
            </a:solidFill>
            <a:prstDash val="solid"/>
          </a:ln>
        </p:spPr>
      </p:sp>
      <p:sp>
        <p:nvSpPr>
          <p:cNvPr id="21" name="Text 19"/>
          <p:cNvSpPr/>
          <p:nvPr/>
        </p:nvSpPr>
        <p:spPr>
          <a:xfrm>
            <a:off x="3613150" y="4083050"/>
            <a:ext cx="935831"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EEF2F5"/>
                </a:solidFill>
                <a:latin typeface="Space Grotesk" pitchFamily="34" charset="0"/>
                <a:ea typeface="Space Grotesk" pitchFamily="34" charset="-122"/>
                <a:cs typeface="Space Grotesk" pitchFamily="34" charset="-120"/>
              </a:rPr>
              <a:t>2,000</a:t>
            </a:r>
            <a:endParaRPr lang="en-US" sz="2400" dirty="0"/>
          </a:p>
        </p:txBody>
      </p:sp>
      <p:sp>
        <p:nvSpPr>
          <p:cNvPr id="22" name="Text 20"/>
          <p:cNvSpPr/>
          <p:nvPr/>
        </p:nvSpPr>
        <p:spPr>
          <a:xfrm>
            <a:off x="4548981" y="4178300"/>
            <a:ext cx="818317"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C2CF"/>
                </a:solidFill>
                <a:latin typeface="Inter" pitchFamily="34" charset="0"/>
                <a:ea typeface="Inter" pitchFamily="34" charset="-122"/>
                <a:cs typeface="Inter" pitchFamily="34" charset="-120"/>
              </a:rPr>
              <a:t>drawings</a:t>
            </a:r>
            <a:endParaRPr lang="en-US" sz="1200" dirty="0"/>
          </a:p>
        </p:txBody>
      </p:sp>
      <p:sp>
        <p:nvSpPr>
          <p:cNvPr id="23" name="Shape 21"/>
          <p:cNvSpPr/>
          <p:nvPr/>
        </p:nvSpPr>
        <p:spPr>
          <a:xfrm>
            <a:off x="3613150" y="4559300"/>
            <a:ext cx="1816100" cy="12700"/>
          </a:xfrm>
          <a:prstGeom prst="rect">
            <a:avLst/>
          </a:prstGeom>
          <a:solidFill>
            <a:srgbClr val="2B3D50"/>
          </a:solidFill>
          <a:ln/>
        </p:spPr>
      </p:sp>
      <p:sp>
        <p:nvSpPr>
          <p:cNvPr id="24" name="Text 22"/>
          <p:cNvSpPr/>
          <p:nvPr/>
        </p:nvSpPr>
        <p:spPr>
          <a:xfrm>
            <a:off x="3613150" y="4743450"/>
            <a:ext cx="1870583" cy="425450"/>
          </a:xfrm>
          <a:prstGeom prst="rect">
            <a:avLst/>
          </a:prstGeom>
          <a:noFill/>
          <a:ln/>
        </p:spPr>
        <p:txBody>
          <a:bodyPr wrap="none" lIns="0" tIns="0" rIns="0" bIns="0" rtlCol="0" anchor="t">
            <a:normAutofit/>
          </a:bodyPr>
          <a:lstStyle/>
          <a:p>
            <a:pPr algn="l" indent="0" marL="0">
              <a:lnSpc>
                <a:spcPts val="3150"/>
              </a:lnSpc>
              <a:buNone/>
            </a:pPr>
            <a:r>
              <a:rPr lang="en-US" sz="3000" b="1" spc="-100" kern="0" dirty="0">
                <a:solidFill>
                  <a:srgbClr val="B5E655"/>
                </a:solidFill>
                <a:latin typeface="Space Grotesk" pitchFamily="34" charset="0"/>
                <a:ea typeface="Space Grotesk" pitchFamily="34" charset="-122"/>
                <a:cs typeface="Space Grotesk" pitchFamily="34" charset="-120"/>
              </a:rPr>
              <a:t>€300,000</a:t>
            </a:r>
            <a:endParaRPr lang="en-US" sz="3000" dirty="0"/>
          </a:p>
        </p:txBody>
      </p:sp>
      <p:sp>
        <p:nvSpPr>
          <p:cNvPr id="25" name="Text 23"/>
          <p:cNvSpPr/>
          <p:nvPr/>
        </p:nvSpPr>
        <p:spPr>
          <a:xfrm>
            <a:off x="3613150" y="5168900"/>
            <a:ext cx="1870583"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4C2CF"/>
                </a:solidFill>
                <a:latin typeface="Inter" pitchFamily="34" charset="0"/>
                <a:ea typeface="Inter" pitchFamily="34" charset="-122"/>
                <a:cs typeface="Inter" pitchFamily="34" charset="-120"/>
              </a:rPr>
              <a:t>SAVED</a:t>
            </a:r>
            <a:endParaRPr lang="en-US" sz="1200" dirty="0"/>
          </a:p>
        </p:txBody>
      </p:sp>
      <p:sp>
        <p:nvSpPr>
          <p:cNvPr id="26" name="Shape 24"/>
          <p:cNvSpPr/>
          <p:nvPr/>
        </p:nvSpPr>
        <p:spPr>
          <a:xfrm>
            <a:off x="5895975" y="3876675"/>
            <a:ext cx="2330450" cy="1708150"/>
          </a:xfrm>
          <a:prstGeom prst="roundRect">
            <a:avLst>
              <a:gd name="adj" fmla="val 7249"/>
            </a:avLst>
          </a:prstGeom>
          <a:solidFill>
            <a:srgbClr val="172433"/>
          </a:solidFill>
          <a:ln w="6350">
            <a:solidFill>
              <a:srgbClr val="2B3D50"/>
            </a:solidFill>
            <a:prstDash val="solid"/>
          </a:ln>
        </p:spPr>
      </p:sp>
      <p:sp>
        <p:nvSpPr>
          <p:cNvPr id="27" name="Text 25"/>
          <p:cNvSpPr/>
          <p:nvPr/>
        </p:nvSpPr>
        <p:spPr>
          <a:xfrm>
            <a:off x="6153150" y="4083050"/>
            <a:ext cx="937617"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EEF2F5"/>
                </a:solidFill>
                <a:latin typeface="Space Grotesk" pitchFamily="34" charset="0"/>
                <a:ea typeface="Space Grotesk" pitchFamily="34" charset="-122"/>
                <a:cs typeface="Space Grotesk" pitchFamily="34" charset="-120"/>
              </a:rPr>
              <a:t>5,000</a:t>
            </a:r>
            <a:endParaRPr lang="en-US" sz="2400" dirty="0"/>
          </a:p>
        </p:txBody>
      </p:sp>
      <p:sp>
        <p:nvSpPr>
          <p:cNvPr id="28" name="Text 26"/>
          <p:cNvSpPr/>
          <p:nvPr/>
        </p:nvSpPr>
        <p:spPr>
          <a:xfrm>
            <a:off x="7090767" y="4178300"/>
            <a:ext cx="818317"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C2CF"/>
                </a:solidFill>
                <a:latin typeface="Inter" pitchFamily="34" charset="0"/>
                <a:ea typeface="Inter" pitchFamily="34" charset="-122"/>
                <a:cs typeface="Inter" pitchFamily="34" charset="-120"/>
              </a:rPr>
              <a:t>drawings</a:t>
            </a:r>
            <a:endParaRPr lang="en-US" sz="1200" dirty="0"/>
          </a:p>
        </p:txBody>
      </p:sp>
      <p:sp>
        <p:nvSpPr>
          <p:cNvPr id="29" name="Shape 27"/>
          <p:cNvSpPr/>
          <p:nvPr/>
        </p:nvSpPr>
        <p:spPr>
          <a:xfrm>
            <a:off x="6153150" y="4559300"/>
            <a:ext cx="1816100" cy="12700"/>
          </a:xfrm>
          <a:prstGeom prst="rect">
            <a:avLst/>
          </a:prstGeom>
          <a:solidFill>
            <a:srgbClr val="2B3D50"/>
          </a:solidFill>
          <a:ln/>
        </p:spPr>
      </p:sp>
      <p:sp>
        <p:nvSpPr>
          <p:cNvPr id="30" name="Text 28"/>
          <p:cNvSpPr/>
          <p:nvPr/>
        </p:nvSpPr>
        <p:spPr>
          <a:xfrm>
            <a:off x="6153150" y="4743450"/>
            <a:ext cx="1870583" cy="425450"/>
          </a:xfrm>
          <a:prstGeom prst="rect">
            <a:avLst/>
          </a:prstGeom>
          <a:noFill/>
          <a:ln/>
        </p:spPr>
        <p:txBody>
          <a:bodyPr wrap="none" lIns="0" tIns="0" rIns="0" bIns="0" rtlCol="0" anchor="t">
            <a:normAutofit/>
          </a:bodyPr>
          <a:lstStyle/>
          <a:p>
            <a:pPr algn="l" indent="0" marL="0">
              <a:lnSpc>
                <a:spcPts val="3150"/>
              </a:lnSpc>
              <a:buNone/>
            </a:pPr>
            <a:r>
              <a:rPr lang="en-US" sz="3000" b="1" spc="-100" kern="0" dirty="0">
                <a:solidFill>
                  <a:srgbClr val="B5E655"/>
                </a:solidFill>
                <a:latin typeface="Space Grotesk" pitchFamily="34" charset="0"/>
                <a:ea typeface="Space Grotesk" pitchFamily="34" charset="-122"/>
                <a:cs typeface="Space Grotesk" pitchFamily="34" charset="-120"/>
              </a:rPr>
              <a:t>€750,000</a:t>
            </a:r>
            <a:endParaRPr lang="en-US" sz="3000" dirty="0"/>
          </a:p>
        </p:txBody>
      </p:sp>
      <p:sp>
        <p:nvSpPr>
          <p:cNvPr id="31" name="Text 29"/>
          <p:cNvSpPr/>
          <p:nvPr/>
        </p:nvSpPr>
        <p:spPr>
          <a:xfrm>
            <a:off x="6153150" y="5168900"/>
            <a:ext cx="1870583"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4C2CF"/>
                </a:solidFill>
                <a:latin typeface="Inter" pitchFamily="34" charset="0"/>
                <a:ea typeface="Inter" pitchFamily="34" charset="-122"/>
                <a:cs typeface="Inter" pitchFamily="34" charset="-120"/>
              </a:rPr>
              <a:t>SAVED</a:t>
            </a:r>
            <a:endParaRPr lang="en-US" sz="1200" dirty="0"/>
          </a:p>
        </p:txBody>
      </p:sp>
      <p:pic>
        <p:nvPicPr>
          <p:cNvPr id="32" name="Image 0" descr="Short clip: a money gesture">    </p:cNvPr>
          <p:cNvPicPr>
            <a:picLocks noChangeAspect="1"/>
          </p:cNvPicPr>
          <p:nvPr/>
        </p:nvPicPr>
        <p:blipFill>
          <a:blip r:embed="rId1"/>
          <a:srcRect l="154" r="154" t="0" b="0"/>
          <a:stretch/>
        </p:blipFill>
        <p:spPr>
          <a:xfrm>
            <a:off x="9105900" y="2171700"/>
            <a:ext cx="2260600" cy="2641600"/>
          </a:xfrm>
          <a:prstGeom prst="roundRect">
            <a:avLst>
              <a:gd name="adj" fmla="val 6180"/>
            </a:avLst>
          </a:prstGeom>
        </p:spPr>
      </p:pic>
      <p:sp>
        <p:nvSpPr>
          <p:cNvPr id="33" name="Shape 30"/>
          <p:cNvSpPr/>
          <p:nvPr/>
        </p:nvSpPr>
        <p:spPr>
          <a:xfrm>
            <a:off x="9099550" y="2165350"/>
            <a:ext cx="2273300" cy="2654300"/>
          </a:xfrm>
          <a:prstGeom prst="roundRect">
            <a:avLst>
              <a:gd name="adj" fmla="val 6425"/>
            </a:avLst>
          </a:prstGeom>
          <a:noFill/>
          <a:ln w="12700">
            <a:solidFill>
              <a:srgbClr val="FF4655"/>
            </a:solidFill>
            <a:prstDash val="solid"/>
          </a:ln>
        </p:spPr>
      </p:sp>
      <p:sp>
        <p:nvSpPr>
          <p:cNvPr id="34" name="Text 31"/>
          <p:cNvSpPr/>
          <p:nvPr/>
        </p:nvSpPr>
        <p:spPr>
          <a:xfrm>
            <a:off x="812800" y="6242050"/>
            <a:ext cx="65405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CAE"/>
                </a:solidFill>
                <a:latin typeface="Inter" pitchFamily="34" charset="0"/>
                <a:ea typeface="Inter" pitchFamily="34" charset="-122"/>
                <a:cs typeface="Inter" pitchFamily="34" charset="-120"/>
              </a:rPr>
              <a:t>Drawing2CAD · The Novice Ninjas</a:t>
            </a:r>
            <a:endParaRPr lang="en-US" sz="1200" dirty="0"/>
          </a:p>
        </p:txBody>
      </p:sp>
      <p:sp>
        <p:nvSpPr>
          <p:cNvPr id="35" name="Text 32"/>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CAE"/>
                </a:solidFill>
                <a:latin typeface="Inter" pitchFamily="34" charset="0"/>
                <a:ea typeface="Inter" pitchFamily="34" charset="-122"/>
                <a:cs typeface="Inter"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4655"/>
        </a:solidFill>
      </p:bgPr>
    </p:bg>
    <p:spTree>
      <p:nvGrpSpPr>
        <p:cNvPr id="1" name=""/>
        <p:cNvGrpSpPr/>
        <p:nvPr/>
      </p:nvGrpSpPr>
      <p:grpSpPr>
        <a:xfrm>
          <a:off x="0" y="0"/>
          <a:ext cx="0" cy="0"/>
          <a:chOff x="0" y="0"/>
          <a:chExt cx="0" cy="0"/>
        </a:xfrm>
      </p:grpSpPr>
      <p:sp>
        <p:nvSpPr>
          <p:cNvPr id="2" name="Text 0"/>
          <p:cNvSpPr/>
          <p:nvPr/>
        </p:nvSpPr>
        <p:spPr>
          <a:xfrm>
            <a:off x="654304" y="1905000"/>
            <a:ext cx="10883392" cy="273050"/>
          </a:xfrm>
          <a:prstGeom prst="rect">
            <a:avLst/>
          </a:prstGeom>
          <a:noFill/>
          <a:ln/>
        </p:spPr>
        <p:txBody>
          <a:bodyPr wrap="square" lIns="0" tIns="0" rIns="0" bIns="0" rtlCol="0" anchor="t">
            <a:normAutofit/>
          </a:bodyPr>
          <a:lstStyle/>
          <a:p>
            <a:pPr algn="ctr" indent="0" marL="0">
              <a:lnSpc>
                <a:spcPts val="1960"/>
              </a:lnSpc>
              <a:buNone/>
            </a:pPr>
            <a:r>
              <a:rPr lang="en-US" sz="1400" b="1" spc="400" kern="0" dirty="0">
                <a:solidFill>
                  <a:srgbClr val="0F1924"/>
                </a:solidFill>
                <a:latin typeface="Inter" pitchFamily="34" charset="0"/>
                <a:ea typeface="Inter" pitchFamily="34" charset="-122"/>
                <a:cs typeface="Inter" pitchFamily="34" charset="-120"/>
              </a:rPr>
              <a:t>05 — LIVE</a:t>
            </a:r>
            <a:endParaRPr lang="en-US" sz="1400" dirty="0"/>
          </a:p>
        </p:txBody>
      </p:sp>
      <p:sp>
        <p:nvSpPr>
          <p:cNvPr id="3" name="Text 1"/>
          <p:cNvSpPr/>
          <p:nvPr>
            <p:ph type="title"/>
          </p:nvPr>
        </p:nvSpPr>
        <p:spPr>
          <a:xfrm>
            <a:off x="654304" y="2286000"/>
            <a:ext cx="10883392" cy="2057400"/>
          </a:xfrm>
          <a:prstGeom prst="rect">
            <a:avLst/>
          </a:prstGeom>
          <a:noFill/>
          <a:ln/>
        </p:spPr>
        <p:txBody>
          <a:bodyPr wrap="square" lIns="0" tIns="0" rIns="0" bIns="0" rtlCol="0" anchor="t">
            <a:normAutofit/>
          </a:bodyPr>
          <a:lstStyle/>
          <a:p>
            <a:pPr algn="ctr" indent="0" marL="0">
              <a:lnSpc>
                <a:spcPts val="16000"/>
              </a:lnSpc>
              <a:buNone/>
            </a:pPr>
            <a:r>
              <a:rPr lang="en-US" sz="16000" b="1" i="0" spc="-500" kern="0" dirty="0">
                <a:solidFill>
                  <a:srgbClr val="0F1924"/>
                </a:solidFill>
                <a:latin typeface="Space Grotesk" pitchFamily="34" charset="0"/>
                <a:ea typeface="Space Grotesk" pitchFamily="34" charset="-122"/>
                <a:cs typeface="Space Grotesk" pitchFamily="34" charset="-120"/>
              </a:rPr>
              <a:t>DEMO</a:t>
            </a:r>
            <a:endParaRPr lang="en-US" sz="16000" dirty="0"/>
          </a:p>
        </p:txBody>
      </p:sp>
      <p:sp>
        <p:nvSpPr>
          <p:cNvPr id="4" name="Text 2"/>
          <p:cNvSpPr/>
          <p:nvPr/>
        </p:nvSpPr>
        <p:spPr>
          <a:xfrm>
            <a:off x="654304" y="4572000"/>
            <a:ext cx="10883392" cy="34290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0F1924"/>
                </a:solidFill>
                <a:latin typeface="Inter" pitchFamily="34" charset="0"/>
                <a:ea typeface="Inter" pitchFamily="34" charset="-122"/>
                <a:cs typeface="Inter" pitchFamily="34" charset="-120"/>
              </a:rPr>
              <a:t>From PDF to STEP file, live.</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1EC"/>
        </a:solidFill>
      </p:bgPr>
    </p:bg>
    <p:spTree>
      <p:nvGrpSpPr>
        <p:cNvPr id="1" name=""/>
        <p:cNvGrpSpPr/>
        <p:nvPr/>
      </p:nvGrpSpPr>
      <p:grpSpPr>
        <a:xfrm>
          <a:off x="0" y="0"/>
          <a:ext cx="0" cy="0"/>
          <a:chOff x="0" y="0"/>
          <a:chExt cx="0" cy="0"/>
        </a:xfrm>
      </p:grpSpPr>
      <p:sp>
        <p:nvSpPr>
          <p:cNvPr id="2" name="Shape 0"/>
          <p:cNvSpPr/>
          <p:nvPr/>
        </p:nvSpPr>
        <p:spPr>
          <a:xfrm>
            <a:off x="812800" y="609600"/>
            <a:ext cx="457200" cy="50800"/>
          </a:xfrm>
          <a:prstGeom prst="roundRect">
            <a:avLst>
              <a:gd name="adj" fmla="val 50000"/>
            </a:avLst>
          </a:prstGeom>
          <a:solidFill>
            <a:srgbClr val="FF4655"/>
          </a:solidFill>
          <a:ln/>
        </p:spPr>
      </p:sp>
      <p:sp>
        <p:nvSpPr>
          <p:cNvPr id="3" name="Text 1"/>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C42A38"/>
                </a:solidFill>
                <a:latin typeface="Inter" pitchFamily="34" charset="0"/>
                <a:ea typeface="Inter" pitchFamily="34" charset="-122"/>
                <a:cs typeface="Inter" pitchFamily="34" charset="-120"/>
              </a:rPr>
              <a:t>06 — RESULTS</a:t>
            </a:r>
            <a:endParaRPr lang="en-US" sz="1200" dirty="0"/>
          </a:p>
        </p:txBody>
      </p:sp>
      <p:sp>
        <p:nvSpPr>
          <p:cNvPr id="4" name="Text 2"/>
          <p:cNvSpPr/>
          <p:nvPr>
            <p:ph type="title"/>
          </p:nvPr>
        </p:nvSpPr>
        <p:spPr>
          <a:xfrm>
            <a:off x="812800" y="1123950"/>
            <a:ext cx="10883392" cy="609600"/>
          </a:xfrm>
          <a:prstGeom prst="rect">
            <a:avLst/>
          </a:prstGeom>
          <a:noFill/>
          <a:ln/>
        </p:spPr>
        <p:txBody>
          <a:bodyPr wrap="square" lIns="0" tIns="0" rIns="0" bIns="0" rtlCol="0" anchor="t">
            <a:normAutofit/>
          </a:bodyPr>
          <a:lstStyle/>
          <a:p>
            <a:pPr algn="l" indent="0" marL="0">
              <a:lnSpc>
                <a:spcPts val="4620"/>
              </a:lnSpc>
              <a:buNone/>
            </a:pPr>
            <a:r>
              <a:rPr lang="en-US" sz="4400" b="1" i="0" spc="-100" kern="0" dirty="0">
                <a:solidFill>
                  <a:srgbClr val="0F1924"/>
                </a:solidFill>
                <a:latin typeface="Space Grotesk" pitchFamily="34" charset="0"/>
                <a:ea typeface="Space Grotesk" pitchFamily="34" charset="-122"/>
                <a:cs typeface="Space Grotesk" pitchFamily="34" charset="-120"/>
              </a:rPr>
              <a:t>Evolution</a:t>
            </a:r>
            <a:endParaRPr lang="en-US" sz="4400" dirty="0"/>
          </a:p>
        </p:txBody>
      </p:sp>
      <p:sp>
        <p:nvSpPr>
          <p:cNvPr id="5" name="Shape 3"/>
          <p:cNvSpPr/>
          <p:nvPr/>
        </p:nvSpPr>
        <p:spPr>
          <a:xfrm>
            <a:off x="815975" y="2225675"/>
            <a:ext cx="3041650" cy="2533650"/>
          </a:xfrm>
          <a:prstGeom prst="roundRect">
            <a:avLst>
              <a:gd name="adj" fmla="val 5890"/>
            </a:avLst>
          </a:prstGeom>
          <a:solidFill>
            <a:srgbClr val="FFFFFF"/>
          </a:solidFill>
          <a:ln w="6350">
            <a:solidFill>
              <a:srgbClr val="D5DBD3"/>
            </a:solidFill>
            <a:prstDash val="solid"/>
          </a:ln>
          <a:effectLst>
            <a:outerShdw sx="100000" sy="100000" kx="0" ky="0" algn="bl" rotWithShape="0" blurRad="203200" dist="50800" dir="5400000">
              <a:srgbClr val="0F1924">
                <a:alpha val="8000"/>
              </a:srgbClr>
            </a:outerShdw>
          </a:effectLst>
        </p:spPr>
      </p:sp>
      <p:pic>
        <p:nvPicPr>
          <p:cNvPr id="6" name="Image 0" descr="V1: first generated 3D model, a green mesh bracket with round bosses and an open C-clamp">    </p:cNvPr>
          <p:cNvPicPr>
            <a:picLocks noChangeAspect="1"/>
          </p:cNvPicPr>
          <p:nvPr/>
        </p:nvPicPr>
        <p:blipFill>
          <a:blip r:embed="rId1"/>
          <a:stretch>
            <a:fillRect/>
          </a:stretch>
        </p:blipFill>
        <p:spPr>
          <a:xfrm>
            <a:off x="819150" y="2437606"/>
            <a:ext cx="3048000" cy="2109788"/>
          </a:xfrm>
          <a:prstGeom prst="rect">
            <a:avLst/>
          </a:prstGeom>
        </p:spPr>
      </p:pic>
      <p:sp>
        <p:nvSpPr>
          <p:cNvPr id="7" name="Shape 4"/>
          <p:cNvSpPr/>
          <p:nvPr/>
        </p:nvSpPr>
        <p:spPr>
          <a:xfrm>
            <a:off x="965200" y="2374900"/>
            <a:ext cx="1651000" cy="311150"/>
          </a:xfrm>
          <a:prstGeom prst="roundRect">
            <a:avLst>
              <a:gd name="adj" fmla="val 50000"/>
            </a:avLst>
          </a:prstGeom>
          <a:solidFill>
            <a:srgbClr val="0F1924"/>
          </a:solidFill>
          <a:ln/>
        </p:spPr>
      </p:sp>
      <p:sp>
        <p:nvSpPr>
          <p:cNvPr id="8" name="Text 5"/>
          <p:cNvSpPr/>
          <p:nvPr/>
        </p:nvSpPr>
        <p:spPr>
          <a:xfrm>
            <a:off x="1092200" y="2425700"/>
            <a:ext cx="1447800"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EF2F5"/>
                </a:solidFill>
                <a:latin typeface="Inter" pitchFamily="34" charset="0"/>
                <a:ea typeface="Inter" pitchFamily="34" charset="-122"/>
                <a:cs typeface="Inter" pitchFamily="34" charset="-120"/>
              </a:rPr>
              <a:t>V1 · First model</a:t>
            </a:r>
            <a:endParaRPr lang="en-US" sz="1200" dirty="0"/>
          </a:p>
        </p:txBody>
      </p:sp>
      <p:sp>
        <p:nvSpPr>
          <p:cNvPr id="9" name="Text 6"/>
          <p:cNvSpPr/>
          <p:nvPr/>
        </p:nvSpPr>
        <p:spPr>
          <a:xfrm>
            <a:off x="812800" y="4914900"/>
            <a:ext cx="3139440"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868"/>
                </a:solidFill>
                <a:latin typeface="Inter" pitchFamily="34" charset="0"/>
                <a:ea typeface="Inter" pitchFamily="34" charset="-122"/>
                <a:cs typeface="Inter" pitchFamily="34" charset="-120"/>
              </a:rPr>
              <a:t>Rough mesh geometry, open clamp</a:t>
            </a:r>
            <a:endParaRPr lang="en-US" sz="1200" dirty="0"/>
          </a:p>
        </p:txBody>
      </p:sp>
      <p:pic>
        <p:nvPicPr>
          <p:cNvPr id="10" name="Image 1" descr="arrow-right">    </p:cNvPr>
          <p:cNvPicPr>
            <a:picLocks noChangeAspect="1"/>
          </p:cNvPicPr>
          <p:nvPr/>
        </p:nvPicPr>
        <p:blipFill>
          <a:blip r:embed="rId2"/>
          <a:srcRect l="0" r="0" t="0" b="0"/>
          <a:stretch/>
        </p:blipFill>
        <p:spPr>
          <a:xfrm>
            <a:off x="3962400" y="3365500"/>
            <a:ext cx="508000" cy="254000"/>
          </a:xfrm>
          <a:prstGeom prst="rect">
            <a:avLst/>
          </a:prstGeom>
        </p:spPr>
      </p:pic>
      <p:sp>
        <p:nvSpPr>
          <p:cNvPr id="11" name="Shape 7"/>
          <p:cNvSpPr/>
          <p:nvPr/>
        </p:nvSpPr>
        <p:spPr>
          <a:xfrm>
            <a:off x="4575175" y="2225675"/>
            <a:ext cx="3041650" cy="2533650"/>
          </a:xfrm>
          <a:prstGeom prst="roundRect">
            <a:avLst>
              <a:gd name="adj" fmla="val 5890"/>
            </a:avLst>
          </a:prstGeom>
          <a:solidFill>
            <a:srgbClr val="FFFFFF"/>
          </a:solidFill>
          <a:ln w="6350">
            <a:solidFill>
              <a:srgbClr val="D5DBD3"/>
            </a:solidFill>
            <a:prstDash val="solid"/>
          </a:ln>
          <a:effectLst>
            <a:outerShdw sx="100000" sy="100000" kx="0" ky="0" algn="bl" rotWithShape="0" blurRad="203200" dist="50800" dir="5400000">
              <a:srgbClr val="0F1924">
                <a:alpha val="8000"/>
              </a:srgbClr>
            </a:outerShdw>
          </a:effectLst>
        </p:spPr>
      </p:sp>
      <p:pic>
        <p:nvPicPr>
          <p:cNvPr id="12" name="Image 2" descr="V2: refined mesh model with base plate, three holes, tube boss and split-ring clamp">    </p:cNvPr>
          <p:cNvPicPr>
            <a:picLocks noChangeAspect="1"/>
          </p:cNvPicPr>
          <p:nvPr/>
        </p:nvPicPr>
        <p:blipFill>
          <a:blip r:embed="rId3"/>
          <a:stretch>
            <a:fillRect/>
          </a:stretch>
        </p:blipFill>
        <p:spPr>
          <a:xfrm>
            <a:off x="4578350" y="2404110"/>
            <a:ext cx="3048000" cy="2176780"/>
          </a:xfrm>
          <a:prstGeom prst="rect">
            <a:avLst/>
          </a:prstGeom>
        </p:spPr>
      </p:pic>
      <p:sp>
        <p:nvSpPr>
          <p:cNvPr id="13" name="Shape 8"/>
          <p:cNvSpPr/>
          <p:nvPr/>
        </p:nvSpPr>
        <p:spPr>
          <a:xfrm>
            <a:off x="4724400" y="2374900"/>
            <a:ext cx="1524000" cy="311150"/>
          </a:xfrm>
          <a:prstGeom prst="roundRect">
            <a:avLst>
              <a:gd name="adj" fmla="val 50000"/>
            </a:avLst>
          </a:prstGeom>
          <a:solidFill>
            <a:srgbClr val="0F1924"/>
          </a:solidFill>
          <a:ln/>
        </p:spPr>
      </p:sp>
      <p:sp>
        <p:nvSpPr>
          <p:cNvPr id="14" name="Text 9"/>
          <p:cNvSpPr/>
          <p:nvPr/>
        </p:nvSpPr>
        <p:spPr>
          <a:xfrm>
            <a:off x="4851400" y="2425700"/>
            <a:ext cx="1320800"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EF2F5"/>
                </a:solidFill>
                <a:latin typeface="Inter" pitchFamily="34" charset="0"/>
                <a:ea typeface="Inter" pitchFamily="34" charset="-122"/>
                <a:cs typeface="Inter" pitchFamily="34" charset="-120"/>
              </a:rPr>
              <a:t>V2 · Refined</a:t>
            </a:r>
            <a:endParaRPr lang="en-US" sz="1200" dirty="0"/>
          </a:p>
        </p:txBody>
      </p:sp>
      <p:sp>
        <p:nvSpPr>
          <p:cNvPr id="15" name="Text 10"/>
          <p:cNvSpPr/>
          <p:nvPr/>
        </p:nvSpPr>
        <p:spPr>
          <a:xfrm>
            <a:off x="4572000" y="4914900"/>
            <a:ext cx="3139440" cy="4318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868"/>
                </a:solidFill>
                <a:latin typeface="Inter" pitchFamily="34" charset="0"/>
                <a:ea typeface="Inter" pitchFamily="34" charset="-122"/>
                <a:cs typeface="Inter" pitchFamily="34" charset="-120"/>
              </a:rPr>
              <a:t>Base plate with holes, tube boss, split-ring clamp</a:t>
            </a:r>
            <a:endParaRPr lang="en-US" sz="1200" dirty="0"/>
          </a:p>
        </p:txBody>
      </p:sp>
      <p:pic>
        <p:nvPicPr>
          <p:cNvPr id="16" name="Image 3" descr="arrow-right">    </p:cNvPr>
          <p:cNvPicPr>
            <a:picLocks noChangeAspect="1"/>
          </p:cNvPicPr>
          <p:nvPr/>
        </p:nvPicPr>
        <p:blipFill>
          <a:blip r:embed="rId4"/>
          <a:srcRect l="0" r="0" t="0" b="0"/>
          <a:stretch/>
        </p:blipFill>
        <p:spPr>
          <a:xfrm>
            <a:off x="7721600" y="3365500"/>
            <a:ext cx="508000" cy="254000"/>
          </a:xfrm>
          <a:prstGeom prst="rect">
            <a:avLst/>
          </a:prstGeom>
        </p:spPr>
      </p:pic>
      <p:sp>
        <p:nvSpPr>
          <p:cNvPr id="17" name="Shape 11"/>
          <p:cNvSpPr/>
          <p:nvPr/>
        </p:nvSpPr>
        <p:spPr>
          <a:xfrm>
            <a:off x="8340725" y="2232025"/>
            <a:ext cx="3028950" cy="2520950"/>
          </a:xfrm>
          <a:prstGeom prst="roundRect">
            <a:avLst>
              <a:gd name="adj" fmla="val 5668"/>
            </a:avLst>
          </a:prstGeom>
          <a:solidFill>
            <a:srgbClr val="FFFFFF"/>
          </a:solidFill>
          <a:ln w="19050">
            <a:solidFill>
              <a:srgbClr val="FF4655"/>
            </a:solidFill>
            <a:prstDash val="solid"/>
          </a:ln>
          <a:effectLst>
            <a:outerShdw sx="100000" sy="100000" kx="0" ky="0" algn="bl" rotWithShape="0" blurRad="254000" dist="76200" dir="5400000">
              <a:srgbClr val="0F1924">
                <a:alpha val="18000"/>
              </a:srgbClr>
            </a:outerShdw>
          </a:effectLst>
        </p:spPr>
      </p:sp>
      <p:pic>
        <p:nvPicPr>
          <p:cNvPr id="18" name="Image 4" descr="V3: current model, a clean solid with smooth faces, slotted tube boss, base plate with three holes and split clamp ring">    </p:cNvPr>
          <p:cNvPicPr>
            <a:picLocks noChangeAspect="1"/>
          </p:cNvPicPr>
          <p:nvPr/>
        </p:nvPicPr>
        <p:blipFill>
          <a:blip r:embed="rId5"/>
          <a:stretch>
            <a:fillRect/>
          </a:stretch>
        </p:blipFill>
        <p:spPr>
          <a:xfrm>
            <a:off x="8422036" y="2241550"/>
            <a:ext cx="2904428" cy="2501900"/>
          </a:xfrm>
          <a:custGeom>
            <a:avLst/>
            <a:gdLst/>
            <a:ahLst/>
            <a:cxnLst/>
            <a:rect l="l" t="t" r="r" b="b"/>
            <a:pathLst>
              <a:path w="2904428" h="2501900">
                <a:moveTo>
                  <a:pt x="0" y="15062"/>
                </a:moveTo>
                <a:arcTo wR="133350" hR="133350" stAng="14550297" swAng="1649703"/>
                <a:lnTo>
                  <a:pt x="2904428" y="0"/>
                </a:lnTo>
                <a:lnTo>
                  <a:pt x="2904428" y="2501900"/>
                </a:lnTo>
                <a:lnTo>
                  <a:pt x="61564" y="2501900"/>
                </a:lnTo>
                <a:arcTo wR="133350" hR="133350" stAng="5400000" swAng="1649703"/>
                <a:close/>
              </a:path>
            </a:pathLst>
          </a:custGeom>
        </p:spPr>
      </p:pic>
      <p:sp>
        <p:nvSpPr>
          <p:cNvPr id="19" name="Shape 12"/>
          <p:cNvSpPr/>
          <p:nvPr/>
        </p:nvSpPr>
        <p:spPr>
          <a:xfrm>
            <a:off x="8483600" y="2374900"/>
            <a:ext cx="1587500" cy="311150"/>
          </a:xfrm>
          <a:prstGeom prst="roundRect">
            <a:avLst>
              <a:gd name="adj" fmla="val 50000"/>
            </a:avLst>
          </a:prstGeom>
          <a:solidFill>
            <a:srgbClr val="FF4655"/>
          </a:solidFill>
          <a:ln/>
        </p:spPr>
      </p:sp>
      <p:sp>
        <p:nvSpPr>
          <p:cNvPr id="20" name="Text 13"/>
          <p:cNvSpPr/>
          <p:nvPr/>
        </p:nvSpPr>
        <p:spPr>
          <a:xfrm>
            <a:off x="8610600" y="2425700"/>
            <a:ext cx="1384300"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1924"/>
                </a:solidFill>
                <a:latin typeface="Inter" pitchFamily="34" charset="0"/>
                <a:ea typeface="Inter" pitchFamily="34" charset="-122"/>
                <a:cs typeface="Inter" pitchFamily="34" charset="-120"/>
              </a:rPr>
              <a:t>V3 · Current</a:t>
            </a:r>
            <a:endParaRPr lang="en-US" sz="1200" dirty="0"/>
          </a:p>
        </p:txBody>
      </p:sp>
      <p:sp>
        <p:nvSpPr>
          <p:cNvPr id="21" name="Text 14"/>
          <p:cNvSpPr/>
          <p:nvPr/>
        </p:nvSpPr>
        <p:spPr>
          <a:xfrm>
            <a:off x="8331200" y="4914900"/>
            <a:ext cx="3139440" cy="43180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0F1924"/>
                </a:solidFill>
                <a:latin typeface="Inter" pitchFamily="34" charset="0"/>
                <a:ea typeface="Inter" pitchFamily="34" charset="-122"/>
                <a:cs typeface="Inter" pitchFamily="34" charset="-120"/>
              </a:rPr>
              <a:t>Clean solid model: slotted boss, split clamp</a:t>
            </a:r>
            <a:endParaRPr lang="en-US" sz="1200" dirty="0"/>
          </a:p>
        </p:txBody>
      </p:sp>
      <p:sp>
        <p:nvSpPr>
          <p:cNvPr id="22" name="Text 15"/>
          <p:cNvSpPr/>
          <p:nvPr/>
        </p:nvSpPr>
        <p:spPr>
          <a:xfrm>
            <a:off x="812800" y="6242050"/>
            <a:ext cx="65405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78"/>
                </a:solidFill>
                <a:latin typeface="Inter" pitchFamily="34" charset="0"/>
                <a:ea typeface="Inter" pitchFamily="34" charset="-122"/>
                <a:cs typeface="Inter" pitchFamily="34" charset="-120"/>
              </a:rPr>
              <a:t>Drawing2CAD · The Novice Ninjas</a:t>
            </a:r>
            <a:endParaRPr lang="en-US" sz="1200" dirty="0"/>
          </a:p>
        </p:txBody>
      </p:sp>
      <p:sp>
        <p:nvSpPr>
          <p:cNvPr id="23" name="Text 16"/>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878"/>
                </a:solidFill>
                <a:latin typeface="Inter" pitchFamily="34" charset="0"/>
                <a:ea typeface="Inter" pitchFamily="34" charset="-122"/>
                <a:cs typeface="Inter"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283200" cy="6858000"/>
          </a:xfrm>
          <a:prstGeom prst="rect">
            <a:avLst/>
          </a:prstGeom>
          <a:gradFill rotWithShape="1">
            <a:gsLst>
              <a:gs pos="0">
                <a:srgbClr val="EEF2F5">
                  <a:alpha val="6000"/>
                </a:srgbClr>
              </a:gs>
              <a:gs pos="1563">
                <a:srgbClr val="EEF2F5">
                  <a:alpha val="6000"/>
                </a:srgbClr>
              </a:gs>
              <a:gs pos="1563">
                <a:srgbClr val="EEF2F5">
                  <a:alpha val="0"/>
                </a:srgbClr>
              </a:gs>
              <a:gs pos="100000">
                <a:srgbClr val="0F1924">
                  <a:alpha val="0"/>
                </a:srgbClr>
              </a:gs>
            </a:gsLst>
            <a:lin ang="0" scaled="0"/>
          </a:gradFill>
          <a:ln/>
        </p:spPr>
      </p:sp>
      <p:sp>
        <p:nvSpPr>
          <p:cNvPr id="3" name="Shape 1"/>
          <p:cNvSpPr/>
          <p:nvPr/>
        </p:nvSpPr>
        <p:spPr>
          <a:xfrm>
            <a:off x="0" y="0"/>
            <a:ext cx="5283200" cy="6858000"/>
          </a:xfrm>
          <a:prstGeom prst="rect">
            <a:avLst/>
          </a:prstGeom>
          <a:gradFill rotWithShape="1">
            <a:gsLst>
              <a:gs pos="0">
                <a:srgbClr val="EEF2F5">
                  <a:alpha val="6000"/>
                </a:srgbClr>
              </a:gs>
              <a:gs pos="1563">
                <a:srgbClr val="EEF2F5">
                  <a:alpha val="6000"/>
                </a:srgbClr>
              </a:gs>
              <a:gs pos="1563">
                <a:srgbClr val="EEF2F5">
                  <a:alpha val="0"/>
                </a:srgbClr>
              </a:gs>
              <a:gs pos="100000">
                <a:srgbClr val="0F1924">
                  <a:alpha val="0"/>
                </a:srgbClr>
              </a:gs>
            </a:gsLst>
            <a:lin ang="16200000" scaled="0"/>
          </a:gradFill>
          <a:ln/>
        </p:spPr>
      </p:sp>
      <p:sp>
        <p:nvSpPr>
          <p:cNvPr id="4" name="Text 2"/>
          <p:cNvSpPr/>
          <p:nvPr>
            <p:ph type="title"/>
          </p:nvPr>
        </p:nvSpPr>
        <p:spPr>
          <a:xfrm>
            <a:off x="495808" y="1905000"/>
            <a:ext cx="10883392" cy="1295400"/>
          </a:xfrm>
          <a:prstGeom prst="rect">
            <a:avLst/>
          </a:prstGeom>
          <a:noFill/>
          <a:ln/>
        </p:spPr>
        <p:txBody>
          <a:bodyPr wrap="square" lIns="0" tIns="0" rIns="0" bIns="0" rtlCol="0" anchor="t">
            <a:normAutofit/>
          </a:bodyPr>
          <a:lstStyle/>
          <a:p>
            <a:pPr algn="r" indent="0" marL="0">
              <a:lnSpc>
                <a:spcPts val="10000"/>
              </a:lnSpc>
              <a:buNone/>
            </a:pPr>
            <a:r>
              <a:rPr lang="en-US" sz="10000" b="1" i="0" spc="-300" kern="0" dirty="0">
                <a:solidFill>
                  <a:srgbClr val="000000">
                    <a:alpha val="0"/>
                  </a:srgbClr>
                </a:solidFill>
                <a:latin typeface="Space Grotesk" pitchFamily="34" charset="0"/>
                <a:ea typeface="Space Grotesk" pitchFamily="34" charset="-122"/>
                <a:cs typeface="Space Grotesk" pitchFamily="34" charset="-120"/>
              </a:rPr>
              <a:t>THANK YOU</a:t>
            </a:r>
            <a:endParaRPr lang="en-US" sz="10000" dirty="0"/>
          </a:p>
        </p:txBody>
      </p:sp>
      <p:sp>
        <p:nvSpPr>
          <p:cNvPr id="5" name="Text 3"/>
          <p:cNvSpPr/>
          <p:nvPr/>
        </p:nvSpPr>
        <p:spPr>
          <a:xfrm>
            <a:off x="495808" y="3429000"/>
            <a:ext cx="10883392" cy="660400"/>
          </a:xfrm>
          <a:prstGeom prst="rect">
            <a:avLst/>
          </a:prstGeom>
          <a:noFill/>
          <a:ln/>
        </p:spPr>
        <p:txBody>
          <a:bodyPr wrap="square" lIns="0" tIns="0" rIns="0" bIns="0" rtlCol="0" anchor="t">
            <a:normAutofit/>
          </a:bodyPr>
          <a:lstStyle/>
          <a:p>
            <a:pPr algn="r" indent="0" marL="0">
              <a:lnSpc>
                <a:spcPts val="5040"/>
              </a:lnSpc>
              <a:buNone/>
            </a:pPr>
            <a:r>
              <a:rPr lang="en-US" sz="4800" b="1" spc="-100" kern="0" dirty="0">
                <a:solidFill>
                  <a:srgbClr val="FF4655"/>
                </a:solidFill>
                <a:latin typeface="Space Grotesk" pitchFamily="34" charset="0"/>
                <a:ea typeface="Space Grotesk" pitchFamily="34" charset="-122"/>
                <a:cs typeface="Space Grotesk" pitchFamily="34" charset="-120"/>
              </a:rPr>
              <a:t>Questions?</a:t>
            </a:r>
            <a:endParaRPr lang="en-US" sz="4800" dirty="0"/>
          </a:p>
        </p:txBody>
      </p:sp>
      <p:sp>
        <p:nvSpPr>
          <p:cNvPr id="6" name="Text 4"/>
          <p:cNvSpPr/>
          <p:nvPr/>
        </p:nvSpPr>
        <p:spPr>
          <a:xfrm>
            <a:off x="495808" y="4572000"/>
            <a:ext cx="10883392" cy="30480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9FB0C0"/>
                </a:solidFill>
                <a:latin typeface="Inter" pitchFamily="34" charset="0"/>
                <a:ea typeface="Inter" pitchFamily="34" charset="-122"/>
                <a:cs typeface="Inter" pitchFamily="34" charset="-120"/>
              </a:rPr>
              <a:t>The Novice Ninjas · Drawing2CAD</a:t>
            </a:r>
            <a:endParaRPr lang="en-US" sz="1600" dirty="0"/>
          </a:p>
        </p:txBody>
      </p:sp>
    </p:spTree>
  </p:cSld>
  <p:clrMapOvr>
    <a:masterClrMapping/>
  </p:clrMapOvr>
</p:sld>
</file>

<file path=ppt/theme/theme1.xml><?xml version="1.0" encoding="utf-8"?>
<a:theme xmlns:a="http://schemas.openxmlformats.org/drawingml/2006/main" name="Drawing2CAD">
  <a:themeElements>
    <a:clrScheme name="Drawing2CAD">
      <a:dk1>
        <a:srgbClr val="0F1924"/>
      </a:dk1>
      <a:lt1>
        <a:srgbClr val="EEF2F5"/>
      </a:lt1>
      <a:dk2>
        <a:srgbClr val="252F39"/>
      </a:dk2>
      <a:lt2>
        <a:srgbClr val="B6BCC1"/>
      </a:lt2>
      <a:accent1>
        <a:srgbClr val="FF4655"/>
      </a:accent1>
      <a:accent2>
        <a:srgbClr val="3DDC84"/>
      </a:accent2>
      <a:accent3>
        <a:srgbClr val="B5E655"/>
      </a:accent3>
      <a:accent4>
        <a:srgbClr val="1E3349"/>
      </a:accent4>
      <a:accent5>
        <a:srgbClr val="C42A38"/>
      </a:accent5>
      <a:accent6>
        <a:srgbClr val="B4C2CF"/>
      </a:accent6>
      <a:hlink>
        <a:srgbClr val="0563C1"/>
      </a:hlink>
      <a:folHlink>
        <a:srgbClr val="954F72"/>
      </a:folHlink>
    </a:clrScheme>
    <a:fontScheme name="Drawing2CAD">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Drawing2CAD</dc:title>
  <dc:subject/>
  <dc:creator/>
  <cp:lastModifiedBy/>
  <cp:revision>1</cp:revision>
  <dcterms:created xsi:type="dcterms:W3CDTF">2026-10-18T09:02:21Z</dcterms:created>
  <dcterms:modified xsi:type="dcterms:W3CDTF">2026-10-18T09:02:21Z</dcterms:modified>
</cp:coreProperties>
</file>